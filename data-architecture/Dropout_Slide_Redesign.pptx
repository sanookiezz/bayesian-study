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journey of an applicant, from applying to being counted for funding, and where we lose people along the way.
Applications come in through four routes: paper forms, which are keyed in by hand, the Online Service for non-commercial courses, Dante for commercial courses, and the FVC Portal for school partnerships.
Every applicant moves through five stages: application, selection, offer, enrolment on day one, and still enrolled at about six weeks. The last stage is the one that counts for funding, because that is when we claim credits.
At each stage we lose people. From the meeting with Sarah: applicants don't turn up for selection, lecturers hold back or make many waiting-list offers, offers are turned down, and some students leave before six weeks. For example, one construction course had 14 places, made 16 to 17 offers, and only 9 people started.
Stages 1 to 3 live in Enquirer; stages 4 and 5 live in UnitE. The step between them is manual, so the numbers don't always match.
We will measure three rates: A, application to offer; B, offer to enrolment; C, day one to six weeks. The lowest rate shows where a course needs attention. Once Lesley and Kevin's combined data is ready, we can calculate these for every course over three years and move away from the single 200% / 120%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28600"/>
            <a:ext cx="10241280" cy="548640"/>
          </a:xfrm>
          <a:prstGeom prst="rect">
            <a:avLst/>
          </a:prstGeom>
          <a:noFill/>
          <a:ln/>
        </p:spPr>
        <p:txBody>
          <a:bodyPr wrap="square" lIns="0" tIns="0" rIns="0" bIns="0" rtlCol="0" anchor="ctr"/>
          <a:lstStyle/>
          <a:p>
            <a:pPr indent="0" marL="0">
              <a:buNone/>
            </a:pPr>
            <a:r>
              <a:rPr lang="en-US" sz="3000" b="1" dirty="0">
                <a:solidFill>
                  <a:srgbClr val="A3206E"/>
                </a:solidFill>
                <a:latin typeface="Calibri" pitchFamily="34" charset="0"/>
                <a:ea typeface="Calibri" pitchFamily="34" charset="-122"/>
                <a:cs typeface="Calibri" pitchFamily="34" charset="-120"/>
              </a:rPr>
              <a:t>Where students drop out, and which system shows it</a:t>
            </a:r>
            <a:endParaRPr lang="en-US" sz="3000" dirty="0"/>
          </a:p>
        </p:txBody>
      </p:sp>
      <p:sp>
        <p:nvSpPr>
          <p:cNvPr id="3" name="Text 1"/>
          <p:cNvSpPr txBox="1"/>
          <p:nvPr/>
        </p:nvSpPr>
        <p:spPr>
          <a:xfrm>
            <a:off x="365760" y="960120"/>
            <a:ext cx="1280160" cy="457200"/>
          </a:xfrm>
          <a:prstGeom prst="rect">
            <a:avLst/>
          </a:prstGeom>
          <a:noFill/>
          <a:ln/>
        </p:spPr>
        <p:txBody>
          <a:bodyPr wrap="square" lIns="0" tIns="0" rIns="0" bIns="0" rtlCol="0" anchor="ctr"/>
          <a:lstStyle/>
          <a:p>
            <a:pPr indent="0" marL="0">
              <a:buNone/>
            </a:pPr>
            <a:r>
              <a:rPr lang="en-US" sz="1100" b="1" dirty="0">
                <a:solidFill>
                  <a:srgbClr val="2B2350"/>
                </a:solidFill>
                <a:latin typeface="Calibri" pitchFamily="34" charset="0"/>
                <a:ea typeface="Calibri" pitchFamily="34" charset="-122"/>
                <a:cs typeface="Calibri" pitchFamily="34" charset="-120"/>
              </a:rPr>
              <a:t>Applications come in from:</a:t>
            </a:r>
            <a:endParaRPr lang="en-US" sz="1100" dirty="0"/>
          </a:p>
        </p:txBody>
      </p:sp>
      <p:sp>
        <p:nvSpPr>
          <p:cNvPr id="4" name="input Paper-based"/>
          <p:cNvSpPr/>
          <p:nvPr/>
        </p:nvSpPr>
        <p:spPr>
          <a:xfrm>
            <a:off x="1741932" y="914400"/>
            <a:ext cx="960120" cy="530352"/>
          </a:xfrm>
          <a:prstGeom prst="roundRect">
            <a:avLst>
              <a:gd name="adj" fmla="val 10345"/>
            </a:avLst>
          </a:prstGeom>
          <a:solidFill>
            <a:srgbClr val="FFF6E5"/>
          </a:solidFill>
          <a:ln w="19050">
            <a:solidFill>
              <a:srgbClr val="D9822B"/>
            </a:solidFill>
            <a:prstDash val="dash"/>
          </a:ln>
        </p:spPr>
      </p:sp>
      <p:sp>
        <p:nvSpPr>
          <p:cNvPr id="5" name="Text 3"/>
          <p:cNvSpPr txBox="1"/>
          <p:nvPr/>
        </p:nvSpPr>
        <p:spPr>
          <a:xfrm>
            <a:off x="1741932" y="914400"/>
            <a:ext cx="960120" cy="530352"/>
          </a:xfrm>
          <a:prstGeom prst="rect">
            <a:avLst/>
          </a:prstGeom>
          <a:noFill/>
          <a:ln/>
        </p:spPr>
        <p:txBody>
          <a:bodyPr wrap="square" lIns="0" tIns="0" rIns="0" bIns="0" rtlCol="0" anchor="ctr"/>
          <a:lstStyle/>
          <a:p>
            <a:pPr algn="ctr" indent="0" marL="0">
              <a:buNone/>
            </a:pPr>
            <a:r>
              <a:rPr lang="en-US" sz="1000" b="1" dirty="0">
                <a:solidFill>
                  <a:srgbClr val="1F2233"/>
                </a:solidFill>
                <a:latin typeface="Calibri" pitchFamily="34" charset="0"/>
                <a:ea typeface="Calibri" pitchFamily="34" charset="-122"/>
                <a:cs typeface="Calibri" pitchFamily="34" charset="-120"/>
              </a:rPr>
              <a:t>Paper-based</a:t>
            </a:r>
            <a:endParaRPr lang="en-US" sz="1000" dirty="0"/>
          </a:p>
          <a:p>
            <a:pPr algn="ctr" indent="0" marL="0">
              <a:buNone/>
            </a:pPr>
            <a:r>
              <a:rPr lang="en-US" sz="900" dirty="0">
                <a:solidFill>
                  <a:srgbClr val="1F2233"/>
                </a:solidFill>
                <a:latin typeface="Calibri" pitchFamily="34" charset="0"/>
                <a:ea typeface="Calibri" pitchFamily="34" charset="-122"/>
                <a:cs typeface="Calibri" pitchFamily="34" charset="-120"/>
              </a:rPr>
              <a:t>keyed by hand</a:t>
            </a:r>
            <a:endParaRPr lang="en-US" sz="1000" dirty="0"/>
          </a:p>
        </p:txBody>
      </p:sp>
      <p:sp>
        <p:nvSpPr>
          <p:cNvPr id="6" name="Shape 4"/>
          <p:cNvSpPr/>
          <p:nvPr/>
        </p:nvSpPr>
        <p:spPr>
          <a:xfrm>
            <a:off x="2221992" y="1463040"/>
            <a:ext cx="0" cy="475488"/>
          </a:xfrm>
          <a:prstGeom prst="line">
            <a:avLst/>
          </a:prstGeom>
          <a:noFill/>
          <a:ln w="19050">
            <a:solidFill>
              <a:srgbClr val="D9822B"/>
            </a:solidFill>
            <a:prstDash val="dash"/>
            <a:tailEnd type="triangle"/>
          </a:ln>
        </p:spPr>
      </p:sp>
      <p:sp>
        <p:nvSpPr>
          <p:cNvPr id="7" name="input Online Service"/>
          <p:cNvSpPr/>
          <p:nvPr/>
        </p:nvSpPr>
        <p:spPr>
          <a:xfrm>
            <a:off x="2820924" y="914400"/>
            <a:ext cx="960120" cy="530352"/>
          </a:xfrm>
          <a:prstGeom prst="roundRect">
            <a:avLst>
              <a:gd name="adj" fmla="val 10345"/>
            </a:avLst>
          </a:prstGeom>
          <a:solidFill>
            <a:srgbClr val="F4F2F7"/>
          </a:solidFill>
          <a:ln w="19050">
            <a:solidFill>
              <a:srgbClr val="C9C3D6"/>
            </a:solidFill>
            <a:prstDash val="solid"/>
          </a:ln>
        </p:spPr>
      </p:sp>
      <p:sp>
        <p:nvSpPr>
          <p:cNvPr id="8" name="Text 6"/>
          <p:cNvSpPr txBox="1"/>
          <p:nvPr/>
        </p:nvSpPr>
        <p:spPr>
          <a:xfrm>
            <a:off x="2820924" y="914400"/>
            <a:ext cx="960120" cy="530352"/>
          </a:xfrm>
          <a:prstGeom prst="rect">
            <a:avLst/>
          </a:prstGeom>
          <a:noFill/>
          <a:ln/>
        </p:spPr>
        <p:txBody>
          <a:bodyPr wrap="square" lIns="0" tIns="0" rIns="0" bIns="0" rtlCol="0" anchor="ctr"/>
          <a:lstStyle/>
          <a:p>
            <a:pPr algn="ctr" indent="0" marL="0">
              <a:buNone/>
            </a:pPr>
            <a:r>
              <a:rPr lang="en-US" sz="1000" b="1" dirty="0">
                <a:solidFill>
                  <a:srgbClr val="1F2233"/>
                </a:solidFill>
                <a:latin typeface="Calibri" pitchFamily="34" charset="0"/>
                <a:ea typeface="Calibri" pitchFamily="34" charset="-122"/>
                <a:cs typeface="Calibri" pitchFamily="34" charset="-120"/>
              </a:rPr>
              <a:t>Online Service</a:t>
            </a:r>
            <a:endParaRPr lang="en-US" sz="1000" dirty="0"/>
          </a:p>
          <a:p>
            <a:pPr algn="ctr" indent="0" marL="0">
              <a:buNone/>
            </a:pPr>
            <a:r>
              <a:rPr lang="en-US" sz="900" dirty="0">
                <a:solidFill>
                  <a:srgbClr val="1F2233"/>
                </a:solidFill>
                <a:latin typeface="Calibri" pitchFamily="34" charset="0"/>
                <a:ea typeface="Calibri" pitchFamily="34" charset="-122"/>
                <a:cs typeface="Calibri" pitchFamily="34" charset="-120"/>
              </a:rPr>
              <a:t>Non-commercial</a:t>
            </a:r>
            <a:endParaRPr lang="en-US" sz="1000" dirty="0"/>
          </a:p>
        </p:txBody>
      </p:sp>
      <p:sp>
        <p:nvSpPr>
          <p:cNvPr id="9" name="Shape 7"/>
          <p:cNvSpPr/>
          <p:nvPr/>
        </p:nvSpPr>
        <p:spPr>
          <a:xfrm>
            <a:off x="3300984" y="1463040"/>
            <a:ext cx="0" cy="475488"/>
          </a:xfrm>
          <a:prstGeom prst="line">
            <a:avLst/>
          </a:prstGeom>
          <a:noFill/>
          <a:ln w="19050">
            <a:solidFill>
              <a:srgbClr val="9A93AD"/>
            </a:solidFill>
            <a:prstDash val="solid"/>
            <a:tailEnd type="triangle"/>
          </a:ln>
        </p:spPr>
      </p:sp>
      <p:sp>
        <p:nvSpPr>
          <p:cNvPr id="10" name="input Dante"/>
          <p:cNvSpPr/>
          <p:nvPr/>
        </p:nvSpPr>
        <p:spPr>
          <a:xfrm>
            <a:off x="3899916" y="914400"/>
            <a:ext cx="960120" cy="530352"/>
          </a:xfrm>
          <a:prstGeom prst="roundRect">
            <a:avLst>
              <a:gd name="adj" fmla="val 10345"/>
            </a:avLst>
          </a:prstGeom>
          <a:solidFill>
            <a:srgbClr val="F4F2F7"/>
          </a:solidFill>
          <a:ln w="19050">
            <a:solidFill>
              <a:srgbClr val="C9C3D6"/>
            </a:solidFill>
            <a:prstDash val="solid"/>
          </a:ln>
        </p:spPr>
      </p:sp>
      <p:sp>
        <p:nvSpPr>
          <p:cNvPr id="11" name="Text 9"/>
          <p:cNvSpPr txBox="1"/>
          <p:nvPr/>
        </p:nvSpPr>
        <p:spPr>
          <a:xfrm>
            <a:off x="3899916" y="914400"/>
            <a:ext cx="960120" cy="530352"/>
          </a:xfrm>
          <a:prstGeom prst="rect">
            <a:avLst/>
          </a:prstGeom>
          <a:noFill/>
          <a:ln/>
        </p:spPr>
        <p:txBody>
          <a:bodyPr wrap="square" lIns="0" tIns="0" rIns="0" bIns="0" rtlCol="0" anchor="ctr"/>
          <a:lstStyle/>
          <a:p>
            <a:pPr algn="ctr" indent="0" marL="0">
              <a:buNone/>
            </a:pPr>
            <a:r>
              <a:rPr lang="en-US" sz="1000" b="1" dirty="0">
                <a:solidFill>
                  <a:srgbClr val="1F2233"/>
                </a:solidFill>
                <a:latin typeface="Calibri" pitchFamily="34" charset="0"/>
                <a:ea typeface="Calibri" pitchFamily="34" charset="-122"/>
                <a:cs typeface="Calibri" pitchFamily="34" charset="-120"/>
              </a:rPr>
              <a:t>Dante</a:t>
            </a:r>
            <a:endParaRPr lang="en-US" sz="1000" dirty="0"/>
          </a:p>
          <a:p>
            <a:pPr algn="ctr" indent="0" marL="0">
              <a:buNone/>
            </a:pPr>
            <a:r>
              <a:rPr lang="en-US" sz="900" dirty="0">
                <a:solidFill>
                  <a:srgbClr val="1F2233"/>
                </a:solidFill>
                <a:latin typeface="Calibri" pitchFamily="34" charset="0"/>
                <a:ea typeface="Calibri" pitchFamily="34" charset="-122"/>
                <a:cs typeface="Calibri" pitchFamily="34" charset="-120"/>
              </a:rPr>
              <a:t>Commercial</a:t>
            </a:r>
            <a:endParaRPr lang="en-US" sz="1000" dirty="0"/>
          </a:p>
        </p:txBody>
      </p:sp>
      <p:sp>
        <p:nvSpPr>
          <p:cNvPr id="12" name="Shape 10"/>
          <p:cNvSpPr/>
          <p:nvPr/>
        </p:nvSpPr>
        <p:spPr>
          <a:xfrm>
            <a:off x="4379976" y="1463040"/>
            <a:ext cx="0" cy="475488"/>
          </a:xfrm>
          <a:prstGeom prst="line">
            <a:avLst/>
          </a:prstGeom>
          <a:noFill/>
          <a:ln w="19050">
            <a:solidFill>
              <a:srgbClr val="9A93AD"/>
            </a:solidFill>
            <a:prstDash val="solid"/>
            <a:tailEnd type="triangle"/>
          </a:ln>
        </p:spPr>
      </p:sp>
      <p:sp>
        <p:nvSpPr>
          <p:cNvPr id="13" name="input FVC Portal"/>
          <p:cNvSpPr/>
          <p:nvPr/>
        </p:nvSpPr>
        <p:spPr>
          <a:xfrm>
            <a:off x="4978908" y="914400"/>
            <a:ext cx="960120" cy="530352"/>
          </a:xfrm>
          <a:prstGeom prst="roundRect">
            <a:avLst>
              <a:gd name="adj" fmla="val 10345"/>
            </a:avLst>
          </a:prstGeom>
          <a:solidFill>
            <a:srgbClr val="F4F2F7"/>
          </a:solidFill>
          <a:ln w="19050">
            <a:solidFill>
              <a:srgbClr val="C9C3D6"/>
            </a:solidFill>
            <a:prstDash val="solid"/>
          </a:ln>
        </p:spPr>
      </p:sp>
      <p:sp>
        <p:nvSpPr>
          <p:cNvPr id="14" name="Text 12"/>
          <p:cNvSpPr txBox="1"/>
          <p:nvPr/>
        </p:nvSpPr>
        <p:spPr>
          <a:xfrm>
            <a:off x="4978908" y="914400"/>
            <a:ext cx="960120" cy="530352"/>
          </a:xfrm>
          <a:prstGeom prst="rect">
            <a:avLst/>
          </a:prstGeom>
          <a:noFill/>
          <a:ln/>
        </p:spPr>
        <p:txBody>
          <a:bodyPr wrap="square" lIns="0" tIns="0" rIns="0" bIns="0" rtlCol="0" anchor="ctr"/>
          <a:lstStyle/>
          <a:p>
            <a:pPr algn="ctr" indent="0" marL="0">
              <a:buNone/>
            </a:pPr>
            <a:r>
              <a:rPr lang="en-US" sz="1000" b="1" dirty="0">
                <a:solidFill>
                  <a:srgbClr val="1F2233"/>
                </a:solidFill>
                <a:latin typeface="Calibri" pitchFamily="34" charset="0"/>
                <a:ea typeface="Calibri" pitchFamily="34" charset="-122"/>
                <a:cs typeface="Calibri" pitchFamily="34" charset="-120"/>
              </a:rPr>
              <a:t>FVC Portal</a:t>
            </a:r>
            <a:endParaRPr lang="en-US" sz="1000" dirty="0"/>
          </a:p>
          <a:p>
            <a:pPr algn="ctr" indent="0" marL="0">
              <a:buNone/>
            </a:pPr>
            <a:r>
              <a:rPr lang="en-US" sz="900" dirty="0">
                <a:solidFill>
                  <a:srgbClr val="1F2233"/>
                </a:solidFill>
                <a:latin typeface="Calibri" pitchFamily="34" charset="0"/>
                <a:ea typeface="Calibri" pitchFamily="34" charset="-122"/>
                <a:cs typeface="Calibri" pitchFamily="34" charset="-120"/>
              </a:rPr>
              <a:t>School partnership</a:t>
            </a:r>
            <a:endParaRPr lang="en-US" sz="1000" dirty="0"/>
          </a:p>
        </p:txBody>
      </p:sp>
      <p:sp>
        <p:nvSpPr>
          <p:cNvPr id="15" name="Shape 13"/>
          <p:cNvSpPr/>
          <p:nvPr/>
        </p:nvSpPr>
        <p:spPr>
          <a:xfrm>
            <a:off x="5458968" y="1463040"/>
            <a:ext cx="0" cy="475488"/>
          </a:xfrm>
          <a:prstGeom prst="line">
            <a:avLst/>
          </a:prstGeom>
          <a:noFill/>
          <a:ln w="19050">
            <a:solidFill>
              <a:srgbClr val="9A93AD"/>
            </a:solidFill>
            <a:prstDash val="solid"/>
            <a:tailEnd type="triangle"/>
          </a:ln>
        </p:spPr>
      </p:sp>
      <p:sp>
        <p:nvSpPr>
          <p:cNvPr id="16" name="Text 14"/>
          <p:cNvSpPr txBox="1"/>
          <p:nvPr/>
        </p:nvSpPr>
        <p:spPr>
          <a:xfrm>
            <a:off x="365760" y="1664208"/>
            <a:ext cx="822960" cy="274320"/>
          </a:xfrm>
          <a:prstGeom prst="rect">
            <a:avLst/>
          </a:prstGeom>
          <a:noFill/>
          <a:ln/>
        </p:spPr>
        <p:txBody>
          <a:bodyPr wrap="square" lIns="0" tIns="0" rIns="0" bIns="0" rtlCol="0" anchor="ctr"/>
          <a:lstStyle/>
          <a:p>
            <a:pPr indent="0" marL="0">
              <a:buNone/>
            </a:pPr>
            <a:r>
              <a:rPr lang="en-US" sz="1100" b="1" dirty="0">
                <a:solidFill>
                  <a:srgbClr val="2B2350"/>
                </a:solidFill>
                <a:latin typeface="Calibri" pitchFamily="34" charset="0"/>
                <a:ea typeface="Calibri" pitchFamily="34" charset="-122"/>
                <a:cs typeface="Calibri" pitchFamily="34" charset="-120"/>
              </a:rPr>
              <a:t>System</a:t>
            </a:r>
            <a:endParaRPr lang="en-US" sz="1100" dirty="0"/>
          </a:p>
        </p:txBody>
      </p:sp>
      <p:sp>
        <p:nvSpPr>
          <p:cNvPr id="17" name="system Enquirer"/>
          <p:cNvSpPr/>
          <p:nvPr/>
        </p:nvSpPr>
        <p:spPr>
          <a:xfrm>
            <a:off x="365760" y="1965960"/>
            <a:ext cx="502920" cy="2157984"/>
          </a:xfrm>
          <a:prstGeom prst="rect">
            <a:avLst/>
          </a:prstGeom>
          <a:solidFill>
            <a:srgbClr val="2B2350"/>
          </a:solidFill>
          <a:ln w="12700">
            <a:solidFill>
              <a:srgbClr val="2B2350"/>
            </a:solidFill>
            <a:prstDash val="solid"/>
          </a:ln>
        </p:spPr>
      </p:sp>
      <p:sp>
        <p:nvSpPr>
          <p:cNvPr id="18" name="Text 16"/>
          <p:cNvSpPr txBox="1"/>
          <p:nvPr/>
        </p:nvSpPr>
        <p:spPr>
          <a:xfrm>
            <a:off x="365760" y="1965960"/>
            <a:ext cx="502920" cy="2157984"/>
          </a:xfrm>
          <a:prstGeom prst="rect">
            <a:avLst/>
          </a:prstGeom>
          <a:noFill/>
          <a:ln/>
        </p:spPr>
        <p:txBody>
          <a:bodyPr wrap="square" lIns="0" tIns="0" rIns="0" bIns="0" rtlCol="0" anchor="ctr" vert="vert270"/>
          <a:lstStyle/>
          <a:p>
            <a:pPr algn="ctr" indent="0" marL="0">
              <a:buNone/>
            </a:pPr>
            <a:r>
              <a:rPr lang="en-US" sz="1500" b="1" dirty="0">
                <a:solidFill>
                  <a:srgbClr val="FFFFFF"/>
                </a:solidFill>
                <a:latin typeface="Calibri" pitchFamily="34" charset="0"/>
                <a:ea typeface="Calibri" pitchFamily="34" charset="-122"/>
                <a:cs typeface="Calibri" pitchFamily="34" charset="-120"/>
              </a:rPr>
              <a:t>Enquirer</a:t>
            </a:r>
            <a:endParaRPr lang="en-US" sz="1500" dirty="0"/>
          </a:p>
        </p:txBody>
      </p:sp>
      <p:sp>
        <p:nvSpPr>
          <p:cNvPr id="19" name="system UnitE"/>
          <p:cNvSpPr/>
          <p:nvPr/>
        </p:nvSpPr>
        <p:spPr>
          <a:xfrm>
            <a:off x="365760" y="4526280"/>
            <a:ext cx="502920" cy="1380744"/>
          </a:xfrm>
          <a:prstGeom prst="rect">
            <a:avLst/>
          </a:prstGeom>
          <a:solidFill>
            <a:srgbClr val="2B2350"/>
          </a:solidFill>
          <a:ln w="12700">
            <a:solidFill>
              <a:srgbClr val="2B2350"/>
            </a:solidFill>
            <a:prstDash val="solid"/>
          </a:ln>
        </p:spPr>
      </p:sp>
      <p:sp>
        <p:nvSpPr>
          <p:cNvPr id="20" name="Text 18"/>
          <p:cNvSpPr txBox="1"/>
          <p:nvPr/>
        </p:nvSpPr>
        <p:spPr>
          <a:xfrm>
            <a:off x="365760" y="4526280"/>
            <a:ext cx="502920" cy="1380744"/>
          </a:xfrm>
          <a:prstGeom prst="rect">
            <a:avLst/>
          </a:prstGeom>
          <a:noFill/>
          <a:ln/>
        </p:spPr>
        <p:txBody>
          <a:bodyPr wrap="square" lIns="0" tIns="0" rIns="0" bIns="0" rtlCol="0" anchor="ctr" vert="vert270"/>
          <a:lstStyle/>
          <a:p>
            <a:pPr algn="ctr" indent="0" marL="0">
              <a:buNone/>
            </a:pPr>
            <a:r>
              <a:rPr lang="en-US" sz="1500" b="1" dirty="0">
                <a:solidFill>
                  <a:srgbClr val="FFFFFF"/>
                </a:solidFill>
                <a:latin typeface="Calibri" pitchFamily="34" charset="0"/>
                <a:ea typeface="Calibri" pitchFamily="34" charset="-122"/>
                <a:cs typeface="Calibri" pitchFamily="34" charset="-120"/>
              </a:rPr>
              <a:t>UnitE</a:t>
            </a:r>
            <a:endParaRPr lang="en-US" sz="1500" dirty="0"/>
          </a:p>
        </p:txBody>
      </p:sp>
      <p:sp>
        <p:nvSpPr>
          <p:cNvPr id="21" name="stage 1"/>
          <p:cNvSpPr/>
          <p:nvPr/>
        </p:nvSpPr>
        <p:spPr>
          <a:xfrm>
            <a:off x="1737360" y="1965960"/>
            <a:ext cx="4206240" cy="603504"/>
          </a:xfrm>
          <a:prstGeom prst="roundRect">
            <a:avLst>
              <a:gd name="adj" fmla="val 9091"/>
            </a:avLst>
          </a:prstGeom>
          <a:solidFill>
            <a:srgbClr val="9C2A7A"/>
          </a:solidFill>
          <a:ln w="9525">
            <a:solidFill>
              <a:srgbClr val="9C2A7A"/>
            </a:solidFill>
            <a:prstDash val="solid"/>
          </a:ln>
        </p:spPr>
      </p:sp>
      <p:sp>
        <p:nvSpPr>
          <p:cNvPr id="22" name="Text 20"/>
          <p:cNvSpPr txBox="1"/>
          <p:nvPr/>
        </p:nvSpPr>
        <p:spPr>
          <a:xfrm>
            <a:off x="1737360" y="1965960"/>
            <a:ext cx="42062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  Application</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Applied for the course</a:t>
            </a:r>
            <a:endParaRPr lang="en-US" sz="1500" dirty="0"/>
          </a:p>
        </p:txBody>
      </p:sp>
      <p:sp>
        <p:nvSpPr>
          <p:cNvPr id="23" name="stage 2"/>
          <p:cNvSpPr/>
          <p:nvPr/>
        </p:nvSpPr>
        <p:spPr>
          <a:xfrm>
            <a:off x="1965960" y="2743200"/>
            <a:ext cx="3749040" cy="603504"/>
          </a:xfrm>
          <a:prstGeom prst="roundRect">
            <a:avLst>
              <a:gd name="adj" fmla="val 9091"/>
            </a:avLst>
          </a:prstGeom>
          <a:solidFill>
            <a:srgbClr val="B03C8C"/>
          </a:solidFill>
          <a:ln w="9525">
            <a:solidFill>
              <a:srgbClr val="B03C8C"/>
            </a:solidFill>
            <a:prstDash val="solid"/>
          </a:ln>
        </p:spPr>
      </p:sp>
      <p:sp>
        <p:nvSpPr>
          <p:cNvPr id="24" name="Text 22"/>
          <p:cNvSpPr txBox="1"/>
          <p:nvPr/>
        </p:nvSpPr>
        <p:spPr>
          <a:xfrm>
            <a:off x="1965960" y="2743200"/>
            <a:ext cx="37490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  Selection</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Seen by the department</a:t>
            </a:r>
            <a:endParaRPr lang="en-US" sz="1500" dirty="0"/>
          </a:p>
        </p:txBody>
      </p:sp>
      <p:sp>
        <p:nvSpPr>
          <p:cNvPr id="25" name="stage 3"/>
          <p:cNvSpPr/>
          <p:nvPr/>
        </p:nvSpPr>
        <p:spPr>
          <a:xfrm>
            <a:off x="2194560" y="3520440"/>
            <a:ext cx="3291840" cy="603504"/>
          </a:xfrm>
          <a:prstGeom prst="roundRect">
            <a:avLst>
              <a:gd name="adj" fmla="val 9091"/>
            </a:avLst>
          </a:prstGeom>
          <a:solidFill>
            <a:srgbClr val="C2569D"/>
          </a:solidFill>
          <a:ln w="9525">
            <a:solidFill>
              <a:srgbClr val="C2569D"/>
            </a:solidFill>
            <a:prstDash val="solid"/>
          </a:ln>
        </p:spPr>
      </p:sp>
      <p:sp>
        <p:nvSpPr>
          <p:cNvPr id="26" name="Text 24"/>
          <p:cNvSpPr txBox="1"/>
          <p:nvPr/>
        </p:nvSpPr>
        <p:spPr>
          <a:xfrm>
            <a:off x="2194560" y="3520440"/>
            <a:ext cx="32918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  Offer</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Offer made</a:t>
            </a:r>
            <a:endParaRPr lang="en-US" sz="1500" dirty="0"/>
          </a:p>
        </p:txBody>
      </p:sp>
      <p:sp>
        <p:nvSpPr>
          <p:cNvPr id="27" name="stage 4"/>
          <p:cNvSpPr/>
          <p:nvPr/>
        </p:nvSpPr>
        <p:spPr>
          <a:xfrm>
            <a:off x="2423160" y="4526280"/>
            <a:ext cx="2834640" cy="603504"/>
          </a:xfrm>
          <a:prstGeom prst="roundRect">
            <a:avLst>
              <a:gd name="adj" fmla="val 9091"/>
            </a:avLst>
          </a:prstGeom>
          <a:solidFill>
            <a:srgbClr val="CB6FAB"/>
          </a:solidFill>
          <a:ln w="9525">
            <a:solidFill>
              <a:srgbClr val="CB6FAB"/>
            </a:solidFill>
            <a:prstDash val="solid"/>
          </a:ln>
        </p:spPr>
      </p:sp>
      <p:sp>
        <p:nvSpPr>
          <p:cNvPr id="28" name="Text 26"/>
          <p:cNvSpPr txBox="1"/>
          <p:nvPr/>
        </p:nvSpPr>
        <p:spPr>
          <a:xfrm>
            <a:off x="2423160" y="4526280"/>
            <a:ext cx="28346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  Enrolment (day one)</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Starts the course</a:t>
            </a:r>
            <a:endParaRPr lang="en-US" sz="1500" dirty="0"/>
          </a:p>
        </p:txBody>
      </p:sp>
      <p:sp>
        <p:nvSpPr>
          <p:cNvPr id="29" name="stage 5"/>
          <p:cNvSpPr/>
          <p:nvPr/>
        </p:nvSpPr>
        <p:spPr>
          <a:xfrm>
            <a:off x="2651760" y="5303520"/>
            <a:ext cx="2377440" cy="603504"/>
          </a:xfrm>
          <a:prstGeom prst="roundRect">
            <a:avLst>
              <a:gd name="adj" fmla="val 9091"/>
            </a:avLst>
          </a:prstGeom>
          <a:solidFill>
            <a:srgbClr val="5B4A9E"/>
          </a:solidFill>
          <a:ln w="19050">
            <a:solidFill>
              <a:srgbClr val="2B2350"/>
            </a:solidFill>
            <a:prstDash val="solid"/>
          </a:ln>
        </p:spPr>
      </p:sp>
      <p:sp>
        <p:nvSpPr>
          <p:cNvPr id="30" name="Text 28"/>
          <p:cNvSpPr txBox="1"/>
          <p:nvPr/>
        </p:nvSpPr>
        <p:spPr>
          <a:xfrm>
            <a:off x="2651760" y="5303520"/>
            <a:ext cx="2377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  Enrolled at ~6 weeks</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Credits claimed: counts for funding</a:t>
            </a:r>
            <a:endParaRPr lang="en-US" sz="1500" dirty="0"/>
          </a:p>
        </p:txBody>
      </p:sp>
      <p:sp>
        <p:nvSpPr>
          <p:cNvPr id="31" name="manual hand-off"/>
          <p:cNvSpPr/>
          <p:nvPr/>
        </p:nvSpPr>
        <p:spPr>
          <a:xfrm>
            <a:off x="365760" y="4325112"/>
            <a:ext cx="7726680" cy="0"/>
          </a:xfrm>
          <a:prstGeom prst="line">
            <a:avLst/>
          </a:prstGeom>
          <a:noFill/>
          <a:ln w="25400">
            <a:solidFill>
              <a:srgbClr val="D9822B"/>
            </a:solidFill>
            <a:prstDash val="dash"/>
          </a:ln>
        </p:spPr>
      </p:sp>
      <p:sp>
        <p:nvSpPr>
          <p:cNvPr id="32" name="Text 30"/>
          <p:cNvSpPr txBox="1"/>
          <p:nvPr/>
        </p:nvSpPr>
        <p:spPr>
          <a:xfrm>
            <a:off x="1874520" y="4197096"/>
            <a:ext cx="3931920" cy="256032"/>
          </a:xfrm>
          <a:prstGeom prst="rect">
            <a:avLst/>
          </a:prstGeom>
          <a:solidFill>
            <a:srgbClr val="FFFFFF"/>
          </a:solidFill>
          <a:ln/>
        </p:spPr>
        <p:txBody>
          <a:bodyPr wrap="square" lIns="0" tIns="0" rIns="0" bIns="0" rtlCol="0" anchor="ctr"/>
          <a:lstStyle/>
          <a:p>
            <a:pPr algn="ctr" indent="0" marL="0">
              <a:buNone/>
            </a:pPr>
            <a:r>
              <a:rPr lang="en-US" sz="1000" b="1" i="1" dirty="0">
                <a:solidFill>
                  <a:srgbClr val="D9822B"/>
                </a:solidFill>
                <a:latin typeface="Calibri" pitchFamily="34" charset="0"/>
                <a:ea typeface="Calibri" pitchFamily="34" charset="-122"/>
                <a:cs typeface="Calibri" pitchFamily="34" charset="-120"/>
              </a:rPr>
              <a:t>Manual hand-off: data moved from Enquirer into UnitE by hand</a:t>
            </a:r>
            <a:endParaRPr lang="en-US" sz="1000" dirty="0"/>
          </a:p>
        </p:txBody>
      </p:sp>
      <p:sp>
        <p:nvSpPr>
          <p:cNvPr id="33" name="Text 31"/>
          <p:cNvSpPr txBox="1"/>
          <p:nvPr/>
        </p:nvSpPr>
        <p:spPr>
          <a:xfrm>
            <a:off x="6172200" y="1664208"/>
            <a:ext cx="1965960" cy="274320"/>
          </a:xfrm>
          <a:prstGeom prst="rect">
            <a:avLst/>
          </a:prstGeom>
          <a:noFill/>
          <a:ln/>
        </p:spPr>
        <p:txBody>
          <a:bodyPr wrap="square" lIns="0" tIns="0" rIns="0" bIns="0" rtlCol="0" anchor="ctr"/>
          <a:lstStyle/>
          <a:p>
            <a:pPr indent="0" marL="0">
              <a:buNone/>
            </a:pPr>
            <a:r>
              <a:rPr lang="en-US" sz="1100" b="1" dirty="0">
                <a:solidFill>
                  <a:srgbClr val="2B2350"/>
                </a:solidFill>
                <a:latin typeface="Calibri" pitchFamily="34" charset="0"/>
                <a:ea typeface="Calibri" pitchFamily="34" charset="-122"/>
                <a:cs typeface="Calibri" pitchFamily="34" charset="-120"/>
              </a:rPr>
              <a:t>Rates we will measure</a:t>
            </a:r>
            <a:endParaRPr lang="en-US" sz="1100" dirty="0"/>
          </a:p>
        </p:txBody>
      </p:sp>
      <p:sp>
        <p:nvSpPr>
          <p:cNvPr id="34" name="rate A"/>
          <p:cNvSpPr/>
          <p:nvPr/>
        </p:nvSpPr>
        <p:spPr>
          <a:xfrm>
            <a:off x="6172200" y="2843784"/>
            <a:ext cx="1920240" cy="402336"/>
          </a:xfrm>
          <a:prstGeom prst="roundRect">
            <a:avLst>
              <a:gd name="adj" fmla="val 13636"/>
            </a:avLst>
          </a:prstGeom>
          <a:solidFill>
            <a:srgbClr val="FFFFFF"/>
          </a:solidFill>
          <a:ln w="19050">
            <a:solidFill>
              <a:srgbClr val="5B4A9E"/>
            </a:solidFill>
            <a:prstDash val="solid"/>
          </a:ln>
        </p:spPr>
      </p:sp>
      <p:sp>
        <p:nvSpPr>
          <p:cNvPr id="35" name="Shape 33"/>
          <p:cNvSpPr/>
          <p:nvPr/>
        </p:nvSpPr>
        <p:spPr>
          <a:xfrm>
            <a:off x="6227064" y="2898648"/>
            <a:ext cx="292608" cy="292608"/>
          </a:xfrm>
          <a:prstGeom prst="ellipse">
            <a:avLst/>
          </a:prstGeom>
          <a:solidFill>
            <a:srgbClr val="5B4A9E"/>
          </a:solidFill>
          <a:ln w="12700">
            <a:solidFill>
              <a:srgbClr val="5B4A9E"/>
            </a:solidFill>
            <a:prstDash val="solid"/>
          </a:ln>
        </p:spPr>
      </p:sp>
      <p:sp>
        <p:nvSpPr>
          <p:cNvPr id="36" name="Text 34"/>
          <p:cNvSpPr txBox="1"/>
          <p:nvPr/>
        </p:nvSpPr>
        <p:spPr>
          <a:xfrm>
            <a:off x="6227064" y="28986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7" name="Text 35"/>
          <p:cNvSpPr txBox="1"/>
          <p:nvPr/>
        </p:nvSpPr>
        <p:spPr>
          <a:xfrm>
            <a:off x="6583680" y="2843784"/>
            <a:ext cx="1463040" cy="402336"/>
          </a:xfrm>
          <a:prstGeom prst="rect">
            <a:avLst/>
          </a:prstGeom>
          <a:noFill/>
          <a:ln/>
        </p:spPr>
        <p:txBody>
          <a:bodyPr wrap="square" lIns="0" tIns="0" rIns="0" bIns="0" rtlCol="0" anchor="ctr"/>
          <a:lstStyle/>
          <a:p>
            <a:pPr indent="0" marL="0">
              <a:buNone/>
            </a:pPr>
            <a:r>
              <a:rPr lang="en-US" sz="1050" b="1" dirty="0">
                <a:solidFill>
                  <a:srgbClr val="1F2233"/>
                </a:solidFill>
                <a:latin typeface="Calibri" pitchFamily="34" charset="0"/>
                <a:ea typeface="Calibri" pitchFamily="34" charset="-122"/>
                <a:cs typeface="Calibri" pitchFamily="34" charset="-120"/>
              </a:rPr>
              <a:t>Application → Offer</a:t>
            </a:r>
            <a:endParaRPr lang="en-US" sz="1050" dirty="0"/>
          </a:p>
        </p:txBody>
      </p:sp>
      <p:sp>
        <p:nvSpPr>
          <p:cNvPr id="38" name="Text 36"/>
          <p:cNvSpPr txBox="1"/>
          <p:nvPr/>
        </p:nvSpPr>
        <p:spPr>
          <a:xfrm>
            <a:off x="6172200" y="3310128"/>
            <a:ext cx="1920240" cy="502920"/>
          </a:xfrm>
          <a:prstGeom prst="rect">
            <a:avLst/>
          </a:prstGeom>
          <a:noFill/>
          <a:ln/>
        </p:spPr>
        <p:txBody>
          <a:bodyPr wrap="square" lIns="0" tIns="0" rIns="0" bIns="0" rtlCol="0" anchor="t"/>
          <a:lstStyle/>
          <a:p>
            <a:pPr indent="0" marL="0">
              <a:buNone/>
            </a:pPr>
            <a:r>
              <a:rPr lang="en-US" sz="900" i="1" dirty="0">
                <a:solidFill>
                  <a:srgbClr val="6B6F80"/>
                </a:solidFill>
                <a:latin typeface="Calibri" pitchFamily="34" charset="0"/>
                <a:ea typeface="Calibri" pitchFamily="34" charset="-122"/>
                <a:cs typeface="Calibri" pitchFamily="34" charset="-120"/>
              </a:rPr>
              <a:t>Selection is not counted on its own: Enquirer keeps only the current status.</a:t>
            </a:r>
            <a:endParaRPr lang="en-US" sz="900" dirty="0"/>
          </a:p>
        </p:txBody>
      </p:sp>
      <p:sp>
        <p:nvSpPr>
          <p:cNvPr id="39" name="rate B"/>
          <p:cNvSpPr/>
          <p:nvPr/>
        </p:nvSpPr>
        <p:spPr>
          <a:xfrm>
            <a:off x="6172200" y="4123944"/>
            <a:ext cx="1920240" cy="402336"/>
          </a:xfrm>
          <a:prstGeom prst="roundRect">
            <a:avLst>
              <a:gd name="adj" fmla="val 13636"/>
            </a:avLst>
          </a:prstGeom>
          <a:solidFill>
            <a:srgbClr val="FFFFFF"/>
          </a:solidFill>
          <a:ln w="19050">
            <a:solidFill>
              <a:srgbClr val="5B4A9E"/>
            </a:solidFill>
            <a:prstDash val="solid"/>
          </a:ln>
        </p:spPr>
      </p:sp>
      <p:sp>
        <p:nvSpPr>
          <p:cNvPr id="40" name="Shape 38"/>
          <p:cNvSpPr/>
          <p:nvPr/>
        </p:nvSpPr>
        <p:spPr>
          <a:xfrm>
            <a:off x="6227064" y="4178808"/>
            <a:ext cx="292608" cy="292608"/>
          </a:xfrm>
          <a:prstGeom prst="ellipse">
            <a:avLst/>
          </a:prstGeom>
          <a:solidFill>
            <a:srgbClr val="5B4A9E"/>
          </a:solidFill>
          <a:ln w="12700">
            <a:solidFill>
              <a:srgbClr val="5B4A9E"/>
            </a:solidFill>
            <a:prstDash val="solid"/>
          </a:ln>
        </p:spPr>
      </p:sp>
      <p:sp>
        <p:nvSpPr>
          <p:cNvPr id="41" name="Text 39"/>
          <p:cNvSpPr txBox="1"/>
          <p:nvPr/>
        </p:nvSpPr>
        <p:spPr>
          <a:xfrm>
            <a:off x="6227064" y="41788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42" name="Text 40"/>
          <p:cNvSpPr txBox="1"/>
          <p:nvPr/>
        </p:nvSpPr>
        <p:spPr>
          <a:xfrm>
            <a:off x="6583680" y="4123944"/>
            <a:ext cx="1463040" cy="402336"/>
          </a:xfrm>
          <a:prstGeom prst="rect">
            <a:avLst/>
          </a:prstGeom>
          <a:noFill/>
          <a:ln/>
        </p:spPr>
        <p:txBody>
          <a:bodyPr wrap="square" lIns="0" tIns="0" rIns="0" bIns="0" rtlCol="0" anchor="ctr"/>
          <a:lstStyle/>
          <a:p>
            <a:pPr indent="0" marL="0">
              <a:buNone/>
            </a:pPr>
            <a:r>
              <a:rPr lang="en-US" sz="1050" b="1" dirty="0">
                <a:solidFill>
                  <a:srgbClr val="1F2233"/>
                </a:solidFill>
                <a:latin typeface="Calibri" pitchFamily="34" charset="0"/>
                <a:ea typeface="Calibri" pitchFamily="34" charset="-122"/>
                <a:cs typeface="Calibri" pitchFamily="34" charset="-120"/>
              </a:rPr>
              <a:t>Offer → Enrolment (day one)</a:t>
            </a:r>
            <a:endParaRPr lang="en-US" sz="1050" dirty="0"/>
          </a:p>
        </p:txBody>
      </p:sp>
      <p:sp>
        <p:nvSpPr>
          <p:cNvPr id="43" name="rate C"/>
          <p:cNvSpPr/>
          <p:nvPr/>
        </p:nvSpPr>
        <p:spPr>
          <a:xfrm>
            <a:off x="6172200" y="5015484"/>
            <a:ext cx="1920240" cy="402336"/>
          </a:xfrm>
          <a:prstGeom prst="roundRect">
            <a:avLst>
              <a:gd name="adj" fmla="val 13636"/>
            </a:avLst>
          </a:prstGeom>
          <a:solidFill>
            <a:srgbClr val="FFFFFF"/>
          </a:solidFill>
          <a:ln w="19050">
            <a:solidFill>
              <a:srgbClr val="5B4A9E"/>
            </a:solidFill>
            <a:prstDash val="solid"/>
          </a:ln>
        </p:spPr>
      </p:sp>
      <p:sp>
        <p:nvSpPr>
          <p:cNvPr id="44" name="Shape 42"/>
          <p:cNvSpPr/>
          <p:nvPr/>
        </p:nvSpPr>
        <p:spPr>
          <a:xfrm>
            <a:off x="6227064" y="5070348"/>
            <a:ext cx="292608" cy="292608"/>
          </a:xfrm>
          <a:prstGeom prst="ellipse">
            <a:avLst/>
          </a:prstGeom>
          <a:solidFill>
            <a:srgbClr val="5B4A9E"/>
          </a:solidFill>
          <a:ln w="12700">
            <a:solidFill>
              <a:srgbClr val="5B4A9E"/>
            </a:solidFill>
            <a:prstDash val="solid"/>
          </a:ln>
        </p:spPr>
      </p:sp>
      <p:sp>
        <p:nvSpPr>
          <p:cNvPr id="45" name="Text 43"/>
          <p:cNvSpPr txBox="1"/>
          <p:nvPr/>
        </p:nvSpPr>
        <p:spPr>
          <a:xfrm>
            <a:off x="6227064" y="50703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46" name="Text 44"/>
          <p:cNvSpPr txBox="1"/>
          <p:nvPr/>
        </p:nvSpPr>
        <p:spPr>
          <a:xfrm>
            <a:off x="6583680" y="5015484"/>
            <a:ext cx="1463040" cy="402336"/>
          </a:xfrm>
          <a:prstGeom prst="rect">
            <a:avLst/>
          </a:prstGeom>
          <a:noFill/>
          <a:ln/>
        </p:spPr>
        <p:txBody>
          <a:bodyPr wrap="square" lIns="0" tIns="0" rIns="0" bIns="0" rtlCol="0" anchor="ctr"/>
          <a:lstStyle/>
          <a:p>
            <a:pPr indent="0" marL="0">
              <a:buNone/>
            </a:pPr>
            <a:r>
              <a:rPr lang="en-US" sz="1050" b="1" dirty="0">
                <a:solidFill>
                  <a:srgbClr val="1F2233"/>
                </a:solidFill>
                <a:latin typeface="Calibri" pitchFamily="34" charset="0"/>
                <a:ea typeface="Calibri" pitchFamily="34" charset="-122"/>
                <a:cs typeface="Calibri" pitchFamily="34" charset="-120"/>
              </a:rPr>
              <a:t>Day one → 6 weeks</a:t>
            </a:r>
            <a:endParaRPr lang="en-US" sz="1050" dirty="0"/>
          </a:p>
        </p:txBody>
      </p:sp>
      <p:sp>
        <p:nvSpPr>
          <p:cNvPr id="47" name="Text 45"/>
          <p:cNvSpPr txBox="1"/>
          <p:nvPr/>
        </p:nvSpPr>
        <p:spPr>
          <a:xfrm>
            <a:off x="8275320" y="1664208"/>
            <a:ext cx="3566160" cy="274320"/>
          </a:xfrm>
          <a:prstGeom prst="rect">
            <a:avLst/>
          </a:prstGeom>
          <a:noFill/>
          <a:ln/>
        </p:spPr>
        <p:txBody>
          <a:bodyPr wrap="square" lIns="0" tIns="0" rIns="0" bIns="0" rtlCol="0" anchor="ctr"/>
          <a:lstStyle/>
          <a:p>
            <a:pPr indent="0" marL="0">
              <a:buNone/>
            </a:pPr>
            <a:r>
              <a:rPr lang="en-US" sz="1100" b="1" dirty="0">
                <a:solidFill>
                  <a:srgbClr val="2B2350"/>
                </a:solidFill>
                <a:latin typeface="Calibri" pitchFamily="34" charset="0"/>
                <a:ea typeface="Calibri" pitchFamily="34" charset="-122"/>
                <a:cs typeface="Calibri" pitchFamily="34" charset="-120"/>
              </a:rPr>
              <a:t>Why we lose people (from the meeting)</a:t>
            </a:r>
            <a:endParaRPr lang="en-US" sz="1100" dirty="0"/>
          </a:p>
        </p:txBody>
      </p:sp>
      <p:sp>
        <p:nvSpPr>
          <p:cNvPr id="48" name="cause 1"/>
          <p:cNvSpPr/>
          <p:nvPr/>
        </p:nvSpPr>
        <p:spPr>
          <a:xfrm>
            <a:off x="8275320" y="1965960"/>
            <a:ext cx="3547872" cy="603504"/>
          </a:xfrm>
          <a:prstGeom prst="roundRect">
            <a:avLst>
              <a:gd name="adj" fmla="val 9091"/>
            </a:avLst>
          </a:prstGeom>
          <a:solidFill>
            <a:srgbClr val="F4F2F7"/>
          </a:solidFill>
          <a:ln w="9525">
            <a:solidFill>
              <a:srgbClr val="F4F2F7"/>
            </a:solidFill>
            <a:prstDash val="solid"/>
          </a:ln>
        </p:spPr>
      </p:sp>
      <p:sp>
        <p:nvSpPr>
          <p:cNvPr id="49" name="lost arrow 1"/>
          <p:cNvSpPr/>
          <p:nvPr/>
        </p:nvSpPr>
        <p:spPr>
          <a:xfrm>
            <a:off x="8366760" y="2148840"/>
            <a:ext cx="347472" cy="237744"/>
          </a:xfrm>
          <a:prstGeom prst="rightArrow">
            <a:avLst/>
          </a:prstGeom>
          <a:solidFill>
            <a:srgbClr val="E8C547"/>
          </a:solidFill>
          <a:ln w="12700">
            <a:solidFill>
              <a:srgbClr val="E8C547"/>
            </a:solidFill>
            <a:prstDash val="solid"/>
          </a:ln>
        </p:spPr>
      </p:sp>
      <p:sp>
        <p:nvSpPr>
          <p:cNvPr id="50" name="Text 48"/>
          <p:cNvSpPr txBox="1"/>
          <p:nvPr/>
        </p:nvSpPr>
        <p:spPr>
          <a:xfrm>
            <a:off x="8823960" y="1965960"/>
            <a:ext cx="2926080" cy="603504"/>
          </a:xfrm>
          <a:prstGeom prst="rect">
            <a:avLst/>
          </a:prstGeom>
          <a:noFill/>
          <a:ln/>
        </p:spPr>
        <p:txBody>
          <a:bodyPr wrap="square" lIns="0" tIns="0" rIns="0" bIns="0" rtlCol="0" anchor="ctr"/>
          <a:lstStyle/>
          <a:p>
            <a:pPr indent="0" marL="0">
              <a:buNone/>
            </a:pPr>
            <a:r>
              <a:rPr lang="en-US" sz="1100" dirty="0">
                <a:solidFill>
                  <a:srgbClr val="1F2233"/>
                </a:solidFill>
                <a:latin typeface="Calibri" pitchFamily="34" charset="0"/>
                <a:ea typeface="Calibri" pitchFamily="34" charset="-122"/>
                <a:cs typeface="Calibri" pitchFamily="34" charset="-120"/>
              </a:rPr>
              <a:t>Applicants don't turn up for selection (e.g. the construction skills test)</a:t>
            </a:r>
            <a:endParaRPr lang="en-US" sz="1100" dirty="0"/>
          </a:p>
        </p:txBody>
      </p:sp>
      <p:sp>
        <p:nvSpPr>
          <p:cNvPr id="51" name="cause 2"/>
          <p:cNvSpPr/>
          <p:nvPr/>
        </p:nvSpPr>
        <p:spPr>
          <a:xfrm>
            <a:off x="8275320" y="2743200"/>
            <a:ext cx="3547872" cy="603504"/>
          </a:xfrm>
          <a:prstGeom prst="roundRect">
            <a:avLst>
              <a:gd name="adj" fmla="val 9091"/>
            </a:avLst>
          </a:prstGeom>
          <a:solidFill>
            <a:srgbClr val="F4F2F7"/>
          </a:solidFill>
          <a:ln w="9525">
            <a:solidFill>
              <a:srgbClr val="F4F2F7"/>
            </a:solidFill>
            <a:prstDash val="solid"/>
          </a:ln>
        </p:spPr>
      </p:sp>
      <p:sp>
        <p:nvSpPr>
          <p:cNvPr id="52" name="lost arrow 2"/>
          <p:cNvSpPr/>
          <p:nvPr/>
        </p:nvSpPr>
        <p:spPr>
          <a:xfrm>
            <a:off x="8366760" y="2926080"/>
            <a:ext cx="347472" cy="237744"/>
          </a:xfrm>
          <a:prstGeom prst="rightArrow">
            <a:avLst/>
          </a:prstGeom>
          <a:solidFill>
            <a:srgbClr val="E8C547"/>
          </a:solidFill>
          <a:ln w="12700">
            <a:solidFill>
              <a:srgbClr val="E8C547"/>
            </a:solidFill>
            <a:prstDash val="solid"/>
          </a:ln>
        </p:spPr>
      </p:sp>
      <p:sp>
        <p:nvSpPr>
          <p:cNvPr id="53" name="Text 51"/>
          <p:cNvSpPr txBox="1"/>
          <p:nvPr/>
        </p:nvSpPr>
        <p:spPr>
          <a:xfrm>
            <a:off x="8823960" y="2743200"/>
            <a:ext cx="2926080" cy="603504"/>
          </a:xfrm>
          <a:prstGeom prst="rect">
            <a:avLst/>
          </a:prstGeom>
          <a:noFill/>
          <a:ln/>
        </p:spPr>
        <p:txBody>
          <a:bodyPr wrap="square" lIns="0" tIns="0" rIns="0" bIns="0" rtlCol="0" anchor="ctr"/>
          <a:lstStyle/>
          <a:p>
            <a:pPr indent="0" marL="0">
              <a:buNone/>
            </a:pPr>
            <a:r>
              <a:rPr lang="en-US" sz="1100" dirty="0">
                <a:solidFill>
                  <a:srgbClr val="1F2233"/>
                </a:solidFill>
                <a:latin typeface="Calibri" pitchFamily="34" charset="0"/>
                <a:ea typeface="Calibri" pitchFamily="34" charset="-122"/>
                <a:cs typeface="Calibri" pitchFamily="34" charset="-120"/>
              </a:rPr>
              <a:t>Lecturers hold back, or make many waiting-list offers</a:t>
            </a:r>
            <a:endParaRPr lang="en-US" sz="1100" dirty="0"/>
          </a:p>
        </p:txBody>
      </p:sp>
      <p:sp>
        <p:nvSpPr>
          <p:cNvPr id="54" name="cause 3"/>
          <p:cNvSpPr/>
          <p:nvPr/>
        </p:nvSpPr>
        <p:spPr>
          <a:xfrm>
            <a:off x="8275320" y="3520440"/>
            <a:ext cx="3547872" cy="603504"/>
          </a:xfrm>
          <a:prstGeom prst="roundRect">
            <a:avLst>
              <a:gd name="adj" fmla="val 9091"/>
            </a:avLst>
          </a:prstGeom>
          <a:solidFill>
            <a:srgbClr val="F4F2F7"/>
          </a:solidFill>
          <a:ln w="9525">
            <a:solidFill>
              <a:srgbClr val="F4F2F7"/>
            </a:solidFill>
            <a:prstDash val="solid"/>
          </a:ln>
        </p:spPr>
      </p:sp>
      <p:sp>
        <p:nvSpPr>
          <p:cNvPr id="55" name="lost arrow 3"/>
          <p:cNvSpPr/>
          <p:nvPr/>
        </p:nvSpPr>
        <p:spPr>
          <a:xfrm>
            <a:off x="8366760" y="3703320"/>
            <a:ext cx="347472" cy="237744"/>
          </a:xfrm>
          <a:prstGeom prst="rightArrow">
            <a:avLst/>
          </a:prstGeom>
          <a:solidFill>
            <a:srgbClr val="E8C547"/>
          </a:solidFill>
          <a:ln w="12700">
            <a:solidFill>
              <a:srgbClr val="E8C547"/>
            </a:solidFill>
            <a:prstDash val="solid"/>
          </a:ln>
        </p:spPr>
      </p:sp>
      <p:sp>
        <p:nvSpPr>
          <p:cNvPr id="56" name="Text 54"/>
          <p:cNvSpPr txBox="1"/>
          <p:nvPr/>
        </p:nvSpPr>
        <p:spPr>
          <a:xfrm>
            <a:off x="8823960" y="3520440"/>
            <a:ext cx="2926080" cy="603504"/>
          </a:xfrm>
          <a:prstGeom prst="rect">
            <a:avLst/>
          </a:prstGeom>
          <a:noFill/>
          <a:ln/>
        </p:spPr>
        <p:txBody>
          <a:bodyPr wrap="square" lIns="0" tIns="0" rIns="0" bIns="0" rtlCol="0" anchor="ctr"/>
          <a:lstStyle/>
          <a:p>
            <a:pPr indent="0" marL="0">
              <a:buNone/>
            </a:pPr>
            <a:r>
              <a:rPr lang="en-US" sz="1100" dirty="0">
                <a:solidFill>
                  <a:srgbClr val="1F2233"/>
                </a:solidFill>
                <a:latin typeface="Calibri" pitchFamily="34" charset="0"/>
                <a:ea typeface="Calibri" pitchFamily="34" charset="-122"/>
                <a:cs typeface="Calibri" pitchFamily="34" charset="-120"/>
              </a:rPr>
              <a:t>Offers turned down; waiting-list offers go to people unlikely to come</a:t>
            </a:r>
            <a:endParaRPr lang="en-US" sz="1100" dirty="0"/>
          </a:p>
        </p:txBody>
      </p:sp>
      <p:sp>
        <p:nvSpPr>
          <p:cNvPr id="57" name="cause 4"/>
          <p:cNvSpPr/>
          <p:nvPr/>
        </p:nvSpPr>
        <p:spPr>
          <a:xfrm>
            <a:off x="8275320" y="4526280"/>
            <a:ext cx="3547872" cy="603504"/>
          </a:xfrm>
          <a:prstGeom prst="roundRect">
            <a:avLst>
              <a:gd name="adj" fmla="val 9091"/>
            </a:avLst>
          </a:prstGeom>
          <a:solidFill>
            <a:srgbClr val="F4F2F7"/>
          </a:solidFill>
          <a:ln w="9525">
            <a:solidFill>
              <a:srgbClr val="F4F2F7"/>
            </a:solidFill>
            <a:prstDash val="solid"/>
          </a:ln>
        </p:spPr>
      </p:sp>
      <p:sp>
        <p:nvSpPr>
          <p:cNvPr id="58" name="lost arrow 4"/>
          <p:cNvSpPr/>
          <p:nvPr/>
        </p:nvSpPr>
        <p:spPr>
          <a:xfrm>
            <a:off x="8366760" y="4709160"/>
            <a:ext cx="347472" cy="237744"/>
          </a:xfrm>
          <a:prstGeom prst="rightArrow">
            <a:avLst/>
          </a:prstGeom>
          <a:solidFill>
            <a:srgbClr val="E8C547"/>
          </a:solidFill>
          <a:ln w="12700">
            <a:solidFill>
              <a:srgbClr val="E8C547"/>
            </a:solidFill>
            <a:prstDash val="solid"/>
          </a:ln>
        </p:spPr>
      </p:sp>
      <p:sp>
        <p:nvSpPr>
          <p:cNvPr id="59" name="Text 57"/>
          <p:cNvSpPr txBox="1"/>
          <p:nvPr/>
        </p:nvSpPr>
        <p:spPr>
          <a:xfrm>
            <a:off x="8823960" y="4526280"/>
            <a:ext cx="2926080" cy="603504"/>
          </a:xfrm>
          <a:prstGeom prst="rect">
            <a:avLst/>
          </a:prstGeom>
          <a:noFill/>
          <a:ln/>
        </p:spPr>
        <p:txBody>
          <a:bodyPr wrap="square" lIns="0" tIns="0" rIns="0" bIns="0" rtlCol="0" anchor="ctr"/>
          <a:lstStyle/>
          <a:p>
            <a:pPr indent="0" marL="0">
              <a:buNone/>
            </a:pPr>
            <a:r>
              <a:rPr lang="en-US" sz="1100" dirty="0">
                <a:solidFill>
                  <a:srgbClr val="1F2233"/>
                </a:solidFill>
                <a:latin typeface="Calibri" pitchFamily="34" charset="0"/>
                <a:ea typeface="Calibri" pitchFamily="34" charset="-122"/>
                <a:cs typeface="Calibri" pitchFamily="34" charset="-120"/>
              </a:rPr>
              <a:t>Early dropout before credits are claimed at ~6 weeks</a:t>
            </a:r>
            <a:endParaRPr lang="en-US" sz="1100" dirty="0"/>
          </a:p>
        </p:txBody>
      </p:sp>
      <p:sp>
        <p:nvSpPr>
          <p:cNvPr id="60" name="example"/>
          <p:cNvSpPr/>
          <p:nvPr/>
        </p:nvSpPr>
        <p:spPr>
          <a:xfrm>
            <a:off x="8275320" y="5303520"/>
            <a:ext cx="3547872" cy="603504"/>
          </a:xfrm>
          <a:prstGeom prst="roundRect">
            <a:avLst>
              <a:gd name="adj" fmla="val 9091"/>
            </a:avLst>
          </a:prstGeom>
          <a:solidFill>
            <a:srgbClr val="E6F4EC"/>
          </a:solidFill>
          <a:ln w="9525">
            <a:solidFill>
              <a:srgbClr val="E6F4EC"/>
            </a:solidFill>
            <a:prstDash val="solid"/>
          </a:ln>
        </p:spPr>
      </p:sp>
      <p:sp>
        <p:nvSpPr>
          <p:cNvPr id="61" name="Text 59"/>
          <p:cNvSpPr txBox="1"/>
          <p:nvPr/>
        </p:nvSpPr>
        <p:spPr>
          <a:xfrm>
            <a:off x="8412480" y="5303520"/>
            <a:ext cx="3337560" cy="603504"/>
          </a:xfrm>
          <a:prstGeom prst="rect">
            <a:avLst/>
          </a:prstGeom>
          <a:noFill/>
          <a:ln/>
        </p:spPr>
        <p:txBody>
          <a:bodyPr wrap="square" lIns="0" tIns="0" rIns="0" bIns="0" rtlCol="0" anchor="ctr"/>
          <a:lstStyle/>
          <a:p>
            <a:pPr indent="0" marL="0">
              <a:buNone/>
            </a:pPr>
            <a:r>
              <a:rPr lang="en-US" sz="1100" b="1" dirty="0">
                <a:solidFill>
                  <a:srgbClr val="1F2233"/>
                </a:solidFill>
                <a:latin typeface="Calibri" pitchFamily="34" charset="0"/>
                <a:ea typeface="Calibri" pitchFamily="34" charset="-122"/>
                <a:cs typeface="Calibri" pitchFamily="34" charset="-120"/>
              </a:rPr>
              <a:t>Example (construction): </a:t>
            </a:r>
            <a:pPr indent="0" marL="0">
              <a:buNone/>
            </a:pPr>
            <a:r>
              <a:rPr lang="en-US" sz="1100" dirty="0">
                <a:solidFill>
                  <a:srgbClr val="1F2233"/>
                </a:solidFill>
                <a:latin typeface="Calibri" pitchFamily="34" charset="0"/>
                <a:ea typeface="Calibri" pitchFamily="34" charset="-122"/>
                <a:cs typeface="Calibri" pitchFamily="34" charset="-120"/>
              </a:rPr>
              <a:t>14 places → 16–17 offers → only 9 started</a:t>
            </a:r>
            <a:endParaRPr lang="en-US" sz="1100" dirty="0"/>
          </a:p>
        </p:txBody>
      </p:sp>
      <p:sp>
        <p:nvSpPr>
          <p:cNvPr id="62" name="Shape 60"/>
          <p:cNvSpPr/>
          <p:nvPr/>
        </p:nvSpPr>
        <p:spPr>
          <a:xfrm>
            <a:off x="8275320" y="6035040"/>
            <a:ext cx="274320" cy="182880"/>
          </a:xfrm>
          <a:prstGeom prst="rightArrow">
            <a:avLst/>
          </a:prstGeom>
          <a:solidFill>
            <a:srgbClr val="E8C547"/>
          </a:solidFill>
          <a:ln w="12700">
            <a:solidFill>
              <a:srgbClr val="E8C547"/>
            </a:solidFill>
            <a:prstDash val="solid"/>
          </a:ln>
        </p:spPr>
      </p:sp>
      <p:sp>
        <p:nvSpPr>
          <p:cNvPr id="63" name="Text 61"/>
          <p:cNvSpPr txBox="1"/>
          <p:nvPr/>
        </p:nvSpPr>
        <p:spPr>
          <a:xfrm>
            <a:off x="8595360" y="5989320"/>
            <a:ext cx="3200400" cy="274320"/>
          </a:xfrm>
          <a:prstGeom prst="rect">
            <a:avLst/>
          </a:prstGeom>
          <a:noFill/>
          <a:ln/>
        </p:spPr>
        <p:txBody>
          <a:bodyPr wrap="square" lIns="0" tIns="0" rIns="0" bIns="0" rtlCol="0" anchor="ctr"/>
          <a:lstStyle/>
          <a:p>
            <a:pPr indent="0" marL="0">
              <a:buNone/>
            </a:pPr>
            <a:r>
              <a:rPr lang="en-US" sz="950" dirty="0">
                <a:solidFill>
                  <a:srgbClr val="6B6F80"/>
                </a:solidFill>
                <a:latin typeface="Calibri" pitchFamily="34" charset="0"/>
                <a:ea typeface="Calibri" pitchFamily="34" charset="-122"/>
                <a:cs typeface="Calibri" pitchFamily="34" charset="-120"/>
              </a:rPr>
              <a:t>= applicants lost at this stage</a:t>
            </a:r>
            <a:endParaRPr lang="en-US" sz="950" dirty="0"/>
          </a:p>
        </p:txBody>
      </p:sp>
      <p:sp>
        <p:nvSpPr>
          <p:cNvPr id="64" name="takeaway"/>
          <p:cNvSpPr/>
          <p:nvPr/>
        </p:nvSpPr>
        <p:spPr>
          <a:xfrm>
            <a:off x="365760" y="6327648"/>
            <a:ext cx="11457432" cy="411480"/>
          </a:xfrm>
          <a:prstGeom prst="roundRect">
            <a:avLst>
              <a:gd name="adj" fmla="val 13333"/>
            </a:avLst>
          </a:prstGeom>
          <a:solidFill>
            <a:srgbClr val="2B2350"/>
          </a:solidFill>
          <a:ln w="9525">
            <a:solidFill>
              <a:srgbClr val="2B2350"/>
            </a:solidFill>
            <a:prstDash val="solid"/>
          </a:ln>
        </p:spPr>
      </p:sp>
      <p:sp>
        <p:nvSpPr>
          <p:cNvPr id="65" name="Text 63"/>
          <p:cNvSpPr txBox="1"/>
          <p:nvPr/>
        </p:nvSpPr>
        <p:spPr>
          <a:xfrm>
            <a:off x="548640" y="6327648"/>
            <a:ext cx="11155680" cy="4114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Key point: </a:t>
            </a:r>
            <a:pPr indent="0" marL="0">
              <a:buNone/>
            </a:pPr>
            <a:r>
              <a:rPr lang="en-US" sz="1150" dirty="0">
                <a:solidFill>
                  <a:srgbClr val="FFFFFF"/>
                </a:solidFill>
                <a:latin typeface="Calibri" pitchFamily="34" charset="0"/>
                <a:ea typeface="Calibri" pitchFamily="34" charset="-122"/>
                <a:cs typeface="Calibri" pitchFamily="34" charset="-120"/>
              </a:rPr>
              <a:t>Enquirer shows stages 1–3 and UnitE shows 4–5. The hand-off is manual, so the numbers can differ. The headline for each course is the overall rate, Application → 6 weeks.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students drop out</dc:title>
  <dc:subject>PptxGenJS Presentation</dc:subject>
  <dc:creator>PptxGenJS</dc:creator>
  <cp:lastModifiedBy>PptxGenJS</cp:lastModifiedBy>
  <cp:revision>1</cp:revision>
  <dcterms:created xsi:type="dcterms:W3CDTF">2026-10-05T15:29:38Z</dcterms:created>
  <dcterms:modified xsi:type="dcterms:W3CDTF">2026-10-05T15:29:38Z</dcterms:modified>
</cp:coreProperties>
</file>