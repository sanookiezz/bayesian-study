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101b2195-5f29-d68e-aec7-baaf10beef1c}">
          <p14:sldIdLst>
            <p14:sldId id="256"/>
            <p14:sldId id="257"/>
            <p14:sldId id="258"/>
          </p14:sldIdLst>
        </p14:section>
        <p14:section name="Architecture" id="{4ea2ade6-043d-a7c2-4fb8-ffa9d158f613}">
          <p14:sldIdLst>
            <p14:sldId id="259"/>
            <p14:sldId id="260"/>
          </p14:sldIdLst>
        </p14:section>
        <p14:section name="Data flows" id="{5faf0ac0-a51d-2605-596c-013b3214496f}">
          <p14:sldIdLst>
            <p14:sldId id="261"/>
            <p14:sldId id="262"/>
          </p14:sldIdLst>
        </p14:section>
        <p14:section name="Findings" id="{29598236-9583-2d3d-1d34-5b4a656c82e9}">
          <p14:sldIdLst>
            <p14:sldId id="263"/>
            <p14:sldId id="264"/>
          </p14:sldIdLst>
        </p14:section>
        <p14:section name="Next steps" id="{65179658-d4df-0577-b1b6-d747fbb6cdd9}">
          <p14:sldIdLst>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turn the detailed Lucid system map into a picture everyone can read in a minute. The detailed map stays in Lucid as the working reference; this deck is the summary 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Fill boxes 2 and 3 from the 1-Page Summary so this slide links the earlier meeting to today's picture.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Highlighted chips are the focus of this deck: the student system and the reporting layer. The other areas are mapped in Lucid and can be presented separately.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left to right. Layer 1 is where a student or school first gives us data. Layer 2 is the operational systems staff use every day. Layer 3 is UnitE, the core record everything else syncs with. Layer 4 is what students see (portal, app, MyInfo) and what managers see (Power BI).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UnitE pushes data out automatically to most systems (indigo). The amber lines are where data comes back into UnitE by hand: from Enquirer, Bursary, the Student Portal and FVC Portal, from iTrent for staff starters/leavers, and from manual forms. Onefile also receives its learner data by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same architecture seen from the student's point of view. UnitE (highlighted) is where the student officially becomes a student; before that, data lives in the website, CRM and Enquirer.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Intelligence Report part of the Lucid map. The connector is the one controlled route into Power BI. Feeds that bypass it are candidates to bring onto the connector.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row is a dashed line in the Lucid map. Not all of these need automating; the aim is to agree which ones cost the most time or 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920240"/>
            <a:ext cx="10881360" cy="1463040"/>
          </a:xfrm>
          <a:prstGeom prst="rect">
            <a:avLst/>
          </a:prstGeom>
          <a:noFill/>
          <a:ln/>
        </p:spPr>
        <p:txBody>
          <a:bodyPr wrap="square" rtlCol="0"/>
          <a:lstStyle>
            <a:lvl1pPr indent="0" marL="0">
              <a:buNone/>
              <a:defRPr lang="en-US" sz="4400" b="1" dirty="0">
                <a:solidFill>
                  <a:schemeClr val="bg1"/>
                </a:solidFill>
              </a:defRPr>
            </a:lvl1pPr>
          </a:lstStyle>
          <a:p>
            <a:pPr indent="0" marL="0">
              <a:buNone/>
            </a:pPr>
            <a:endParaRPr lang="en-US" sz="4400" dirty="0"/>
          </a:p>
        </p:txBody>
      </p:sp>
      <p:sp>
        <p:nvSpPr>
          <p:cNvPr id="3" name="Text 0"/>
          <p:cNvSpPr/>
          <p:nvPr>
            <p:ph idx="101" type="body" hasCustomPrompt="1"/>
          </p:nvPr>
        </p:nvSpPr>
        <p:spPr>
          <a:xfrm>
            <a:off x="640080" y="3566160"/>
            <a:ext cx="10881360" cy="1280160"/>
          </a:xfrm>
          <a:prstGeom prst="rect">
            <a:avLst/>
          </a:prstGeom>
          <a:noFill/>
          <a:ln/>
        </p:spPr>
        <p:txBody>
          <a:bodyPr wrap="square" rtlCol="0"/>
          <a:lstStyle>
            <a:lvl1pPr indent="0" marL="0">
              <a:buNone/>
              <a:defRPr lang="en-US" sz="2000" dirty="0">
                <a:solidFill>
                  <a:schemeClr val="accent5"/>
                </a:solidFill>
              </a:defRPr>
            </a:lvl1pPr>
          </a:lstStyle>
          <a:p>
            <a:pP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lstStyle>
            <a:lvl1pPr indent="0" marL="0">
              <a:buNone/>
              <a:defRPr lang="en-US" sz="3200" b="1" dirty="0">
                <a:solidFill>
                  <a:schemeClr val="tx2"/>
                </a:solidFill>
              </a:defRPr>
            </a:lvl1pPr>
          </a:lstStyle>
          <a:p>
            <a:pPr indent="0" marL="0">
              <a:buNone/>
            </a:pPr>
            <a:endParaRPr lang="en-US" sz="3200" dirty="0"/>
          </a:p>
        </p:txBody>
      </p:sp>
      <p:sp>
        <p:nvSpPr>
          <p:cNvPr id="3" name="Text 0"/>
          <p:cNvSpPr/>
          <p:nvPr>
            <p:ph idx="101" type="body" hasCustomPrompt="1"/>
          </p:nvPr>
        </p:nvSpPr>
        <p:spPr>
          <a:xfrm>
            <a:off x="548640" y="1005840"/>
            <a:ext cx="11064240" cy="411480"/>
          </a:xfrm>
          <a:prstGeom prst="rect">
            <a:avLst/>
          </a:prstGeom>
          <a:noFill/>
          <a:ln/>
        </p:spPr>
        <p:txBody>
          <a:bodyPr wrap="square" rtlCol="0"/>
          <a:lstStyle>
            <a:lvl1pPr indent="0" marL="0">
              <a:buNone/>
              <a:defRPr lang="en-US" sz="1500" dirty="0">
                <a:solidFill>
                  <a:schemeClr val="tx1"/>
                </a:solidFill>
              </a:defRPr>
            </a:lvl1pPr>
          </a:lstStyle>
          <a:p>
            <a:pPr indent="0" marL="0">
              <a:buNone/>
            </a:pPr>
            <a:endParaRPr lang="en-US" sz="1500" dirty="0"/>
          </a:p>
        </p:txBody>
      </p:sp>
      <p:sp>
        <p:nvSpPr>
          <p:cNvPr id="4" name="Text 0"/>
          <p:cNvSpPr/>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rgbClr val="6B6F80"/>
                </a:solidFill>
              </a:rPr>
              <a:t>Student Data Architecture  |  Forth Valley College</a:t>
            </a:r>
            <a:endParaRPr lang="en-US" sz="10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F80"/>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F8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640080" y="1920240"/>
            <a:ext cx="10881360" cy="1463040"/>
          </a:xfrm>
          <a:prstGeom prst="rect">
            <a:avLst/>
          </a:prstGeom>
          <a:noFill/>
          <a:ln/>
        </p:spPr>
        <p:txBody>
          <a:bodyPr wrap="square" lIns="0" tIns="0" rIns="0" bIns="0" rtlCol="0" anchor="b"/>
          <a:lstStyle/>
          <a:p>
            <a:pPr indent="0" marL="0">
              <a:buNone/>
            </a:pPr>
            <a:r>
              <a:rPr lang="en-US" sz="4400" b="1" dirty="0">
                <a:solidFill>
                  <a:schemeClr val="bg1"/>
                </a:solidFill>
              </a:rPr>
              <a:t>Student Data Architecture</a:t>
            </a:r>
            <a:endParaRPr lang="en-US" sz="4400" dirty="0"/>
          </a:p>
        </p:txBody>
      </p:sp>
      <p:sp>
        <p:nvSpPr>
          <p:cNvPr id="3" name="Text 0"/>
          <p:cNvSpPr/>
          <p:nvPr>
            <p:ph idx="101" type="body" hasCustomPrompt="1"/>
          </p:nvPr>
        </p:nvSpPr>
        <p:spPr>
          <a:xfrm>
            <a:off x="640080" y="3566160"/>
            <a:ext cx="10881360" cy="1280160"/>
          </a:xfrm>
          <a:prstGeom prst="rect">
            <a:avLst/>
          </a:prstGeom>
          <a:noFill/>
          <a:ln/>
        </p:spPr>
        <p:txBody>
          <a:bodyPr wrap="square" lIns="0" tIns="0" rIns="0" bIns="0" rtlCol="0" anchor="t"/>
          <a:lstStyle/>
          <a:p>
            <a:pPr indent="0" marL="0">
              <a:buNone/>
            </a:pPr>
            <a:r>
              <a:rPr lang="en-US" sz="2000" dirty="0">
                <a:solidFill>
                  <a:schemeClr val="accent5"/>
                </a:solidFill>
              </a:rPr>
              <a:t>How data flows in, around and out of our student systems — a high-level view</a:t>
            </a:r>
            <a:endParaRPr lang="en-US" sz="2000" dirty="0"/>
          </a:p>
          <a:p>
            <a:pPr indent="0" marL="0">
              <a:buNone/>
            </a:pPr>
            <a:r>
              <a:rPr lang="en-US" sz="2000" dirty="0">
                <a:solidFill>
                  <a:schemeClr val="accent5"/>
                </a:solidFill>
              </a:rPr>
              <a:t>Follow-up to the 1-Page Summary discussion with Sarah, Lyndsay and Lesley</a:t>
            </a:r>
            <a:endParaRPr lang="en-US" sz="2000" dirty="0"/>
          </a:p>
        </p:txBody>
      </p:sp>
      <p:sp>
        <p:nvSpPr>
          <p:cNvPr id="4" name="Text 2"/>
          <p:cNvSpPr txBox="1"/>
          <p:nvPr/>
        </p:nvSpPr>
        <p:spPr>
          <a:xfrm>
            <a:off x="640080" y="5852160"/>
            <a:ext cx="7315200" cy="365760"/>
          </a:xfrm>
          <a:prstGeom prst="rect">
            <a:avLst/>
          </a:prstGeom>
          <a:noFill/>
          <a:ln/>
        </p:spPr>
        <p:txBody>
          <a:bodyPr wrap="square" lIns="0" tIns="0" rIns="0" bIns="0" rtlCol="0" anchor="ctr"/>
          <a:lstStyle/>
          <a:p>
            <a:pPr indent="0" marL="0">
              <a:buNone/>
            </a:pPr>
            <a:r>
              <a:rPr lang="en-US" sz="1400" dirty="0">
                <a:solidFill>
                  <a:schemeClr val="bg1"/>
                </a:solidFill>
              </a:rPr>
              <a:t>Thanaporn (Sanook) Wattanamanon  |  October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indent="0" marL="0">
              <a:buNone/>
            </a:pPr>
            <a:r>
              <a:rPr lang="en-US" sz="3200" b="1" dirty="0">
                <a:solidFill>
                  <a:schemeClr val="tx2"/>
                </a:solidFill>
              </a:rPr>
              <a:t>Where we left off: the 1-Page Summary</a:t>
            </a:r>
            <a:endParaRPr lang="en-US" sz="3200" dirty="0"/>
          </a:p>
        </p:txBody>
      </p:sp>
      <p:sp>
        <p:nvSpPr>
          <p:cNvPr id="3" name="Text 0"/>
          <p:cNvSpPr/>
          <p:nvPr>
            <p:ph idx="101" type="body" hasCustomPrompt="1"/>
          </p:nvPr>
        </p:nvSpPr>
        <p:spPr>
          <a:xfrm>
            <a:off x="548640" y="1005840"/>
            <a:ext cx="11064240" cy="411480"/>
          </a:xfrm>
          <a:prstGeom prst="rect">
            <a:avLst/>
          </a:prstGeom>
          <a:noFill/>
          <a:ln/>
        </p:spPr>
        <p:txBody>
          <a:bodyPr wrap="square" lIns="0" tIns="0" rIns="0" bIns="0" rtlCol="0" anchor="t"/>
          <a:lstStyle/>
          <a:p>
            <a:pPr indent="0" marL="0">
              <a:buNone/>
            </a:pPr>
            <a:r>
              <a:rPr lang="en-US" sz="1500" dirty="0">
                <a:solidFill>
                  <a:schemeClr val="tx1"/>
                </a:solidFill>
              </a:rPr>
              <a:t>Recap from last Wednesday, and what this deck adds</a:t>
            </a:r>
            <a:endParaRPr lang="en-US" sz="1500" dirty="0"/>
          </a:p>
        </p:txBody>
      </p:sp>
      <p:sp>
        <p:nvSpPr>
          <p:cNvPr id="4" name="recap card 1"/>
          <p:cNvSpPr/>
          <p:nvPr/>
        </p:nvSpPr>
        <p:spPr>
          <a:xfrm>
            <a:off x="548640" y="1691640"/>
            <a:ext cx="5394960" cy="2011680"/>
          </a:xfrm>
          <a:prstGeom prst="roundRect">
            <a:avLst>
              <a:gd name="adj" fmla="val 4545"/>
            </a:avLst>
          </a:prstGeom>
          <a:solidFill>
            <a:schemeClr val="accent5"/>
          </a:solidFill>
          <a:ln w="12700">
            <a:solidFill>
              <a:schemeClr val="accent5"/>
            </a:solidFill>
            <a:prstDash val="solid"/>
          </a:ln>
        </p:spPr>
      </p:sp>
      <p:sp>
        <p:nvSpPr>
          <p:cNvPr id="5" name="recap num 1"/>
          <p:cNvSpPr/>
          <p:nvPr/>
        </p:nvSpPr>
        <p:spPr>
          <a:xfrm>
            <a:off x="822960" y="1965960"/>
            <a:ext cx="502920" cy="502920"/>
          </a:xfrm>
          <a:prstGeom prst="ellipse">
            <a:avLst/>
          </a:prstGeom>
          <a:solidFill>
            <a:schemeClr val="tx2"/>
          </a:solidFill>
          <a:ln w="12700">
            <a:solidFill>
              <a:schemeClr val="tx2"/>
            </a:solidFill>
            <a:prstDash val="solid"/>
          </a:ln>
        </p:spPr>
      </p:sp>
      <p:sp>
        <p:nvSpPr>
          <p:cNvPr id="6" name="Text 4"/>
          <p:cNvSpPr txBox="1"/>
          <p:nvPr/>
        </p:nvSpPr>
        <p:spPr>
          <a:xfrm>
            <a:off x="822960" y="196596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7" name="Text 5"/>
          <p:cNvSpPr txBox="1"/>
          <p:nvPr/>
        </p:nvSpPr>
        <p:spPr>
          <a:xfrm>
            <a:off x="1508760" y="1965960"/>
            <a:ext cx="4206240" cy="502920"/>
          </a:xfrm>
          <a:prstGeom prst="rect">
            <a:avLst/>
          </a:prstGeom>
          <a:noFill/>
          <a:ln/>
        </p:spPr>
        <p:txBody>
          <a:bodyPr wrap="square" lIns="0" tIns="0" rIns="0" bIns="0" rtlCol="0" anchor="ctr"/>
          <a:lstStyle/>
          <a:p>
            <a:pPr indent="0" marL="0">
              <a:buNone/>
            </a:pPr>
            <a:r>
              <a:rPr lang="en-US" sz="1800" b="1" dirty="0">
                <a:solidFill>
                  <a:schemeClr val="tx2"/>
                </a:solidFill>
              </a:rPr>
              <a:t>Why we are doing this</a:t>
            </a:r>
            <a:endParaRPr lang="en-US" sz="1800" dirty="0"/>
          </a:p>
        </p:txBody>
      </p:sp>
      <p:sp>
        <p:nvSpPr>
          <p:cNvPr id="8" name="Text 6"/>
          <p:cNvSpPr txBox="1"/>
          <p:nvPr/>
        </p:nvSpPr>
        <p:spPr>
          <a:xfrm>
            <a:off x="1508760" y="2560320"/>
            <a:ext cx="4206240" cy="1005840"/>
          </a:xfrm>
          <a:prstGeom prst="rect">
            <a:avLst/>
          </a:prstGeom>
          <a:noFill/>
          <a:ln/>
        </p:spPr>
        <p:txBody>
          <a:bodyPr wrap="square" lIns="0" tIns="0" rIns="0" bIns="0" rtlCol="0" anchor="t"/>
          <a:lstStyle/>
          <a:p>
            <a:pPr indent="0" marL="0">
              <a:buNone/>
            </a:pPr>
            <a:r>
              <a:rPr lang="en-US" sz="1400" dirty="0">
                <a:solidFill>
                  <a:schemeClr val="tx1"/>
                </a:solidFill>
              </a:rPr>
              <a:t>Give everyone one shared picture of which systems hold student and staff data, and how that data moves between them.</a:t>
            </a:r>
            <a:endParaRPr lang="en-US" sz="1400" dirty="0"/>
          </a:p>
        </p:txBody>
      </p:sp>
      <p:sp>
        <p:nvSpPr>
          <p:cNvPr id="9" name="recap card 2"/>
          <p:cNvSpPr/>
          <p:nvPr/>
        </p:nvSpPr>
        <p:spPr>
          <a:xfrm>
            <a:off x="6217920" y="1691640"/>
            <a:ext cx="5394960" cy="2011680"/>
          </a:xfrm>
          <a:prstGeom prst="roundRect">
            <a:avLst>
              <a:gd name="adj" fmla="val 4545"/>
            </a:avLst>
          </a:prstGeom>
          <a:solidFill>
            <a:schemeClr val="bg2"/>
          </a:solidFill>
          <a:ln w="12700">
            <a:solidFill>
              <a:schemeClr val="bg2"/>
            </a:solidFill>
            <a:prstDash val="solid"/>
          </a:ln>
        </p:spPr>
      </p:sp>
      <p:sp>
        <p:nvSpPr>
          <p:cNvPr id="10" name="recap num 2"/>
          <p:cNvSpPr/>
          <p:nvPr/>
        </p:nvSpPr>
        <p:spPr>
          <a:xfrm>
            <a:off x="6492240" y="1965960"/>
            <a:ext cx="502920" cy="502920"/>
          </a:xfrm>
          <a:prstGeom prst="ellipse">
            <a:avLst/>
          </a:prstGeom>
          <a:solidFill>
            <a:schemeClr val="tx2"/>
          </a:solidFill>
          <a:ln w="12700">
            <a:solidFill>
              <a:schemeClr val="tx2"/>
            </a:solidFill>
            <a:prstDash val="solid"/>
          </a:ln>
        </p:spPr>
      </p:sp>
      <p:sp>
        <p:nvSpPr>
          <p:cNvPr id="11" name="Text 9"/>
          <p:cNvSpPr txBox="1"/>
          <p:nvPr/>
        </p:nvSpPr>
        <p:spPr>
          <a:xfrm>
            <a:off x="6492240" y="196596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2" name="Text 10"/>
          <p:cNvSpPr txBox="1"/>
          <p:nvPr/>
        </p:nvSpPr>
        <p:spPr>
          <a:xfrm>
            <a:off x="7178040" y="1965960"/>
            <a:ext cx="4206240" cy="502920"/>
          </a:xfrm>
          <a:prstGeom prst="rect">
            <a:avLst/>
          </a:prstGeom>
          <a:noFill/>
          <a:ln/>
        </p:spPr>
        <p:txBody>
          <a:bodyPr wrap="square" lIns="0" tIns="0" rIns="0" bIns="0" rtlCol="0" anchor="ctr"/>
          <a:lstStyle/>
          <a:p>
            <a:pPr indent="0" marL="0">
              <a:buNone/>
            </a:pPr>
            <a:r>
              <a:rPr lang="en-US" sz="1800" b="1" dirty="0">
                <a:solidFill>
                  <a:schemeClr val="tx2"/>
                </a:solidFill>
              </a:rPr>
              <a:t>What we agreed last Wednesday</a:t>
            </a:r>
            <a:endParaRPr lang="en-US" sz="1800" dirty="0"/>
          </a:p>
        </p:txBody>
      </p:sp>
      <p:sp>
        <p:nvSpPr>
          <p:cNvPr id="13" name="Text 11"/>
          <p:cNvSpPr txBox="1"/>
          <p:nvPr/>
        </p:nvSpPr>
        <p:spPr>
          <a:xfrm>
            <a:off x="7178040" y="2560320"/>
            <a:ext cx="4206240" cy="1005840"/>
          </a:xfrm>
          <a:prstGeom prst="rect">
            <a:avLst/>
          </a:prstGeom>
          <a:noFill/>
          <a:ln/>
        </p:spPr>
        <p:txBody>
          <a:bodyPr wrap="square" lIns="0" tIns="0" rIns="0" bIns="0" rtlCol="0" anchor="t"/>
          <a:lstStyle/>
          <a:p>
            <a:pPr indent="0" marL="0">
              <a:buNone/>
            </a:pPr>
            <a:r>
              <a:rPr lang="en-US" sz="1400" dirty="0">
                <a:solidFill>
                  <a:schemeClr val="tx1"/>
                </a:solidFill>
              </a:rPr>
              <a:t>[Add the key decisions from the 1-Page Summary here]</a:t>
            </a:r>
            <a:endParaRPr lang="en-US" sz="1400" dirty="0"/>
          </a:p>
        </p:txBody>
      </p:sp>
      <p:sp>
        <p:nvSpPr>
          <p:cNvPr id="14" name="recap card 3"/>
          <p:cNvSpPr/>
          <p:nvPr/>
        </p:nvSpPr>
        <p:spPr>
          <a:xfrm>
            <a:off x="548640" y="3977640"/>
            <a:ext cx="5394960" cy="2011680"/>
          </a:xfrm>
          <a:prstGeom prst="roundRect">
            <a:avLst>
              <a:gd name="adj" fmla="val 4545"/>
            </a:avLst>
          </a:prstGeom>
          <a:solidFill>
            <a:schemeClr val="bg2"/>
          </a:solidFill>
          <a:ln w="12700">
            <a:solidFill>
              <a:schemeClr val="bg2"/>
            </a:solidFill>
            <a:prstDash val="solid"/>
          </a:ln>
        </p:spPr>
      </p:sp>
      <p:sp>
        <p:nvSpPr>
          <p:cNvPr id="15" name="recap num 3"/>
          <p:cNvSpPr/>
          <p:nvPr/>
        </p:nvSpPr>
        <p:spPr>
          <a:xfrm>
            <a:off x="822960" y="4251960"/>
            <a:ext cx="502920" cy="502920"/>
          </a:xfrm>
          <a:prstGeom prst="ellipse">
            <a:avLst/>
          </a:prstGeom>
          <a:solidFill>
            <a:schemeClr val="tx2"/>
          </a:solidFill>
          <a:ln w="12700">
            <a:solidFill>
              <a:schemeClr val="tx2"/>
            </a:solidFill>
            <a:prstDash val="solid"/>
          </a:ln>
        </p:spPr>
      </p:sp>
      <p:sp>
        <p:nvSpPr>
          <p:cNvPr id="16" name="Text 14"/>
          <p:cNvSpPr txBox="1"/>
          <p:nvPr/>
        </p:nvSpPr>
        <p:spPr>
          <a:xfrm>
            <a:off x="822960" y="425196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7" name="Text 15"/>
          <p:cNvSpPr txBox="1"/>
          <p:nvPr/>
        </p:nvSpPr>
        <p:spPr>
          <a:xfrm>
            <a:off x="1508760" y="4251960"/>
            <a:ext cx="4206240" cy="502920"/>
          </a:xfrm>
          <a:prstGeom prst="rect">
            <a:avLst/>
          </a:prstGeom>
          <a:noFill/>
          <a:ln/>
        </p:spPr>
        <p:txBody>
          <a:bodyPr wrap="square" lIns="0" tIns="0" rIns="0" bIns="0" rtlCol="0" anchor="ctr"/>
          <a:lstStyle/>
          <a:p>
            <a:pPr indent="0" marL="0">
              <a:buNone/>
            </a:pPr>
            <a:r>
              <a:rPr lang="en-US" sz="1800" b="1" dirty="0">
                <a:solidFill>
                  <a:schemeClr val="tx2"/>
                </a:solidFill>
              </a:rPr>
              <a:t>Open questions from the meeting</a:t>
            </a:r>
            <a:endParaRPr lang="en-US" sz="1800" dirty="0"/>
          </a:p>
        </p:txBody>
      </p:sp>
      <p:sp>
        <p:nvSpPr>
          <p:cNvPr id="18" name="Text 16"/>
          <p:cNvSpPr txBox="1"/>
          <p:nvPr/>
        </p:nvSpPr>
        <p:spPr>
          <a:xfrm>
            <a:off x="1508760" y="4846320"/>
            <a:ext cx="4206240" cy="1005840"/>
          </a:xfrm>
          <a:prstGeom prst="rect">
            <a:avLst/>
          </a:prstGeom>
          <a:noFill/>
          <a:ln/>
        </p:spPr>
        <p:txBody>
          <a:bodyPr wrap="square" lIns="0" tIns="0" rIns="0" bIns="0" rtlCol="0" anchor="t"/>
          <a:lstStyle/>
          <a:p>
            <a:pPr indent="0" marL="0">
              <a:buNone/>
            </a:pPr>
            <a:r>
              <a:rPr lang="en-US" sz="1400" dirty="0">
                <a:solidFill>
                  <a:schemeClr val="tx1"/>
                </a:solidFill>
              </a:rPr>
              <a:t>[Add the open questions / actions from the 1-Page Summary here]</a:t>
            </a:r>
            <a:endParaRPr lang="en-US" sz="1400" dirty="0"/>
          </a:p>
        </p:txBody>
      </p:sp>
      <p:sp>
        <p:nvSpPr>
          <p:cNvPr id="19" name="recap card 4"/>
          <p:cNvSpPr/>
          <p:nvPr/>
        </p:nvSpPr>
        <p:spPr>
          <a:xfrm>
            <a:off x="6217920" y="3977640"/>
            <a:ext cx="5394960" cy="2011680"/>
          </a:xfrm>
          <a:prstGeom prst="roundRect">
            <a:avLst>
              <a:gd name="adj" fmla="val 4545"/>
            </a:avLst>
          </a:prstGeom>
          <a:solidFill>
            <a:schemeClr val="accent6"/>
          </a:solidFill>
          <a:ln w="12700">
            <a:solidFill>
              <a:schemeClr val="accent6"/>
            </a:solidFill>
            <a:prstDash val="solid"/>
          </a:ln>
        </p:spPr>
      </p:sp>
      <p:sp>
        <p:nvSpPr>
          <p:cNvPr id="20" name="recap num 4"/>
          <p:cNvSpPr/>
          <p:nvPr/>
        </p:nvSpPr>
        <p:spPr>
          <a:xfrm>
            <a:off x="6492240" y="4251960"/>
            <a:ext cx="502920" cy="502920"/>
          </a:xfrm>
          <a:prstGeom prst="ellipse">
            <a:avLst/>
          </a:prstGeom>
          <a:solidFill>
            <a:schemeClr val="tx2"/>
          </a:solidFill>
          <a:ln w="12700">
            <a:solidFill>
              <a:schemeClr val="tx2"/>
            </a:solidFill>
            <a:prstDash val="solid"/>
          </a:ln>
        </p:spPr>
      </p:sp>
      <p:sp>
        <p:nvSpPr>
          <p:cNvPr id="21" name="Text 19"/>
          <p:cNvSpPr txBox="1"/>
          <p:nvPr/>
        </p:nvSpPr>
        <p:spPr>
          <a:xfrm>
            <a:off x="6492240" y="425196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2" name="Text 20"/>
          <p:cNvSpPr txBox="1"/>
          <p:nvPr/>
        </p:nvSpPr>
        <p:spPr>
          <a:xfrm>
            <a:off x="7178040" y="4251960"/>
            <a:ext cx="4206240" cy="502920"/>
          </a:xfrm>
          <a:prstGeom prst="rect">
            <a:avLst/>
          </a:prstGeom>
          <a:noFill/>
          <a:ln/>
        </p:spPr>
        <p:txBody>
          <a:bodyPr wrap="square" lIns="0" tIns="0" rIns="0" bIns="0" rtlCol="0" anchor="ctr"/>
          <a:lstStyle/>
          <a:p>
            <a:pPr indent="0" marL="0">
              <a:buNone/>
            </a:pPr>
            <a:r>
              <a:rPr lang="en-US" sz="1800" b="1" dirty="0">
                <a:solidFill>
                  <a:schemeClr val="tx2"/>
                </a:solidFill>
              </a:rPr>
              <a:t>What this deck adds</a:t>
            </a:r>
            <a:endParaRPr lang="en-US" sz="1800" dirty="0"/>
          </a:p>
        </p:txBody>
      </p:sp>
      <p:sp>
        <p:nvSpPr>
          <p:cNvPr id="23" name="Text 21"/>
          <p:cNvSpPr txBox="1"/>
          <p:nvPr/>
        </p:nvSpPr>
        <p:spPr>
          <a:xfrm>
            <a:off x="7178040" y="4846320"/>
            <a:ext cx="4206240" cy="1005840"/>
          </a:xfrm>
          <a:prstGeom prst="rect">
            <a:avLst/>
          </a:prstGeom>
          <a:noFill/>
          <a:ln/>
        </p:spPr>
        <p:txBody>
          <a:bodyPr wrap="square" lIns="0" tIns="0" rIns="0" bIns="0" rtlCol="0" anchor="t"/>
          <a:lstStyle/>
          <a:p>
            <a:pPr indent="0" marL="0">
              <a:buNone/>
            </a:pPr>
            <a:r>
              <a:rPr lang="en-US" sz="1400" dirty="0">
                <a:solidFill>
                  <a:schemeClr val="tx1"/>
                </a:solidFill>
              </a:rPr>
              <a:t>The finished system-connection map, simplified to four layers, the student journey, the reporting feeds and the manual hand-offs.</a:t>
            </a:r>
            <a:endParaRPr lang="en-US" sz="14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F80"/>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indent="0" marL="0">
              <a:buNone/>
            </a:pPr>
            <a:r>
              <a:rPr lang="en-US" sz="3200" b="1" dirty="0">
                <a:solidFill>
                  <a:schemeClr val="tx2"/>
                </a:solidFill>
              </a:rPr>
              <a:t>The landscape at a glance</a:t>
            </a:r>
            <a:endParaRPr lang="en-US" sz="3200" dirty="0"/>
          </a:p>
        </p:txBody>
      </p:sp>
      <p:sp>
        <p:nvSpPr>
          <p:cNvPr id="3" name="Text 0"/>
          <p:cNvSpPr/>
          <p:nvPr>
            <p:ph idx="101" type="body" hasCustomPrompt="1"/>
          </p:nvPr>
        </p:nvSpPr>
        <p:spPr>
          <a:xfrm>
            <a:off x="548640" y="1005840"/>
            <a:ext cx="11064240" cy="411480"/>
          </a:xfrm>
          <a:prstGeom prst="rect">
            <a:avLst/>
          </a:prstGeom>
          <a:noFill/>
          <a:ln/>
        </p:spPr>
        <p:txBody>
          <a:bodyPr wrap="square" lIns="0" tIns="0" rIns="0" bIns="0" rtlCol="0" anchor="t"/>
          <a:lstStyle/>
          <a:p>
            <a:pPr indent="0" marL="0">
              <a:buNone/>
            </a:pPr>
            <a:r>
              <a:rPr lang="en-US" sz="1500" dirty="0">
                <a:solidFill>
                  <a:schemeClr val="tx1"/>
                </a:solidFill>
              </a:rPr>
              <a:t>What the detailed Lucid map now covers</a:t>
            </a:r>
            <a:endParaRPr lang="en-US" sz="1500" dirty="0"/>
          </a:p>
        </p:txBody>
      </p:sp>
      <p:sp>
        <p:nvSpPr>
          <p:cNvPr id="4" name="stat card 1"/>
          <p:cNvSpPr/>
          <p:nvPr/>
        </p:nvSpPr>
        <p:spPr>
          <a:xfrm>
            <a:off x="548640" y="1737360"/>
            <a:ext cx="2606040" cy="2194560"/>
          </a:xfrm>
          <a:prstGeom prst="roundRect">
            <a:avLst>
              <a:gd name="adj" fmla="val 4167"/>
            </a:avLst>
          </a:prstGeom>
          <a:solidFill>
            <a:schemeClr val="bg2"/>
          </a:solidFill>
          <a:ln w="12700">
            <a:solidFill>
              <a:schemeClr val="bg2"/>
            </a:solidFill>
            <a:prstDash val="solid"/>
          </a:ln>
        </p:spPr>
      </p:sp>
      <p:sp>
        <p:nvSpPr>
          <p:cNvPr id="5" name="Text 3"/>
          <p:cNvSpPr txBox="1"/>
          <p:nvPr/>
        </p:nvSpPr>
        <p:spPr>
          <a:xfrm>
            <a:off x="548640" y="1828800"/>
            <a:ext cx="2606040" cy="1097280"/>
          </a:xfrm>
          <a:prstGeom prst="rect">
            <a:avLst/>
          </a:prstGeom>
          <a:noFill/>
          <a:ln/>
        </p:spPr>
        <p:txBody>
          <a:bodyPr wrap="square" lIns="0" tIns="0" rIns="0" bIns="0" rtlCol="0" anchor="ctr"/>
          <a:lstStyle/>
          <a:p>
            <a:pPr algn="ctr" indent="0" marL="0">
              <a:buNone/>
            </a:pPr>
            <a:r>
              <a:rPr lang="en-US" sz="6000" b="1" dirty="0">
                <a:solidFill>
                  <a:schemeClr val="accent1"/>
                </a:solidFill>
              </a:rPr>
              <a:t>209</a:t>
            </a:r>
            <a:endParaRPr lang="en-US" sz="6000" dirty="0"/>
          </a:p>
        </p:txBody>
      </p:sp>
      <p:sp>
        <p:nvSpPr>
          <p:cNvPr id="6" name="Text 4"/>
          <p:cNvSpPr txBox="1"/>
          <p:nvPr/>
        </p:nvSpPr>
        <p:spPr>
          <a:xfrm>
            <a:off x="777240" y="2926080"/>
            <a:ext cx="2148840" cy="868680"/>
          </a:xfrm>
          <a:prstGeom prst="rect">
            <a:avLst/>
          </a:prstGeom>
          <a:noFill/>
          <a:ln/>
        </p:spPr>
        <p:txBody>
          <a:bodyPr wrap="square" lIns="0" tIns="0" rIns="0" bIns="0" rtlCol="0" anchor="t"/>
          <a:lstStyle/>
          <a:p>
            <a:pPr algn="ctr" indent="0" marL="0">
              <a:buNone/>
            </a:pPr>
            <a:r>
              <a:rPr lang="en-US" sz="1400" dirty="0">
                <a:solidFill>
                  <a:schemeClr val="tx1"/>
                </a:solidFill>
              </a:rPr>
              <a:t>systems and tools mapped across the college</a:t>
            </a:r>
            <a:endParaRPr lang="en-US" sz="1400" dirty="0"/>
          </a:p>
        </p:txBody>
      </p:sp>
      <p:sp>
        <p:nvSpPr>
          <p:cNvPr id="7" name="stat card 2"/>
          <p:cNvSpPr/>
          <p:nvPr/>
        </p:nvSpPr>
        <p:spPr>
          <a:xfrm>
            <a:off x="3364992" y="1737360"/>
            <a:ext cx="2606040" cy="2194560"/>
          </a:xfrm>
          <a:prstGeom prst="roundRect">
            <a:avLst>
              <a:gd name="adj" fmla="val 4167"/>
            </a:avLst>
          </a:prstGeom>
          <a:solidFill>
            <a:schemeClr val="bg2"/>
          </a:solidFill>
          <a:ln w="12700">
            <a:solidFill>
              <a:schemeClr val="bg2"/>
            </a:solidFill>
            <a:prstDash val="solid"/>
          </a:ln>
        </p:spPr>
      </p:sp>
      <p:sp>
        <p:nvSpPr>
          <p:cNvPr id="8" name="Text 6"/>
          <p:cNvSpPr txBox="1"/>
          <p:nvPr/>
        </p:nvSpPr>
        <p:spPr>
          <a:xfrm>
            <a:off x="3364992" y="1828800"/>
            <a:ext cx="2606040" cy="1097280"/>
          </a:xfrm>
          <a:prstGeom prst="rect">
            <a:avLst/>
          </a:prstGeom>
          <a:noFill/>
          <a:ln/>
        </p:spPr>
        <p:txBody>
          <a:bodyPr wrap="square" lIns="0" tIns="0" rIns="0" bIns="0" rtlCol="0" anchor="ctr"/>
          <a:lstStyle/>
          <a:p>
            <a:pPr algn="ctr" indent="0" marL="0">
              <a:buNone/>
            </a:pPr>
            <a:r>
              <a:rPr lang="en-US" sz="6000" b="1" dirty="0">
                <a:solidFill>
                  <a:schemeClr val="accent1"/>
                </a:solidFill>
              </a:rPr>
              <a:t>98</a:t>
            </a:r>
            <a:endParaRPr lang="en-US" sz="6000" dirty="0"/>
          </a:p>
        </p:txBody>
      </p:sp>
      <p:sp>
        <p:nvSpPr>
          <p:cNvPr id="9" name="Text 7"/>
          <p:cNvSpPr txBox="1"/>
          <p:nvPr/>
        </p:nvSpPr>
        <p:spPr>
          <a:xfrm>
            <a:off x="3593592" y="2926080"/>
            <a:ext cx="2148840" cy="868680"/>
          </a:xfrm>
          <a:prstGeom prst="rect">
            <a:avLst/>
          </a:prstGeom>
          <a:noFill/>
          <a:ln/>
        </p:spPr>
        <p:txBody>
          <a:bodyPr wrap="square" lIns="0" tIns="0" rIns="0" bIns="0" rtlCol="0" anchor="t"/>
          <a:lstStyle/>
          <a:p>
            <a:pPr algn="ctr" indent="0" marL="0">
              <a:buNone/>
            </a:pPr>
            <a:r>
              <a:rPr lang="en-US" sz="1400" dirty="0">
                <a:solidFill>
                  <a:schemeClr val="tx1"/>
                </a:solidFill>
              </a:rPr>
              <a:t>connections drawn between them</a:t>
            </a:r>
            <a:endParaRPr lang="en-US" sz="1400" dirty="0"/>
          </a:p>
        </p:txBody>
      </p:sp>
      <p:sp>
        <p:nvSpPr>
          <p:cNvPr id="10" name="stat card 3"/>
          <p:cNvSpPr/>
          <p:nvPr/>
        </p:nvSpPr>
        <p:spPr>
          <a:xfrm>
            <a:off x="6181344" y="1737360"/>
            <a:ext cx="2606040" cy="2194560"/>
          </a:xfrm>
          <a:prstGeom prst="roundRect">
            <a:avLst>
              <a:gd name="adj" fmla="val 4167"/>
            </a:avLst>
          </a:prstGeom>
          <a:solidFill>
            <a:srgbClr val="FDF0DF"/>
          </a:solidFill>
          <a:ln w="12700">
            <a:solidFill>
              <a:srgbClr val="FDF0DF"/>
            </a:solidFill>
            <a:prstDash val="solid"/>
          </a:ln>
        </p:spPr>
      </p:sp>
      <p:sp>
        <p:nvSpPr>
          <p:cNvPr id="11" name="Text 9"/>
          <p:cNvSpPr txBox="1"/>
          <p:nvPr/>
        </p:nvSpPr>
        <p:spPr>
          <a:xfrm>
            <a:off x="6181344" y="1828800"/>
            <a:ext cx="2606040" cy="1097280"/>
          </a:xfrm>
          <a:prstGeom prst="rect">
            <a:avLst/>
          </a:prstGeom>
          <a:noFill/>
          <a:ln/>
        </p:spPr>
        <p:txBody>
          <a:bodyPr wrap="square" lIns="0" tIns="0" rIns="0" bIns="0" rtlCol="0" anchor="ctr"/>
          <a:lstStyle/>
          <a:p>
            <a:pPr algn="ctr" indent="0" marL="0">
              <a:buNone/>
            </a:pPr>
            <a:r>
              <a:rPr lang="en-US" sz="6000" b="1" dirty="0">
                <a:solidFill>
                  <a:schemeClr val="accent3"/>
                </a:solidFill>
              </a:rPr>
              <a:t>23</a:t>
            </a:r>
            <a:endParaRPr lang="en-US" sz="6000" dirty="0"/>
          </a:p>
        </p:txBody>
      </p:sp>
      <p:sp>
        <p:nvSpPr>
          <p:cNvPr id="12" name="Text 10"/>
          <p:cNvSpPr txBox="1"/>
          <p:nvPr/>
        </p:nvSpPr>
        <p:spPr>
          <a:xfrm>
            <a:off x="6409944" y="2926080"/>
            <a:ext cx="2148840" cy="868680"/>
          </a:xfrm>
          <a:prstGeom prst="rect">
            <a:avLst/>
          </a:prstGeom>
          <a:noFill/>
          <a:ln/>
        </p:spPr>
        <p:txBody>
          <a:bodyPr wrap="square" lIns="0" tIns="0" rIns="0" bIns="0" rtlCol="0" anchor="t"/>
          <a:lstStyle/>
          <a:p>
            <a:pPr algn="ctr" indent="0" marL="0">
              <a:buNone/>
            </a:pPr>
            <a:r>
              <a:rPr lang="en-US" sz="1400" dirty="0">
                <a:solidFill>
                  <a:schemeClr val="tx1"/>
                </a:solidFill>
              </a:rPr>
              <a:t>of those connections are manual hand-offs</a:t>
            </a:r>
            <a:endParaRPr lang="en-US" sz="1400" dirty="0"/>
          </a:p>
        </p:txBody>
      </p:sp>
      <p:sp>
        <p:nvSpPr>
          <p:cNvPr id="13" name="stat card 4"/>
          <p:cNvSpPr/>
          <p:nvPr/>
        </p:nvSpPr>
        <p:spPr>
          <a:xfrm>
            <a:off x="8997696" y="1737360"/>
            <a:ext cx="2606040" cy="2194560"/>
          </a:xfrm>
          <a:prstGeom prst="roundRect">
            <a:avLst>
              <a:gd name="adj" fmla="val 4167"/>
            </a:avLst>
          </a:prstGeom>
          <a:solidFill>
            <a:schemeClr val="bg2"/>
          </a:solidFill>
          <a:ln w="12700">
            <a:solidFill>
              <a:schemeClr val="bg2"/>
            </a:solidFill>
            <a:prstDash val="solid"/>
          </a:ln>
        </p:spPr>
      </p:sp>
      <p:sp>
        <p:nvSpPr>
          <p:cNvPr id="14" name="Text 12"/>
          <p:cNvSpPr txBox="1"/>
          <p:nvPr/>
        </p:nvSpPr>
        <p:spPr>
          <a:xfrm>
            <a:off x="8997696" y="1828800"/>
            <a:ext cx="2606040" cy="1097280"/>
          </a:xfrm>
          <a:prstGeom prst="rect">
            <a:avLst/>
          </a:prstGeom>
          <a:noFill/>
          <a:ln/>
        </p:spPr>
        <p:txBody>
          <a:bodyPr wrap="square" lIns="0" tIns="0" rIns="0" bIns="0" rtlCol="0" anchor="ctr"/>
          <a:lstStyle/>
          <a:p>
            <a:pPr algn="ctr" indent="0" marL="0">
              <a:buNone/>
            </a:pPr>
            <a:r>
              <a:rPr lang="en-US" sz="6000" b="1" dirty="0">
                <a:solidFill>
                  <a:schemeClr val="accent1"/>
                </a:solidFill>
              </a:rPr>
              <a:t>1</a:t>
            </a:r>
            <a:endParaRPr lang="en-US" sz="6000" dirty="0"/>
          </a:p>
        </p:txBody>
      </p:sp>
      <p:sp>
        <p:nvSpPr>
          <p:cNvPr id="15" name="Text 13"/>
          <p:cNvSpPr txBox="1"/>
          <p:nvPr/>
        </p:nvSpPr>
        <p:spPr>
          <a:xfrm>
            <a:off x="9226296" y="2926080"/>
            <a:ext cx="2148840" cy="868680"/>
          </a:xfrm>
          <a:prstGeom prst="rect">
            <a:avLst/>
          </a:prstGeom>
          <a:noFill/>
          <a:ln/>
        </p:spPr>
        <p:txBody>
          <a:bodyPr wrap="square" lIns="0" tIns="0" rIns="0" bIns="0" rtlCol="0" anchor="t"/>
          <a:lstStyle/>
          <a:p>
            <a:pPr algn="ctr" indent="0" marL="0">
              <a:buNone/>
            </a:pPr>
            <a:r>
              <a:rPr lang="en-US" sz="1400" dirty="0">
                <a:solidFill>
                  <a:schemeClr val="tx1"/>
                </a:solidFill>
              </a:rPr>
              <a:t>central hub: UnitE holds the core student and staff record</a:t>
            </a:r>
            <a:endParaRPr lang="en-US" sz="1400" dirty="0"/>
          </a:p>
        </p:txBody>
      </p:sp>
      <p:sp>
        <p:nvSpPr>
          <p:cNvPr id="16" name="Text 14"/>
          <p:cNvSpPr txBox="1"/>
          <p:nvPr/>
        </p:nvSpPr>
        <p:spPr>
          <a:xfrm>
            <a:off x="548640" y="4251960"/>
            <a:ext cx="5486400" cy="365760"/>
          </a:xfrm>
          <a:prstGeom prst="rect">
            <a:avLst/>
          </a:prstGeom>
          <a:noFill/>
          <a:ln/>
        </p:spPr>
        <p:txBody>
          <a:bodyPr wrap="square" lIns="0" tIns="0" rIns="0" bIns="0" rtlCol="0" anchor="ctr"/>
          <a:lstStyle/>
          <a:p>
            <a:pPr indent="0" marL="0">
              <a:buNone/>
            </a:pPr>
            <a:r>
              <a:rPr lang="en-US" sz="1800" b="1" dirty="0">
                <a:solidFill>
                  <a:schemeClr val="tx2"/>
                </a:solidFill>
              </a:rPr>
              <a:t>Areas covered</a:t>
            </a:r>
            <a:endParaRPr lang="en-US" sz="1800" dirty="0"/>
          </a:p>
        </p:txBody>
      </p:sp>
      <p:sp>
        <p:nvSpPr>
          <p:cNvPr id="17" name="area Student system"/>
          <p:cNvSpPr/>
          <p:nvPr/>
        </p:nvSpPr>
        <p:spPr>
          <a:xfrm>
            <a:off x="548640" y="4709160"/>
            <a:ext cx="2606040" cy="411480"/>
          </a:xfrm>
          <a:prstGeom prst="roundRect">
            <a:avLst>
              <a:gd name="adj" fmla="val 48889"/>
            </a:avLst>
          </a:prstGeom>
          <a:solidFill>
            <a:schemeClr val="accent1"/>
          </a:solidFill>
          <a:ln w="12700">
            <a:solidFill>
              <a:schemeClr val="accent1"/>
            </a:solidFill>
            <a:prstDash val="solid"/>
          </a:ln>
        </p:spPr>
      </p:sp>
      <p:sp>
        <p:nvSpPr>
          <p:cNvPr id="18" name="Text 16"/>
          <p:cNvSpPr txBox="1"/>
          <p:nvPr/>
        </p:nvSpPr>
        <p:spPr>
          <a:xfrm>
            <a:off x="548640" y="4709160"/>
            <a:ext cx="2606040" cy="411480"/>
          </a:xfrm>
          <a:prstGeom prst="rect">
            <a:avLst/>
          </a:prstGeom>
          <a:noFill/>
          <a:ln/>
        </p:spPr>
        <p:txBody>
          <a:bodyPr wrap="square" lIns="0" tIns="0" rIns="0" bIns="0" rtlCol="0" anchor="ctr"/>
          <a:lstStyle/>
          <a:p>
            <a:pPr algn="ctr" indent="0" marL="0">
              <a:buNone/>
            </a:pPr>
            <a:r>
              <a:rPr lang="en-US" sz="1200" dirty="0">
                <a:solidFill>
                  <a:schemeClr val="bg1"/>
                </a:solidFill>
              </a:rPr>
              <a:t>Student system</a:t>
            </a:r>
            <a:endParaRPr lang="en-US" sz="1200" dirty="0"/>
          </a:p>
        </p:txBody>
      </p:sp>
      <p:sp>
        <p:nvSpPr>
          <p:cNvPr id="19" name="area Academic &amp; VLE"/>
          <p:cNvSpPr/>
          <p:nvPr/>
        </p:nvSpPr>
        <p:spPr>
          <a:xfrm>
            <a:off x="3364992" y="4709160"/>
            <a:ext cx="2606040" cy="411480"/>
          </a:xfrm>
          <a:prstGeom prst="roundRect">
            <a:avLst>
              <a:gd name="adj" fmla="val 48889"/>
            </a:avLst>
          </a:prstGeom>
          <a:solidFill>
            <a:schemeClr val="bg2"/>
          </a:solidFill>
          <a:ln w="12700">
            <a:solidFill>
              <a:schemeClr val="bg2"/>
            </a:solidFill>
            <a:prstDash val="solid"/>
          </a:ln>
        </p:spPr>
      </p:sp>
      <p:sp>
        <p:nvSpPr>
          <p:cNvPr id="20" name="Text 18"/>
          <p:cNvSpPr txBox="1"/>
          <p:nvPr/>
        </p:nvSpPr>
        <p:spPr>
          <a:xfrm>
            <a:off x="3364992" y="4709160"/>
            <a:ext cx="2606040" cy="411480"/>
          </a:xfrm>
          <a:prstGeom prst="rect">
            <a:avLst/>
          </a:prstGeom>
          <a:noFill/>
          <a:ln/>
        </p:spPr>
        <p:txBody>
          <a:bodyPr wrap="square" lIns="0" tIns="0" rIns="0" bIns="0" rtlCol="0" anchor="ctr"/>
          <a:lstStyle/>
          <a:p>
            <a:pPr algn="ctr" indent="0" marL="0">
              <a:buNone/>
            </a:pPr>
            <a:r>
              <a:rPr lang="en-US" sz="1200" dirty="0">
                <a:solidFill>
                  <a:schemeClr val="tx1"/>
                </a:solidFill>
              </a:rPr>
              <a:t>Academic &amp; VLE</a:t>
            </a:r>
            <a:endParaRPr lang="en-US" sz="1200" dirty="0"/>
          </a:p>
        </p:txBody>
      </p:sp>
      <p:sp>
        <p:nvSpPr>
          <p:cNvPr id="21" name="area Quality &amp; assessment"/>
          <p:cNvSpPr/>
          <p:nvPr/>
        </p:nvSpPr>
        <p:spPr>
          <a:xfrm>
            <a:off x="6181344" y="4709160"/>
            <a:ext cx="2606040" cy="411480"/>
          </a:xfrm>
          <a:prstGeom prst="roundRect">
            <a:avLst>
              <a:gd name="adj" fmla="val 48889"/>
            </a:avLst>
          </a:prstGeom>
          <a:solidFill>
            <a:schemeClr val="bg2"/>
          </a:solidFill>
          <a:ln w="12700">
            <a:solidFill>
              <a:schemeClr val="bg2"/>
            </a:solidFill>
            <a:prstDash val="solid"/>
          </a:ln>
        </p:spPr>
      </p:sp>
      <p:sp>
        <p:nvSpPr>
          <p:cNvPr id="22" name="Text 20"/>
          <p:cNvSpPr txBox="1"/>
          <p:nvPr/>
        </p:nvSpPr>
        <p:spPr>
          <a:xfrm>
            <a:off x="6181344" y="4709160"/>
            <a:ext cx="2606040" cy="411480"/>
          </a:xfrm>
          <a:prstGeom prst="rect">
            <a:avLst/>
          </a:prstGeom>
          <a:noFill/>
          <a:ln/>
        </p:spPr>
        <p:txBody>
          <a:bodyPr wrap="square" lIns="0" tIns="0" rIns="0" bIns="0" rtlCol="0" anchor="ctr"/>
          <a:lstStyle/>
          <a:p>
            <a:pPr algn="ctr" indent="0" marL="0">
              <a:buNone/>
            </a:pPr>
            <a:r>
              <a:rPr lang="en-US" sz="1200" dirty="0">
                <a:solidFill>
                  <a:schemeClr val="tx1"/>
                </a:solidFill>
              </a:rPr>
              <a:t>Quality &amp; assessment</a:t>
            </a:r>
            <a:endParaRPr lang="en-US" sz="1200" dirty="0"/>
          </a:p>
        </p:txBody>
      </p:sp>
      <p:sp>
        <p:nvSpPr>
          <p:cNvPr id="23" name="area HR"/>
          <p:cNvSpPr/>
          <p:nvPr/>
        </p:nvSpPr>
        <p:spPr>
          <a:xfrm>
            <a:off x="8997696" y="4709160"/>
            <a:ext cx="2606040" cy="411480"/>
          </a:xfrm>
          <a:prstGeom prst="roundRect">
            <a:avLst>
              <a:gd name="adj" fmla="val 48889"/>
            </a:avLst>
          </a:prstGeom>
          <a:solidFill>
            <a:schemeClr val="bg2"/>
          </a:solidFill>
          <a:ln w="12700">
            <a:solidFill>
              <a:schemeClr val="bg2"/>
            </a:solidFill>
            <a:prstDash val="solid"/>
          </a:ln>
        </p:spPr>
      </p:sp>
      <p:sp>
        <p:nvSpPr>
          <p:cNvPr id="24" name="Text 22"/>
          <p:cNvSpPr txBox="1"/>
          <p:nvPr/>
        </p:nvSpPr>
        <p:spPr>
          <a:xfrm>
            <a:off x="8997696" y="4709160"/>
            <a:ext cx="2606040" cy="411480"/>
          </a:xfrm>
          <a:prstGeom prst="rect">
            <a:avLst/>
          </a:prstGeom>
          <a:noFill/>
          <a:ln/>
        </p:spPr>
        <p:txBody>
          <a:bodyPr wrap="square" lIns="0" tIns="0" rIns="0" bIns="0" rtlCol="0" anchor="ctr"/>
          <a:lstStyle/>
          <a:p>
            <a:pPr algn="ctr" indent="0" marL="0">
              <a:buNone/>
            </a:pPr>
            <a:r>
              <a:rPr lang="en-US" sz="1200" dirty="0">
                <a:solidFill>
                  <a:schemeClr val="tx1"/>
                </a:solidFill>
              </a:rPr>
              <a:t>HR</a:t>
            </a:r>
            <a:endParaRPr lang="en-US" sz="1200" dirty="0"/>
          </a:p>
        </p:txBody>
      </p:sp>
      <p:sp>
        <p:nvSpPr>
          <p:cNvPr id="25" name="area Finance"/>
          <p:cNvSpPr/>
          <p:nvPr/>
        </p:nvSpPr>
        <p:spPr>
          <a:xfrm>
            <a:off x="548640" y="5239512"/>
            <a:ext cx="2606040" cy="411480"/>
          </a:xfrm>
          <a:prstGeom prst="roundRect">
            <a:avLst>
              <a:gd name="adj" fmla="val 48889"/>
            </a:avLst>
          </a:prstGeom>
          <a:solidFill>
            <a:schemeClr val="bg2"/>
          </a:solidFill>
          <a:ln w="12700">
            <a:solidFill>
              <a:schemeClr val="bg2"/>
            </a:solidFill>
            <a:prstDash val="solid"/>
          </a:ln>
        </p:spPr>
      </p:sp>
      <p:sp>
        <p:nvSpPr>
          <p:cNvPr id="26" name="Text 24"/>
          <p:cNvSpPr txBox="1"/>
          <p:nvPr/>
        </p:nvSpPr>
        <p:spPr>
          <a:xfrm>
            <a:off x="548640" y="5239512"/>
            <a:ext cx="2606040" cy="411480"/>
          </a:xfrm>
          <a:prstGeom prst="rect">
            <a:avLst/>
          </a:prstGeom>
          <a:noFill/>
          <a:ln/>
        </p:spPr>
        <p:txBody>
          <a:bodyPr wrap="square" lIns="0" tIns="0" rIns="0" bIns="0" rtlCol="0" anchor="ctr"/>
          <a:lstStyle/>
          <a:p>
            <a:pPr algn="ctr" indent="0" marL="0">
              <a:buNone/>
            </a:pPr>
            <a:r>
              <a:rPr lang="en-US" sz="1200" dirty="0">
                <a:solidFill>
                  <a:schemeClr val="tx1"/>
                </a:solidFill>
              </a:rPr>
              <a:t>Finance</a:t>
            </a:r>
            <a:endParaRPr lang="en-US" sz="1200" dirty="0"/>
          </a:p>
        </p:txBody>
      </p:sp>
      <p:sp>
        <p:nvSpPr>
          <p:cNvPr id="27" name="area IT"/>
          <p:cNvSpPr/>
          <p:nvPr/>
        </p:nvSpPr>
        <p:spPr>
          <a:xfrm>
            <a:off x="3364992" y="5239512"/>
            <a:ext cx="2606040" cy="411480"/>
          </a:xfrm>
          <a:prstGeom prst="roundRect">
            <a:avLst>
              <a:gd name="adj" fmla="val 48889"/>
            </a:avLst>
          </a:prstGeom>
          <a:solidFill>
            <a:schemeClr val="bg2"/>
          </a:solidFill>
          <a:ln w="12700">
            <a:solidFill>
              <a:schemeClr val="bg2"/>
            </a:solidFill>
            <a:prstDash val="solid"/>
          </a:ln>
        </p:spPr>
      </p:sp>
      <p:sp>
        <p:nvSpPr>
          <p:cNvPr id="28" name="Text 26"/>
          <p:cNvSpPr txBox="1"/>
          <p:nvPr/>
        </p:nvSpPr>
        <p:spPr>
          <a:xfrm>
            <a:off x="3364992" y="5239512"/>
            <a:ext cx="2606040" cy="411480"/>
          </a:xfrm>
          <a:prstGeom prst="rect">
            <a:avLst/>
          </a:prstGeom>
          <a:noFill/>
          <a:ln/>
        </p:spPr>
        <p:txBody>
          <a:bodyPr wrap="square" lIns="0" tIns="0" rIns="0" bIns="0" rtlCol="0" anchor="ctr"/>
          <a:lstStyle/>
          <a:p>
            <a:pPr algn="ctr" indent="0" marL="0">
              <a:buNone/>
            </a:pPr>
            <a:r>
              <a:rPr lang="en-US" sz="1200" dirty="0">
                <a:solidFill>
                  <a:schemeClr val="tx1"/>
                </a:solidFill>
              </a:rPr>
              <a:t>IT</a:t>
            </a:r>
            <a:endParaRPr lang="en-US" sz="1200" dirty="0"/>
          </a:p>
        </p:txBody>
      </p:sp>
      <p:sp>
        <p:nvSpPr>
          <p:cNvPr id="29" name="area Estates &amp; H&amp;S"/>
          <p:cNvSpPr/>
          <p:nvPr/>
        </p:nvSpPr>
        <p:spPr>
          <a:xfrm>
            <a:off x="6181344" y="5239512"/>
            <a:ext cx="2606040" cy="411480"/>
          </a:xfrm>
          <a:prstGeom prst="roundRect">
            <a:avLst>
              <a:gd name="adj" fmla="val 48889"/>
            </a:avLst>
          </a:prstGeom>
          <a:solidFill>
            <a:schemeClr val="bg2"/>
          </a:solidFill>
          <a:ln w="12700">
            <a:solidFill>
              <a:schemeClr val="bg2"/>
            </a:solidFill>
            <a:prstDash val="solid"/>
          </a:ln>
        </p:spPr>
      </p:sp>
      <p:sp>
        <p:nvSpPr>
          <p:cNvPr id="30" name="Text 28"/>
          <p:cNvSpPr txBox="1"/>
          <p:nvPr/>
        </p:nvSpPr>
        <p:spPr>
          <a:xfrm>
            <a:off x="6181344" y="5239512"/>
            <a:ext cx="2606040" cy="411480"/>
          </a:xfrm>
          <a:prstGeom prst="rect">
            <a:avLst/>
          </a:prstGeom>
          <a:noFill/>
          <a:ln/>
        </p:spPr>
        <p:txBody>
          <a:bodyPr wrap="square" lIns="0" tIns="0" rIns="0" bIns="0" rtlCol="0" anchor="ctr"/>
          <a:lstStyle/>
          <a:p>
            <a:pPr algn="ctr" indent="0" marL="0">
              <a:buNone/>
            </a:pPr>
            <a:r>
              <a:rPr lang="en-US" sz="1200" dirty="0">
                <a:solidFill>
                  <a:schemeClr val="tx1"/>
                </a:solidFill>
              </a:rPr>
              <a:t>Estates &amp; H&amp;S</a:t>
            </a:r>
            <a:endParaRPr lang="en-US" sz="1200" dirty="0"/>
          </a:p>
        </p:txBody>
      </p:sp>
      <p:sp>
        <p:nvSpPr>
          <p:cNvPr id="31" name="area Apprenticeships (ASC)"/>
          <p:cNvSpPr/>
          <p:nvPr/>
        </p:nvSpPr>
        <p:spPr>
          <a:xfrm>
            <a:off x="8997696" y="5239512"/>
            <a:ext cx="2606040" cy="411480"/>
          </a:xfrm>
          <a:prstGeom prst="roundRect">
            <a:avLst>
              <a:gd name="adj" fmla="val 48889"/>
            </a:avLst>
          </a:prstGeom>
          <a:solidFill>
            <a:schemeClr val="bg2"/>
          </a:solidFill>
          <a:ln w="12700">
            <a:solidFill>
              <a:schemeClr val="bg2"/>
            </a:solidFill>
            <a:prstDash val="solid"/>
          </a:ln>
        </p:spPr>
      </p:sp>
      <p:sp>
        <p:nvSpPr>
          <p:cNvPr id="32" name="Text 30"/>
          <p:cNvSpPr txBox="1"/>
          <p:nvPr/>
        </p:nvSpPr>
        <p:spPr>
          <a:xfrm>
            <a:off x="8997696" y="5239512"/>
            <a:ext cx="2606040" cy="411480"/>
          </a:xfrm>
          <a:prstGeom prst="rect">
            <a:avLst/>
          </a:prstGeom>
          <a:noFill/>
          <a:ln/>
        </p:spPr>
        <p:txBody>
          <a:bodyPr wrap="square" lIns="0" tIns="0" rIns="0" bIns="0" rtlCol="0" anchor="ctr"/>
          <a:lstStyle/>
          <a:p>
            <a:pPr algn="ctr" indent="0" marL="0">
              <a:buNone/>
            </a:pPr>
            <a:r>
              <a:rPr lang="en-US" sz="1200" dirty="0">
                <a:solidFill>
                  <a:schemeClr val="tx1"/>
                </a:solidFill>
              </a:rPr>
              <a:t>Apprenticeships (ASC)</a:t>
            </a:r>
            <a:endParaRPr lang="en-US" sz="1200" dirty="0"/>
          </a:p>
        </p:txBody>
      </p:sp>
      <p:sp>
        <p:nvSpPr>
          <p:cNvPr id="33" name="area Marketing &amp; commercial"/>
          <p:cNvSpPr/>
          <p:nvPr/>
        </p:nvSpPr>
        <p:spPr>
          <a:xfrm>
            <a:off x="548640" y="5769864"/>
            <a:ext cx="2606040" cy="411480"/>
          </a:xfrm>
          <a:prstGeom prst="roundRect">
            <a:avLst>
              <a:gd name="adj" fmla="val 48889"/>
            </a:avLst>
          </a:prstGeom>
          <a:solidFill>
            <a:schemeClr val="bg2"/>
          </a:solidFill>
          <a:ln w="12700">
            <a:solidFill>
              <a:schemeClr val="bg2"/>
            </a:solidFill>
            <a:prstDash val="solid"/>
          </a:ln>
        </p:spPr>
      </p:sp>
      <p:sp>
        <p:nvSpPr>
          <p:cNvPr id="34" name="Text 32"/>
          <p:cNvSpPr txBox="1"/>
          <p:nvPr/>
        </p:nvSpPr>
        <p:spPr>
          <a:xfrm>
            <a:off x="548640" y="5769864"/>
            <a:ext cx="2606040" cy="411480"/>
          </a:xfrm>
          <a:prstGeom prst="rect">
            <a:avLst/>
          </a:prstGeom>
          <a:noFill/>
          <a:ln/>
        </p:spPr>
        <p:txBody>
          <a:bodyPr wrap="square" lIns="0" tIns="0" rIns="0" bIns="0" rtlCol="0" anchor="ctr"/>
          <a:lstStyle/>
          <a:p>
            <a:pPr algn="ctr" indent="0" marL="0">
              <a:buNone/>
            </a:pPr>
            <a:r>
              <a:rPr lang="en-US" sz="1200" dirty="0">
                <a:solidFill>
                  <a:schemeClr val="tx1"/>
                </a:solidFill>
              </a:rPr>
              <a:t>Marketing &amp; commercial</a:t>
            </a:r>
            <a:endParaRPr lang="en-US" sz="1200" dirty="0"/>
          </a:p>
        </p:txBody>
      </p:sp>
      <p:sp>
        <p:nvSpPr>
          <p:cNvPr id="35" name="area Hospitality"/>
          <p:cNvSpPr/>
          <p:nvPr/>
        </p:nvSpPr>
        <p:spPr>
          <a:xfrm>
            <a:off x="3364992" y="5769864"/>
            <a:ext cx="2606040" cy="411480"/>
          </a:xfrm>
          <a:prstGeom prst="roundRect">
            <a:avLst>
              <a:gd name="adj" fmla="val 48889"/>
            </a:avLst>
          </a:prstGeom>
          <a:solidFill>
            <a:schemeClr val="bg2"/>
          </a:solidFill>
          <a:ln w="12700">
            <a:solidFill>
              <a:schemeClr val="bg2"/>
            </a:solidFill>
            <a:prstDash val="solid"/>
          </a:ln>
        </p:spPr>
      </p:sp>
      <p:sp>
        <p:nvSpPr>
          <p:cNvPr id="36" name="Text 34"/>
          <p:cNvSpPr txBox="1"/>
          <p:nvPr/>
        </p:nvSpPr>
        <p:spPr>
          <a:xfrm>
            <a:off x="3364992" y="5769864"/>
            <a:ext cx="2606040" cy="411480"/>
          </a:xfrm>
          <a:prstGeom prst="rect">
            <a:avLst/>
          </a:prstGeom>
          <a:noFill/>
          <a:ln/>
        </p:spPr>
        <p:txBody>
          <a:bodyPr wrap="square" lIns="0" tIns="0" rIns="0" bIns="0" rtlCol="0" anchor="ctr"/>
          <a:lstStyle/>
          <a:p>
            <a:pPr algn="ctr" indent="0" marL="0">
              <a:buNone/>
            </a:pPr>
            <a:r>
              <a:rPr lang="en-US" sz="1200" dirty="0">
                <a:solidFill>
                  <a:schemeClr val="tx1"/>
                </a:solidFill>
              </a:rPr>
              <a:t>Hospitality</a:t>
            </a:r>
            <a:endParaRPr lang="en-US" sz="1200" dirty="0"/>
          </a:p>
        </p:txBody>
      </p:sp>
      <p:sp>
        <p:nvSpPr>
          <p:cNvPr id="37" name="area University &amp; funding (external)"/>
          <p:cNvSpPr/>
          <p:nvPr/>
        </p:nvSpPr>
        <p:spPr>
          <a:xfrm>
            <a:off x="6181344" y="5769864"/>
            <a:ext cx="2606040" cy="411480"/>
          </a:xfrm>
          <a:prstGeom prst="roundRect">
            <a:avLst>
              <a:gd name="adj" fmla="val 48889"/>
            </a:avLst>
          </a:prstGeom>
          <a:solidFill>
            <a:schemeClr val="bg2"/>
          </a:solidFill>
          <a:ln w="12700">
            <a:solidFill>
              <a:schemeClr val="bg2"/>
            </a:solidFill>
            <a:prstDash val="solid"/>
          </a:ln>
        </p:spPr>
      </p:sp>
      <p:sp>
        <p:nvSpPr>
          <p:cNvPr id="38" name="Text 36"/>
          <p:cNvSpPr txBox="1"/>
          <p:nvPr/>
        </p:nvSpPr>
        <p:spPr>
          <a:xfrm>
            <a:off x="6181344" y="5769864"/>
            <a:ext cx="2606040" cy="411480"/>
          </a:xfrm>
          <a:prstGeom prst="rect">
            <a:avLst/>
          </a:prstGeom>
          <a:noFill/>
          <a:ln/>
        </p:spPr>
        <p:txBody>
          <a:bodyPr wrap="square" lIns="0" tIns="0" rIns="0" bIns="0" rtlCol="0" anchor="ctr"/>
          <a:lstStyle/>
          <a:p>
            <a:pPr algn="ctr" indent="0" marL="0">
              <a:buNone/>
            </a:pPr>
            <a:r>
              <a:rPr lang="en-US" sz="1200" dirty="0">
                <a:solidFill>
                  <a:schemeClr val="tx1"/>
                </a:solidFill>
              </a:rPr>
              <a:t>University &amp; funding (external)</a:t>
            </a:r>
            <a:endParaRPr lang="en-US" sz="1200" dirty="0"/>
          </a:p>
        </p:txBody>
      </p:sp>
      <p:sp>
        <p:nvSpPr>
          <p:cNvPr id="39" name="area Intelligence reporting"/>
          <p:cNvSpPr/>
          <p:nvPr/>
        </p:nvSpPr>
        <p:spPr>
          <a:xfrm>
            <a:off x="8997696" y="5769864"/>
            <a:ext cx="2606040" cy="411480"/>
          </a:xfrm>
          <a:prstGeom prst="roundRect">
            <a:avLst>
              <a:gd name="adj" fmla="val 48889"/>
            </a:avLst>
          </a:prstGeom>
          <a:solidFill>
            <a:schemeClr val="accent1"/>
          </a:solidFill>
          <a:ln w="12700">
            <a:solidFill>
              <a:schemeClr val="accent1"/>
            </a:solidFill>
            <a:prstDash val="solid"/>
          </a:ln>
        </p:spPr>
      </p:sp>
      <p:sp>
        <p:nvSpPr>
          <p:cNvPr id="40" name="Text 38"/>
          <p:cNvSpPr txBox="1"/>
          <p:nvPr/>
        </p:nvSpPr>
        <p:spPr>
          <a:xfrm>
            <a:off x="8997696" y="5769864"/>
            <a:ext cx="2606040" cy="411480"/>
          </a:xfrm>
          <a:prstGeom prst="rect">
            <a:avLst/>
          </a:prstGeom>
          <a:noFill/>
          <a:ln/>
        </p:spPr>
        <p:txBody>
          <a:bodyPr wrap="square" lIns="0" tIns="0" rIns="0" bIns="0" rtlCol="0" anchor="ctr"/>
          <a:lstStyle/>
          <a:p>
            <a:pPr algn="ctr" indent="0" marL="0">
              <a:buNone/>
            </a:pPr>
            <a:r>
              <a:rPr lang="en-US" sz="1200" dirty="0">
                <a:solidFill>
                  <a:schemeClr val="bg1"/>
                </a:solidFill>
              </a:rPr>
              <a:t>Intelligence reporting</a:t>
            </a:r>
            <a:endParaRPr lang="en-US" sz="12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F80"/>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indent="0" marL="0">
              <a:buNone/>
            </a:pPr>
            <a:r>
              <a:rPr lang="en-US" sz="3200" b="1" dirty="0">
                <a:solidFill>
                  <a:schemeClr val="tx2"/>
                </a:solidFill>
              </a:rPr>
              <a:t>The big picture: four layers</a:t>
            </a:r>
            <a:endParaRPr lang="en-US" sz="3200" dirty="0"/>
          </a:p>
        </p:txBody>
      </p:sp>
      <p:sp>
        <p:nvSpPr>
          <p:cNvPr id="3" name="Text 0"/>
          <p:cNvSpPr/>
          <p:nvPr>
            <p:ph idx="101" type="body" hasCustomPrompt="1"/>
          </p:nvPr>
        </p:nvSpPr>
        <p:spPr>
          <a:xfrm>
            <a:off x="548640" y="1005840"/>
            <a:ext cx="11064240" cy="411480"/>
          </a:xfrm>
          <a:prstGeom prst="rect">
            <a:avLst/>
          </a:prstGeom>
          <a:noFill/>
          <a:ln/>
        </p:spPr>
        <p:txBody>
          <a:bodyPr wrap="square" lIns="0" tIns="0" rIns="0" bIns="0" rtlCol="0" anchor="t"/>
          <a:lstStyle/>
          <a:p>
            <a:pPr indent="0" marL="0">
              <a:buNone/>
            </a:pPr>
            <a:r>
              <a:rPr lang="en-US" sz="1500" dirty="0">
                <a:solidFill>
                  <a:schemeClr val="tx1"/>
                </a:solidFill>
              </a:rPr>
              <a:t>Data is captured at the front door, worked on by operational systems, held in UnitE, then served back out and reported</a:t>
            </a:r>
            <a:endParaRPr lang="en-US" sz="1500" dirty="0"/>
          </a:p>
        </p:txBody>
      </p:sp>
      <p:sp>
        <p:nvSpPr>
          <p:cNvPr id="4" name="Text 2"/>
          <p:cNvSpPr txBox="1"/>
          <p:nvPr/>
        </p:nvSpPr>
        <p:spPr>
          <a:xfrm>
            <a:off x="548640" y="1691640"/>
            <a:ext cx="2514600" cy="594360"/>
          </a:xfrm>
          <a:prstGeom prst="rect">
            <a:avLst/>
          </a:prstGeom>
          <a:noFill/>
          <a:ln/>
        </p:spPr>
        <p:txBody>
          <a:bodyPr wrap="square" lIns="0" tIns="0" rIns="0" bIns="0" rtlCol="0" anchor="t"/>
          <a:lstStyle/>
          <a:p>
            <a:pPr indent="0" marL="0">
              <a:buNone/>
            </a:pPr>
            <a:r>
              <a:rPr lang="en-US" sz="1600" b="1" dirty="0">
                <a:solidFill>
                  <a:schemeClr val="tx2"/>
                </a:solidFill>
              </a:rPr>
              <a:t>1  Capture</a:t>
            </a:r>
            <a:endParaRPr lang="en-US" sz="1600" dirty="0"/>
          </a:p>
          <a:p>
            <a:pPr indent="0" marL="0">
              <a:buNone/>
            </a:pPr>
            <a:r>
              <a:rPr lang="en-US" sz="1100" dirty="0">
                <a:solidFill>
                  <a:srgbClr val="6B6F80"/>
                </a:solidFill>
              </a:rPr>
              <a:t>Where data enters</a:t>
            </a:r>
            <a:endParaRPr lang="en-US" sz="1600" dirty="0"/>
          </a:p>
        </p:txBody>
      </p:sp>
      <p:sp>
        <p:nvSpPr>
          <p:cNvPr id="5" name="FVC Website"/>
          <p:cNvSpPr/>
          <p:nvPr/>
        </p:nvSpPr>
        <p:spPr>
          <a:xfrm>
            <a:off x="548640" y="2423160"/>
            <a:ext cx="2514600" cy="685800"/>
          </a:xfrm>
          <a:prstGeom prst="roundRect">
            <a:avLst>
              <a:gd name="adj" fmla="val 10667"/>
            </a:avLst>
          </a:prstGeom>
          <a:solidFill>
            <a:schemeClr val="accent5"/>
          </a:solidFill>
          <a:ln w="12700">
            <a:solidFill>
              <a:schemeClr val="accent5"/>
            </a:solidFill>
            <a:prstDash val="solid"/>
          </a:ln>
        </p:spPr>
      </p:sp>
      <p:sp>
        <p:nvSpPr>
          <p:cNvPr id="6" name="FVC Website text"/>
          <p:cNvSpPr txBox="1"/>
          <p:nvPr/>
        </p:nvSpPr>
        <p:spPr>
          <a:xfrm>
            <a:off x="594360" y="2423160"/>
            <a:ext cx="2423160" cy="685800"/>
          </a:xfrm>
          <a:prstGeom prst="rect">
            <a:avLst/>
          </a:prstGeom>
          <a:noFill/>
          <a:ln/>
        </p:spPr>
        <p:txBody>
          <a:bodyPr wrap="square" lIns="25400" tIns="25400" rIns="25400" bIns="25400" rtlCol="0" anchor="ctr"/>
          <a:lstStyle/>
          <a:p>
            <a:pPr algn="ctr" indent="0" marL="0">
              <a:buNone/>
            </a:pPr>
            <a:r>
              <a:rPr lang="en-US" sz="1300" b="1" dirty="0">
                <a:solidFill>
                  <a:schemeClr val="tx1"/>
                </a:solidFill>
              </a:rPr>
              <a:t>FVC Website</a:t>
            </a:r>
            <a:endParaRPr lang="en-US" sz="1300" dirty="0"/>
          </a:p>
          <a:p>
            <a:pPr algn="ctr" indent="0" marL="0">
              <a:buNone/>
            </a:pPr>
            <a:r>
              <a:rPr lang="en-US" sz="1050" dirty="0">
                <a:solidFill>
                  <a:schemeClr val="tx1"/>
                </a:solidFill>
              </a:rPr>
              <a:t>forthvalley.ac.uk</a:t>
            </a:r>
            <a:endParaRPr lang="en-US" sz="1300" dirty="0"/>
          </a:p>
        </p:txBody>
      </p:sp>
      <p:sp>
        <p:nvSpPr>
          <p:cNvPr id="7" name="Student Registration"/>
          <p:cNvSpPr/>
          <p:nvPr/>
        </p:nvSpPr>
        <p:spPr>
          <a:xfrm>
            <a:off x="548640" y="3264408"/>
            <a:ext cx="2514600" cy="685800"/>
          </a:xfrm>
          <a:prstGeom prst="roundRect">
            <a:avLst>
              <a:gd name="adj" fmla="val 10667"/>
            </a:avLst>
          </a:prstGeom>
          <a:solidFill>
            <a:schemeClr val="accent5"/>
          </a:solidFill>
          <a:ln w="12700">
            <a:solidFill>
              <a:schemeClr val="accent5"/>
            </a:solidFill>
            <a:prstDash val="solid"/>
          </a:ln>
        </p:spPr>
      </p:sp>
      <p:sp>
        <p:nvSpPr>
          <p:cNvPr id="8" name="Student Registration text"/>
          <p:cNvSpPr txBox="1"/>
          <p:nvPr/>
        </p:nvSpPr>
        <p:spPr>
          <a:xfrm>
            <a:off x="594360" y="3264408"/>
            <a:ext cx="2423160" cy="685800"/>
          </a:xfrm>
          <a:prstGeom prst="rect">
            <a:avLst/>
          </a:prstGeom>
          <a:noFill/>
          <a:ln/>
        </p:spPr>
        <p:txBody>
          <a:bodyPr wrap="square" lIns="25400" tIns="25400" rIns="25400" bIns="25400" rtlCol="0" anchor="ctr"/>
          <a:lstStyle/>
          <a:p>
            <a:pPr algn="ctr" indent="0" marL="0">
              <a:buNone/>
            </a:pPr>
            <a:r>
              <a:rPr lang="en-US" sz="1300" b="1" dirty="0">
                <a:solidFill>
                  <a:schemeClr val="tx1"/>
                </a:solidFill>
              </a:rPr>
              <a:t>Student Registration</a:t>
            </a:r>
            <a:endParaRPr lang="en-US" sz="1300" dirty="0"/>
          </a:p>
          <a:p>
            <a:pPr algn="ctr" indent="0" marL="0">
              <a:buNone/>
            </a:pPr>
            <a:r>
              <a:rPr lang="en-US" sz="1050" dirty="0">
                <a:solidFill>
                  <a:schemeClr val="tx1"/>
                </a:solidFill>
              </a:rPr>
              <a:t>Online Service</a:t>
            </a:r>
            <a:endParaRPr lang="en-US" sz="1300" dirty="0"/>
          </a:p>
        </p:txBody>
      </p:sp>
      <p:sp>
        <p:nvSpPr>
          <p:cNvPr id="9" name="School &amp; Employer Portal"/>
          <p:cNvSpPr/>
          <p:nvPr/>
        </p:nvSpPr>
        <p:spPr>
          <a:xfrm>
            <a:off x="548640" y="4105656"/>
            <a:ext cx="2514600" cy="685800"/>
          </a:xfrm>
          <a:prstGeom prst="roundRect">
            <a:avLst>
              <a:gd name="adj" fmla="val 10667"/>
            </a:avLst>
          </a:prstGeom>
          <a:solidFill>
            <a:schemeClr val="accent5"/>
          </a:solidFill>
          <a:ln w="12700">
            <a:solidFill>
              <a:schemeClr val="accent5"/>
            </a:solidFill>
            <a:prstDash val="solid"/>
          </a:ln>
        </p:spPr>
      </p:sp>
      <p:sp>
        <p:nvSpPr>
          <p:cNvPr id="10" name="School &amp; Employer Portal text"/>
          <p:cNvSpPr txBox="1"/>
          <p:nvPr/>
        </p:nvSpPr>
        <p:spPr>
          <a:xfrm>
            <a:off x="594360" y="4105656"/>
            <a:ext cx="2423160" cy="685800"/>
          </a:xfrm>
          <a:prstGeom prst="rect">
            <a:avLst/>
          </a:prstGeom>
          <a:noFill/>
          <a:ln/>
        </p:spPr>
        <p:txBody>
          <a:bodyPr wrap="square" lIns="25400" tIns="25400" rIns="25400" bIns="25400" rtlCol="0" anchor="ctr"/>
          <a:lstStyle/>
          <a:p>
            <a:pPr algn="ctr" indent="0" marL="0">
              <a:buNone/>
            </a:pPr>
            <a:r>
              <a:rPr lang="en-US" sz="1300" b="1" dirty="0">
                <a:solidFill>
                  <a:schemeClr val="tx1"/>
                </a:solidFill>
              </a:rPr>
              <a:t>School &amp; Employer Portal</a:t>
            </a:r>
            <a:endParaRPr lang="en-US" sz="1300" dirty="0"/>
          </a:p>
          <a:p>
            <a:pPr algn="ctr" indent="0" marL="0">
              <a:buNone/>
            </a:pPr>
            <a:r>
              <a:rPr lang="en-US" sz="1050" dirty="0">
                <a:solidFill>
                  <a:schemeClr val="tx1"/>
                </a:solidFill>
              </a:rPr>
              <a:t>FVC Portal</a:t>
            </a:r>
            <a:endParaRPr lang="en-US" sz="1300" dirty="0"/>
          </a:p>
        </p:txBody>
      </p:sp>
      <p:sp>
        <p:nvSpPr>
          <p:cNvPr id="11" name="Training Management"/>
          <p:cNvSpPr/>
          <p:nvPr/>
        </p:nvSpPr>
        <p:spPr>
          <a:xfrm>
            <a:off x="548640" y="4946904"/>
            <a:ext cx="2514600" cy="685800"/>
          </a:xfrm>
          <a:prstGeom prst="roundRect">
            <a:avLst>
              <a:gd name="adj" fmla="val 10667"/>
            </a:avLst>
          </a:prstGeom>
          <a:solidFill>
            <a:schemeClr val="accent5"/>
          </a:solidFill>
          <a:ln w="12700">
            <a:solidFill>
              <a:schemeClr val="accent5"/>
            </a:solidFill>
            <a:prstDash val="solid"/>
          </a:ln>
        </p:spPr>
      </p:sp>
      <p:sp>
        <p:nvSpPr>
          <p:cNvPr id="12" name="Training Management text"/>
          <p:cNvSpPr txBox="1"/>
          <p:nvPr/>
        </p:nvSpPr>
        <p:spPr>
          <a:xfrm>
            <a:off x="594360" y="4946904"/>
            <a:ext cx="2423160" cy="685800"/>
          </a:xfrm>
          <a:prstGeom prst="rect">
            <a:avLst/>
          </a:prstGeom>
          <a:noFill/>
          <a:ln/>
        </p:spPr>
        <p:txBody>
          <a:bodyPr wrap="square" lIns="25400" tIns="25400" rIns="25400" bIns="25400" rtlCol="0" anchor="ctr"/>
          <a:lstStyle/>
          <a:p>
            <a:pPr algn="ctr" indent="0" marL="0">
              <a:buNone/>
            </a:pPr>
            <a:r>
              <a:rPr lang="en-US" sz="1300" b="1" dirty="0">
                <a:solidFill>
                  <a:schemeClr val="tx1"/>
                </a:solidFill>
              </a:rPr>
              <a:t>Training Management</a:t>
            </a:r>
            <a:endParaRPr lang="en-US" sz="1300" dirty="0"/>
          </a:p>
          <a:p>
            <a:pPr algn="ctr" indent="0" marL="0">
              <a:buNone/>
            </a:pPr>
            <a:r>
              <a:rPr lang="en-US" sz="1050" dirty="0">
                <a:solidFill>
                  <a:schemeClr val="tx1"/>
                </a:solidFill>
              </a:rPr>
              <a:t>Dante</a:t>
            </a:r>
            <a:endParaRPr lang="en-US" sz="1300" dirty="0"/>
          </a:p>
        </p:txBody>
      </p:sp>
      <p:sp>
        <p:nvSpPr>
          <p:cNvPr id="13" name="flow arrow 1"/>
          <p:cNvSpPr/>
          <p:nvPr/>
        </p:nvSpPr>
        <p:spPr>
          <a:xfrm>
            <a:off x="3099816" y="3200400"/>
            <a:ext cx="265176" cy="411480"/>
          </a:xfrm>
          <a:prstGeom prst="rightArrow">
            <a:avLst/>
          </a:prstGeom>
          <a:solidFill>
            <a:schemeClr val="tx2"/>
          </a:solidFill>
          <a:ln w="12700">
            <a:solidFill>
              <a:schemeClr val="tx2"/>
            </a:solidFill>
            <a:prstDash val="solid"/>
          </a:ln>
        </p:spPr>
      </p:sp>
      <p:sp>
        <p:nvSpPr>
          <p:cNvPr id="14" name="Text 12"/>
          <p:cNvSpPr txBox="1"/>
          <p:nvPr/>
        </p:nvSpPr>
        <p:spPr>
          <a:xfrm>
            <a:off x="3401568" y="1691640"/>
            <a:ext cx="2514600" cy="594360"/>
          </a:xfrm>
          <a:prstGeom prst="rect">
            <a:avLst/>
          </a:prstGeom>
          <a:noFill/>
          <a:ln/>
        </p:spPr>
        <p:txBody>
          <a:bodyPr wrap="square" lIns="0" tIns="0" rIns="0" bIns="0" rtlCol="0" anchor="t"/>
          <a:lstStyle/>
          <a:p>
            <a:pPr indent="0" marL="0">
              <a:buNone/>
            </a:pPr>
            <a:r>
              <a:rPr lang="en-US" sz="1600" b="1" dirty="0">
                <a:solidFill>
                  <a:schemeClr val="tx2"/>
                </a:solidFill>
              </a:rPr>
              <a:t>2  Engage &amp; support</a:t>
            </a:r>
            <a:endParaRPr lang="en-US" sz="1600" dirty="0"/>
          </a:p>
          <a:p>
            <a:pPr indent="0" marL="0">
              <a:buNone/>
            </a:pPr>
            <a:r>
              <a:rPr lang="en-US" sz="1100" dirty="0">
                <a:solidFill>
                  <a:srgbClr val="6B6F80"/>
                </a:solidFill>
              </a:rPr>
              <a:t>Day-to-day student work</a:t>
            </a:r>
            <a:endParaRPr lang="en-US" sz="1600" dirty="0"/>
          </a:p>
        </p:txBody>
      </p:sp>
      <p:sp>
        <p:nvSpPr>
          <p:cNvPr id="15" name="Enquiry Management"/>
          <p:cNvSpPr/>
          <p:nvPr/>
        </p:nvSpPr>
        <p:spPr>
          <a:xfrm>
            <a:off x="3401568" y="2423160"/>
            <a:ext cx="2514600" cy="685800"/>
          </a:xfrm>
          <a:prstGeom prst="roundRect">
            <a:avLst>
              <a:gd name="adj" fmla="val 10667"/>
            </a:avLst>
          </a:prstGeom>
          <a:solidFill>
            <a:schemeClr val="accent5"/>
          </a:solidFill>
          <a:ln w="12700">
            <a:solidFill>
              <a:schemeClr val="accent5"/>
            </a:solidFill>
            <a:prstDash val="solid"/>
          </a:ln>
        </p:spPr>
      </p:sp>
      <p:sp>
        <p:nvSpPr>
          <p:cNvPr id="16" name="Enquiry Management text"/>
          <p:cNvSpPr txBox="1"/>
          <p:nvPr/>
        </p:nvSpPr>
        <p:spPr>
          <a:xfrm>
            <a:off x="3447288" y="2423160"/>
            <a:ext cx="2423160" cy="685800"/>
          </a:xfrm>
          <a:prstGeom prst="rect">
            <a:avLst/>
          </a:prstGeom>
          <a:noFill/>
          <a:ln/>
        </p:spPr>
        <p:txBody>
          <a:bodyPr wrap="square" lIns="25400" tIns="25400" rIns="25400" bIns="25400" rtlCol="0" anchor="ctr"/>
          <a:lstStyle/>
          <a:p>
            <a:pPr algn="ctr" indent="0" marL="0">
              <a:buNone/>
            </a:pPr>
            <a:r>
              <a:rPr lang="en-US" sz="1300" b="1" dirty="0">
                <a:solidFill>
                  <a:schemeClr val="tx1"/>
                </a:solidFill>
              </a:rPr>
              <a:t>Enquiry Management</a:t>
            </a:r>
            <a:endParaRPr lang="en-US" sz="1300" dirty="0"/>
          </a:p>
          <a:p>
            <a:pPr algn="ctr" indent="0" marL="0">
              <a:buNone/>
            </a:pPr>
            <a:r>
              <a:rPr lang="en-US" sz="1050" dirty="0">
                <a:solidFill>
                  <a:schemeClr val="tx1"/>
                </a:solidFill>
              </a:rPr>
              <a:t>Enquirer</a:t>
            </a:r>
            <a:endParaRPr lang="en-US" sz="1300" dirty="0"/>
          </a:p>
        </p:txBody>
      </p:sp>
      <p:sp>
        <p:nvSpPr>
          <p:cNvPr id="17" name="Timetable &amp; Attendance"/>
          <p:cNvSpPr/>
          <p:nvPr/>
        </p:nvSpPr>
        <p:spPr>
          <a:xfrm>
            <a:off x="3401568" y="3264408"/>
            <a:ext cx="2514600" cy="685800"/>
          </a:xfrm>
          <a:prstGeom prst="roundRect">
            <a:avLst>
              <a:gd name="adj" fmla="val 10667"/>
            </a:avLst>
          </a:prstGeom>
          <a:solidFill>
            <a:schemeClr val="accent5"/>
          </a:solidFill>
          <a:ln w="12700">
            <a:solidFill>
              <a:schemeClr val="accent5"/>
            </a:solidFill>
            <a:prstDash val="solid"/>
          </a:ln>
        </p:spPr>
      </p:sp>
      <p:sp>
        <p:nvSpPr>
          <p:cNvPr id="18" name="Timetable &amp; Attendance text"/>
          <p:cNvSpPr txBox="1"/>
          <p:nvPr/>
        </p:nvSpPr>
        <p:spPr>
          <a:xfrm>
            <a:off x="3447288" y="3264408"/>
            <a:ext cx="2423160" cy="685800"/>
          </a:xfrm>
          <a:prstGeom prst="rect">
            <a:avLst/>
          </a:prstGeom>
          <a:noFill/>
          <a:ln/>
        </p:spPr>
        <p:txBody>
          <a:bodyPr wrap="square" lIns="25400" tIns="25400" rIns="25400" bIns="25400" rtlCol="0" anchor="ctr"/>
          <a:lstStyle/>
          <a:p>
            <a:pPr algn="ctr" indent="0" marL="0">
              <a:buNone/>
            </a:pPr>
            <a:r>
              <a:rPr lang="en-US" sz="1300" b="1" dirty="0">
                <a:solidFill>
                  <a:schemeClr val="tx1"/>
                </a:solidFill>
              </a:rPr>
              <a:t>Timetable &amp; Attendance</a:t>
            </a:r>
            <a:endParaRPr lang="en-US" sz="1300" dirty="0"/>
          </a:p>
          <a:p>
            <a:pPr algn="ctr" indent="0" marL="0">
              <a:buNone/>
            </a:pPr>
            <a:r>
              <a:rPr lang="en-US" sz="1050" dirty="0">
                <a:solidFill>
                  <a:schemeClr val="tx1"/>
                </a:solidFill>
              </a:rPr>
              <a:t>Celcat</a:t>
            </a:r>
            <a:endParaRPr lang="en-US" sz="1300" dirty="0"/>
          </a:p>
        </p:txBody>
      </p:sp>
      <p:sp>
        <p:nvSpPr>
          <p:cNvPr id="19" name="Student Support"/>
          <p:cNvSpPr/>
          <p:nvPr/>
        </p:nvSpPr>
        <p:spPr>
          <a:xfrm>
            <a:off x="3401568" y="4105656"/>
            <a:ext cx="2514600" cy="685800"/>
          </a:xfrm>
          <a:prstGeom prst="roundRect">
            <a:avLst>
              <a:gd name="adj" fmla="val 10667"/>
            </a:avLst>
          </a:prstGeom>
          <a:solidFill>
            <a:schemeClr val="accent5"/>
          </a:solidFill>
          <a:ln w="12700">
            <a:solidFill>
              <a:schemeClr val="accent5"/>
            </a:solidFill>
            <a:prstDash val="solid"/>
          </a:ln>
        </p:spPr>
      </p:sp>
      <p:sp>
        <p:nvSpPr>
          <p:cNvPr id="20" name="Student Support text"/>
          <p:cNvSpPr txBox="1"/>
          <p:nvPr/>
        </p:nvSpPr>
        <p:spPr>
          <a:xfrm>
            <a:off x="3447288" y="4105656"/>
            <a:ext cx="2423160" cy="685800"/>
          </a:xfrm>
          <a:prstGeom prst="rect">
            <a:avLst/>
          </a:prstGeom>
          <a:noFill/>
          <a:ln/>
        </p:spPr>
        <p:txBody>
          <a:bodyPr wrap="square" lIns="25400" tIns="25400" rIns="25400" bIns="25400" rtlCol="0" anchor="ctr"/>
          <a:lstStyle/>
          <a:p>
            <a:pPr algn="ctr" indent="0" marL="0">
              <a:buNone/>
            </a:pPr>
            <a:r>
              <a:rPr lang="en-US" sz="1300" b="1" dirty="0">
                <a:solidFill>
                  <a:schemeClr val="tx1"/>
                </a:solidFill>
              </a:rPr>
              <a:t>Student Support</a:t>
            </a:r>
            <a:endParaRPr lang="en-US" sz="1300" dirty="0"/>
          </a:p>
          <a:p>
            <a:pPr algn="ctr" indent="0" marL="0">
              <a:buNone/>
            </a:pPr>
            <a:r>
              <a:rPr lang="en-US" sz="1050" dirty="0">
                <a:solidFill>
                  <a:schemeClr val="tx1"/>
                </a:solidFill>
              </a:rPr>
              <a:t>TripleS</a:t>
            </a:r>
            <a:endParaRPr lang="en-US" sz="1300" dirty="0"/>
          </a:p>
        </p:txBody>
      </p:sp>
      <p:sp>
        <p:nvSpPr>
          <p:cNvPr id="21" name="Student Funding"/>
          <p:cNvSpPr/>
          <p:nvPr/>
        </p:nvSpPr>
        <p:spPr>
          <a:xfrm>
            <a:off x="3401568" y="4946904"/>
            <a:ext cx="2514600" cy="685800"/>
          </a:xfrm>
          <a:prstGeom prst="roundRect">
            <a:avLst>
              <a:gd name="adj" fmla="val 10667"/>
            </a:avLst>
          </a:prstGeom>
          <a:solidFill>
            <a:schemeClr val="accent5"/>
          </a:solidFill>
          <a:ln w="12700">
            <a:solidFill>
              <a:schemeClr val="accent5"/>
            </a:solidFill>
            <a:prstDash val="solid"/>
          </a:ln>
        </p:spPr>
      </p:sp>
      <p:sp>
        <p:nvSpPr>
          <p:cNvPr id="22" name="Student Funding text"/>
          <p:cNvSpPr txBox="1"/>
          <p:nvPr/>
        </p:nvSpPr>
        <p:spPr>
          <a:xfrm>
            <a:off x="3447288" y="4946904"/>
            <a:ext cx="2423160" cy="685800"/>
          </a:xfrm>
          <a:prstGeom prst="rect">
            <a:avLst/>
          </a:prstGeom>
          <a:noFill/>
          <a:ln/>
        </p:spPr>
        <p:txBody>
          <a:bodyPr wrap="square" lIns="25400" tIns="25400" rIns="25400" bIns="25400" rtlCol="0" anchor="ctr"/>
          <a:lstStyle/>
          <a:p>
            <a:pPr algn="ctr" indent="0" marL="0">
              <a:buNone/>
            </a:pPr>
            <a:r>
              <a:rPr lang="en-US" sz="1300" b="1" dirty="0">
                <a:solidFill>
                  <a:schemeClr val="tx1"/>
                </a:solidFill>
              </a:rPr>
              <a:t>Student Funding</a:t>
            </a:r>
            <a:endParaRPr lang="en-US" sz="1300" dirty="0"/>
          </a:p>
          <a:p>
            <a:pPr algn="ctr" indent="0" marL="0">
              <a:buNone/>
            </a:pPr>
            <a:r>
              <a:rPr lang="en-US" sz="1050" dirty="0">
                <a:solidFill>
                  <a:schemeClr val="tx1"/>
                </a:solidFill>
              </a:rPr>
              <a:t>Bursary</a:t>
            </a:r>
            <a:endParaRPr lang="en-US" sz="1300" dirty="0"/>
          </a:p>
        </p:txBody>
      </p:sp>
      <p:sp>
        <p:nvSpPr>
          <p:cNvPr id="23" name="flow arrow 2"/>
          <p:cNvSpPr/>
          <p:nvPr/>
        </p:nvSpPr>
        <p:spPr>
          <a:xfrm>
            <a:off x="5952744" y="3200400"/>
            <a:ext cx="265176" cy="411480"/>
          </a:xfrm>
          <a:prstGeom prst="rightArrow">
            <a:avLst/>
          </a:prstGeom>
          <a:solidFill>
            <a:schemeClr val="tx2"/>
          </a:solidFill>
          <a:ln w="12700">
            <a:solidFill>
              <a:schemeClr val="tx2"/>
            </a:solidFill>
            <a:prstDash val="solid"/>
          </a:ln>
        </p:spPr>
      </p:sp>
      <p:sp>
        <p:nvSpPr>
          <p:cNvPr id="24" name="Text 22"/>
          <p:cNvSpPr txBox="1"/>
          <p:nvPr/>
        </p:nvSpPr>
        <p:spPr>
          <a:xfrm>
            <a:off x="6254496" y="1691640"/>
            <a:ext cx="2514600" cy="594360"/>
          </a:xfrm>
          <a:prstGeom prst="rect">
            <a:avLst/>
          </a:prstGeom>
          <a:noFill/>
          <a:ln/>
        </p:spPr>
        <p:txBody>
          <a:bodyPr wrap="square" lIns="0" tIns="0" rIns="0" bIns="0" rtlCol="0" anchor="t"/>
          <a:lstStyle/>
          <a:p>
            <a:pPr indent="0" marL="0">
              <a:buNone/>
            </a:pPr>
            <a:r>
              <a:rPr lang="en-US" sz="1600" b="1" dirty="0">
                <a:solidFill>
                  <a:schemeClr val="tx2"/>
                </a:solidFill>
              </a:rPr>
              <a:t>3  Core record</a:t>
            </a:r>
            <a:endParaRPr lang="en-US" sz="1600" dirty="0"/>
          </a:p>
          <a:p>
            <a:pPr indent="0" marL="0">
              <a:buNone/>
            </a:pPr>
            <a:r>
              <a:rPr lang="en-US" sz="1100" dirty="0">
                <a:solidFill>
                  <a:srgbClr val="6B6F80"/>
                </a:solidFill>
              </a:rPr>
              <a:t>Single source of truth</a:t>
            </a:r>
            <a:endParaRPr lang="en-US" sz="1600" dirty="0"/>
          </a:p>
        </p:txBody>
      </p:sp>
      <p:sp>
        <p:nvSpPr>
          <p:cNvPr id="25" name="UnitE core"/>
          <p:cNvSpPr/>
          <p:nvPr/>
        </p:nvSpPr>
        <p:spPr>
          <a:xfrm>
            <a:off x="6254496" y="2423160"/>
            <a:ext cx="2514600" cy="1965960"/>
          </a:xfrm>
          <a:prstGeom prst="roundRect">
            <a:avLst>
              <a:gd name="adj" fmla="val 3721"/>
            </a:avLst>
          </a:prstGeom>
          <a:solidFill>
            <a:schemeClr val="accent1"/>
          </a:solidFill>
          <a:ln w="12700">
            <a:solidFill>
              <a:schemeClr val="accent1"/>
            </a:solidFill>
            <a:prstDash val="solid"/>
          </a:ln>
          <a:effectLst>
            <a:outerShdw sx="100000" sy="100000" kx="0" ky="0" algn="bl" rotWithShape="0" blurRad="50800" dist="25400" dir="5400000">
              <a:srgbClr val="000000">
                <a:alpha val="15000"/>
              </a:srgbClr>
            </a:outerShdw>
          </a:effectLst>
        </p:spPr>
      </p:sp>
      <p:sp>
        <p:nvSpPr>
          <p:cNvPr id="26" name="UnitE core text"/>
          <p:cNvSpPr txBox="1"/>
          <p:nvPr/>
        </p:nvSpPr>
        <p:spPr>
          <a:xfrm>
            <a:off x="6300216" y="2423160"/>
            <a:ext cx="2423160" cy="1965960"/>
          </a:xfrm>
          <a:prstGeom prst="rect">
            <a:avLst/>
          </a:prstGeom>
          <a:noFill/>
          <a:ln/>
        </p:spPr>
        <p:txBody>
          <a:bodyPr wrap="square" lIns="25400" tIns="25400" rIns="25400" bIns="25400" rtlCol="0" anchor="ctr"/>
          <a:lstStyle/>
          <a:p>
            <a:pPr algn="ctr" indent="0" marL="0">
              <a:buNone/>
            </a:pPr>
            <a:r>
              <a:rPr lang="en-US" sz="1600" b="1" dirty="0">
                <a:solidFill>
                  <a:schemeClr val="bg1"/>
                </a:solidFill>
              </a:rPr>
              <a:t>Core MIS (UnitE)</a:t>
            </a:r>
            <a:endParaRPr lang="en-US" sz="1600" dirty="0"/>
          </a:p>
          <a:p>
            <a:pPr algn="ctr" indent="0" marL="0">
              <a:buNone/>
            </a:pPr>
            <a:r>
              <a:rPr lang="en-US" sz="1100" dirty="0">
                <a:solidFill>
                  <a:schemeClr val="bg1"/>
                </a:solidFill>
              </a:rPr>
              <a:t>Student: details, ASN, application, enrolment, course</a:t>
            </a:r>
            <a:endParaRPr lang="en-US" sz="1600" dirty="0"/>
          </a:p>
          <a:p>
            <a:pPr algn="ctr" indent="0" marL="0">
              <a:buNone/>
            </a:pPr>
            <a:r>
              <a:rPr lang="en-US" sz="1100" dirty="0">
                <a:solidFill>
                  <a:schemeClr val="bg1"/>
                </a:solidFill>
              </a:rPr>
              <a:t>Staff: details, organisation</a:t>
            </a:r>
            <a:endParaRPr lang="en-US" sz="1600" dirty="0"/>
          </a:p>
        </p:txBody>
      </p:sp>
      <p:sp>
        <p:nvSpPr>
          <p:cNvPr id="27" name="Dataserve"/>
          <p:cNvSpPr/>
          <p:nvPr/>
        </p:nvSpPr>
        <p:spPr>
          <a:xfrm>
            <a:off x="6254496" y="4526280"/>
            <a:ext cx="2514600" cy="566928"/>
          </a:xfrm>
          <a:prstGeom prst="roundRect">
            <a:avLst>
              <a:gd name="adj" fmla="val 12903"/>
            </a:avLst>
          </a:prstGeom>
          <a:solidFill>
            <a:schemeClr val="accent5"/>
          </a:solidFill>
          <a:ln w="12700">
            <a:solidFill>
              <a:schemeClr val="accent5"/>
            </a:solidFill>
            <a:prstDash val="solid"/>
          </a:ln>
        </p:spPr>
      </p:sp>
      <p:sp>
        <p:nvSpPr>
          <p:cNvPr id="28" name="Dataserve text"/>
          <p:cNvSpPr txBox="1"/>
          <p:nvPr/>
        </p:nvSpPr>
        <p:spPr>
          <a:xfrm>
            <a:off x="6300216" y="4526280"/>
            <a:ext cx="2423160" cy="566928"/>
          </a:xfrm>
          <a:prstGeom prst="rect">
            <a:avLst/>
          </a:prstGeom>
          <a:noFill/>
          <a:ln/>
        </p:spPr>
        <p:txBody>
          <a:bodyPr wrap="square" lIns="25400" tIns="25400" rIns="25400" bIns="25400" rtlCol="0" anchor="ctr"/>
          <a:lstStyle/>
          <a:p>
            <a:pPr algn="ctr" indent="0" marL="0">
              <a:buNone/>
            </a:pPr>
            <a:r>
              <a:rPr lang="en-US" sz="1300" b="1" dirty="0">
                <a:solidFill>
                  <a:schemeClr val="tx1"/>
                </a:solidFill>
              </a:rPr>
              <a:t>Student Record</a:t>
            </a:r>
            <a:endParaRPr lang="en-US" sz="1300" dirty="0"/>
          </a:p>
          <a:p>
            <a:pPr algn="ctr" indent="0" marL="0">
              <a:buNone/>
            </a:pPr>
            <a:r>
              <a:rPr lang="en-US" sz="1050" dirty="0">
                <a:solidFill>
                  <a:schemeClr val="tx1"/>
                </a:solidFill>
              </a:rPr>
              <a:t>Dataserve</a:t>
            </a:r>
            <a:endParaRPr lang="en-US" sz="1300" dirty="0"/>
          </a:p>
        </p:txBody>
      </p:sp>
      <p:sp>
        <p:nvSpPr>
          <p:cNvPr id="29" name="iTrent"/>
          <p:cNvSpPr/>
          <p:nvPr/>
        </p:nvSpPr>
        <p:spPr>
          <a:xfrm>
            <a:off x="6254496" y="5212080"/>
            <a:ext cx="2514600" cy="566928"/>
          </a:xfrm>
          <a:prstGeom prst="roundRect">
            <a:avLst>
              <a:gd name="adj" fmla="val 12903"/>
            </a:avLst>
          </a:prstGeom>
          <a:solidFill>
            <a:srgbClr val="FDF0DF"/>
          </a:solidFill>
          <a:ln w="12700">
            <a:solidFill>
              <a:srgbClr val="FDF0DF"/>
            </a:solidFill>
            <a:prstDash val="solid"/>
          </a:ln>
        </p:spPr>
      </p:sp>
      <p:sp>
        <p:nvSpPr>
          <p:cNvPr id="30" name="iTrent text"/>
          <p:cNvSpPr txBox="1"/>
          <p:nvPr/>
        </p:nvSpPr>
        <p:spPr>
          <a:xfrm>
            <a:off x="6300216" y="5212080"/>
            <a:ext cx="2423160" cy="566928"/>
          </a:xfrm>
          <a:prstGeom prst="rect">
            <a:avLst/>
          </a:prstGeom>
          <a:noFill/>
          <a:ln/>
        </p:spPr>
        <p:txBody>
          <a:bodyPr wrap="square" lIns="25400" tIns="25400" rIns="25400" bIns="25400" rtlCol="0" anchor="ctr"/>
          <a:lstStyle/>
          <a:p>
            <a:pPr algn="ctr" indent="0" marL="0">
              <a:buNone/>
            </a:pPr>
            <a:r>
              <a:rPr lang="en-US" sz="1300" b="1" dirty="0">
                <a:solidFill>
                  <a:schemeClr val="tx1"/>
                </a:solidFill>
              </a:rPr>
              <a:t>HR &amp; Payroll</a:t>
            </a:r>
            <a:endParaRPr lang="en-US" sz="1300" dirty="0"/>
          </a:p>
          <a:p>
            <a:pPr algn="ctr" indent="0" marL="0">
              <a:buNone/>
            </a:pPr>
            <a:r>
              <a:rPr lang="en-US" sz="1050" dirty="0">
                <a:solidFill>
                  <a:schemeClr val="tx1"/>
                </a:solidFill>
              </a:rPr>
              <a:t>iTrent  (staff data in)</a:t>
            </a:r>
            <a:endParaRPr lang="en-US" sz="1300" dirty="0"/>
          </a:p>
        </p:txBody>
      </p:sp>
      <p:sp>
        <p:nvSpPr>
          <p:cNvPr id="31" name="flow arrow 3"/>
          <p:cNvSpPr/>
          <p:nvPr/>
        </p:nvSpPr>
        <p:spPr>
          <a:xfrm>
            <a:off x="8805672" y="3200400"/>
            <a:ext cx="265176" cy="411480"/>
          </a:xfrm>
          <a:prstGeom prst="rightArrow">
            <a:avLst/>
          </a:prstGeom>
          <a:solidFill>
            <a:schemeClr val="tx2"/>
          </a:solidFill>
          <a:ln w="12700">
            <a:solidFill>
              <a:schemeClr val="tx2"/>
            </a:solidFill>
            <a:prstDash val="solid"/>
          </a:ln>
        </p:spPr>
      </p:sp>
      <p:sp>
        <p:nvSpPr>
          <p:cNvPr id="32" name="Text 30"/>
          <p:cNvSpPr txBox="1"/>
          <p:nvPr/>
        </p:nvSpPr>
        <p:spPr>
          <a:xfrm>
            <a:off x="9107424" y="1691640"/>
            <a:ext cx="2514600" cy="594360"/>
          </a:xfrm>
          <a:prstGeom prst="rect">
            <a:avLst/>
          </a:prstGeom>
          <a:noFill/>
          <a:ln/>
        </p:spPr>
        <p:txBody>
          <a:bodyPr wrap="square" lIns="0" tIns="0" rIns="0" bIns="0" rtlCol="0" anchor="t"/>
          <a:lstStyle/>
          <a:p>
            <a:pPr indent="0" marL="0">
              <a:buNone/>
            </a:pPr>
            <a:r>
              <a:rPr lang="en-US" sz="1600" b="1" dirty="0">
                <a:solidFill>
                  <a:schemeClr val="tx2"/>
                </a:solidFill>
              </a:rPr>
              <a:t>4  Serve &amp; report</a:t>
            </a:r>
            <a:endParaRPr lang="en-US" sz="1600" dirty="0"/>
          </a:p>
          <a:p>
            <a:pPr indent="0" marL="0">
              <a:buNone/>
            </a:pPr>
            <a:r>
              <a:rPr lang="en-US" sz="1100" dirty="0">
                <a:solidFill>
                  <a:srgbClr val="6B6F80"/>
                </a:solidFill>
              </a:rPr>
              <a:t>Where data goes out</a:t>
            </a:r>
            <a:endParaRPr lang="en-US" sz="1600" dirty="0"/>
          </a:p>
        </p:txBody>
      </p:sp>
      <p:sp>
        <p:nvSpPr>
          <p:cNvPr id="33" name="Student Self-Service"/>
          <p:cNvSpPr/>
          <p:nvPr/>
        </p:nvSpPr>
        <p:spPr>
          <a:xfrm>
            <a:off x="9107424" y="2423160"/>
            <a:ext cx="2514600" cy="685800"/>
          </a:xfrm>
          <a:prstGeom prst="roundRect">
            <a:avLst>
              <a:gd name="adj" fmla="val 10667"/>
            </a:avLst>
          </a:prstGeom>
          <a:solidFill>
            <a:schemeClr val="accent6"/>
          </a:solidFill>
          <a:ln w="12700">
            <a:solidFill>
              <a:schemeClr val="accent6"/>
            </a:solidFill>
            <a:prstDash val="solid"/>
          </a:ln>
        </p:spPr>
      </p:sp>
      <p:sp>
        <p:nvSpPr>
          <p:cNvPr id="34" name="Student Self-Service text"/>
          <p:cNvSpPr txBox="1"/>
          <p:nvPr/>
        </p:nvSpPr>
        <p:spPr>
          <a:xfrm>
            <a:off x="9153144" y="2423160"/>
            <a:ext cx="2423160" cy="685800"/>
          </a:xfrm>
          <a:prstGeom prst="rect">
            <a:avLst/>
          </a:prstGeom>
          <a:noFill/>
          <a:ln/>
        </p:spPr>
        <p:txBody>
          <a:bodyPr wrap="square" lIns="25400" tIns="25400" rIns="25400" bIns="25400" rtlCol="0" anchor="ctr"/>
          <a:lstStyle/>
          <a:p>
            <a:pPr algn="ctr" indent="0" marL="0">
              <a:buNone/>
            </a:pPr>
            <a:r>
              <a:rPr lang="en-US" sz="1300" b="1" dirty="0">
                <a:solidFill>
                  <a:schemeClr val="tx1"/>
                </a:solidFill>
              </a:rPr>
              <a:t>Student Self-Service</a:t>
            </a:r>
            <a:endParaRPr lang="en-US" sz="1300" dirty="0"/>
          </a:p>
          <a:p>
            <a:pPr algn="ctr" indent="0" marL="0">
              <a:buNone/>
            </a:pPr>
            <a:r>
              <a:rPr lang="en-US" sz="1050" dirty="0">
                <a:solidFill>
                  <a:schemeClr val="tx1"/>
                </a:solidFill>
              </a:rPr>
              <a:t>Student Portal</a:t>
            </a:r>
            <a:endParaRPr lang="en-US" sz="1300" dirty="0"/>
          </a:p>
        </p:txBody>
      </p:sp>
      <p:sp>
        <p:nvSpPr>
          <p:cNvPr id="35" name="Student Mobile App"/>
          <p:cNvSpPr/>
          <p:nvPr/>
        </p:nvSpPr>
        <p:spPr>
          <a:xfrm>
            <a:off x="9107424" y="3264408"/>
            <a:ext cx="2514600" cy="685800"/>
          </a:xfrm>
          <a:prstGeom prst="roundRect">
            <a:avLst>
              <a:gd name="adj" fmla="val 10667"/>
            </a:avLst>
          </a:prstGeom>
          <a:solidFill>
            <a:schemeClr val="accent6"/>
          </a:solidFill>
          <a:ln w="12700">
            <a:solidFill>
              <a:schemeClr val="accent6"/>
            </a:solidFill>
            <a:prstDash val="solid"/>
          </a:ln>
        </p:spPr>
      </p:sp>
      <p:sp>
        <p:nvSpPr>
          <p:cNvPr id="36" name="Student Mobile App text"/>
          <p:cNvSpPr txBox="1"/>
          <p:nvPr/>
        </p:nvSpPr>
        <p:spPr>
          <a:xfrm>
            <a:off x="9153144" y="3264408"/>
            <a:ext cx="2423160" cy="685800"/>
          </a:xfrm>
          <a:prstGeom prst="rect">
            <a:avLst/>
          </a:prstGeom>
          <a:noFill/>
          <a:ln/>
        </p:spPr>
        <p:txBody>
          <a:bodyPr wrap="square" lIns="25400" tIns="25400" rIns="25400" bIns="25400" rtlCol="0" anchor="ctr"/>
          <a:lstStyle/>
          <a:p>
            <a:pPr algn="ctr" indent="0" marL="0">
              <a:buNone/>
            </a:pPr>
            <a:r>
              <a:rPr lang="en-US" sz="1300" b="1" dirty="0">
                <a:solidFill>
                  <a:schemeClr val="tx1"/>
                </a:solidFill>
              </a:rPr>
              <a:t>Student Mobile App</a:t>
            </a:r>
            <a:endParaRPr lang="en-US" sz="1300" dirty="0"/>
          </a:p>
          <a:p>
            <a:pPr algn="ctr" indent="0" marL="0">
              <a:buNone/>
            </a:pPr>
            <a:r>
              <a:rPr lang="en-US" sz="1050" dirty="0">
                <a:solidFill>
                  <a:schemeClr val="tx1"/>
                </a:solidFill>
              </a:rPr>
              <a:t>CampusM</a:t>
            </a:r>
            <a:endParaRPr lang="en-US" sz="1300" dirty="0"/>
          </a:p>
        </p:txBody>
      </p:sp>
      <p:sp>
        <p:nvSpPr>
          <p:cNvPr id="37" name="Student Info Website"/>
          <p:cNvSpPr/>
          <p:nvPr/>
        </p:nvSpPr>
        <p:spPr>
          <a:xfrm>
            <a:off x="9107424" y="4105656"/>
            <a:ext cx="2514600" cy="685800"/>
          </a:xfrm>
          <a:prstGeom prst="roundRect">
            <a:avLst>
              <a:gd name="adj" fmla="val 10667"/>
            </a:avLst>
          </a:prstGeom>
          <a:solidFill>
            <a:schemeClr val="accent6"/>
          </a:solidFill>
          <a:ln w="12700">
            <a:solidFill>
              <a:schemeClr val="accent6"/>
            </a:solidFill>
            <a:prstDash val="solid"/>
          </a:ln>
        </p:spPr>
      </p:sp>
      <p:sp>
        <p:nvSpPr>
          <p:cNvPr id="38" name="Student Info Website text"/>
          <p:cNvSpPr txBox="1"/>
          <p:nvPr/>
        </p:nvSpPr>
        <p:spPr>
          <a:xfrm>
            <a:off x="9153144" y="4105656"/>
            <a:ext cx="2423160" cy="685800"/>
          </a:xfrm>
          <a:prstGeom prst="rect">
            <a:avLst/>
          </a:prstGeom>
          <a:noFill/>
          <a:ln/>
        </p:spPr>
        <p:txBody>
          <a:bodyPr wrap="square" lIns="25400" tIns="25400" rIns="25400" bIns="25400" rtlCol="0" anchor="ctr"/>
          <a:lstStyle/>
          <a:p>
            <a:pPr algn="ctr" indent="0" marL="0">
              <a:buNone/>
            </a:pPr>
            <a:r>
              <a:rPr lang="en-US" sz="1300" b="1" dirty="0">
                <a:solidFill>
                  <a:schemeClr val="tx1"/>
                </a:solidFill>
              </a:rPr>
              <a:t>Student Info Website</a:t>
            </a:r>
            <a:endParaRPr lang="en-US" sz="1300" dirty="0"/>
          </a:p>
          <a:p>
            <a:pPr algn="ctr" indent="0" marL="0">
              <a:buNone/>
            </a:pPr>
            <a:r>
              <a:rPr lang="en-US" sz="1050" dirty="0">
                <a:solidFill>
                  <a:schemeClr val="tx1"/>
                </a:solidFill>
              </a:rPr>
              <a:t>MyInfo</a:t>
            </a:r>
            <a:endParaRPr lang="en-US" sz="1300" dirty="0"/>
          </a:p>
        </p:txBody>
      </p:sp>
      <p:sp>
        <p:nvSpPr>
          <p:cNvPr id="39" name="BI Report"/>
          <p:cNvSpPr/>
          <p:nvPr/>
        </p:nvSpPr>
        <p:spPr>
          <a:xfrm>
            <a:off x="9107424" y="4946904"/>
            <a:ext cx="2514600" cy="685800"/>
          </a:xfrm>
          <a:prstGeom prst="roundRect">
            <a:avLst>
              <a:gd name="adj" fmla="val 10667"/>
            </a:avLst>
          </a:prstGeom>
          <a:solidFill>
            <a:schemeClr val="accent4"/>
          </a:solidFill>
          <a:ln w="12700">
            <a:solidFill>
              <a:schemeClr val="accent4"/>
            </a:solidFill>
            <a:prstDash val="solid"/>
          </a:ln>
        </p:spPr>
      </p:sp>
      <p:sp>
        <p:nvSpPr>
          <p:cNvPr id="40" name="BI Report text"/>
          <p:cNvSpPr txBox="1"/>
          <p:nvPr/>
        </p:nvSpPr>
        <p:spPr>
          <a:xfrm>
            <a:off x="9153144" y="4946904"/>
            <a:ext cx="2423160" cy="685800"/>
          </a:xfrm>
          <a:prstGeom prst="rect">
            <a:avLst/>
          </a:prstGeom>
          <a:noFill/>
          <a:ln/>
        </p:spPr>
        <p:txBody>
          <a:bodyPr wrap="square" lIns="25400" tIns="25400" rIns="25400" bIns="25400" rtlCol="0" anchor="ctr"/>
          <a:lstStyle/>
          <a:p>
            <a:pPr algn="ctr" indent="0" marL="0">
              <a:buNone/>
            </a:pPr>
            <a:r>
              <a:rPr lang="en-US" sz="1300" b="1" dirty="0">
                <a:solidFill>
                  <a:schemeClr val="bg1"/>
                </a:solidFill>
              </a:rPr>
              <a:t>BI Report</a:t>
            </a:r>
            <a:endParaRPr lang="en-US" sz="1300" dirty="0"/>
          </a:p>
          <a:p>
            <a:pPr algn="ctr" indent="0" marL="0">
              <a:buNone/>
            </a:pPr>
            <a:r>
              <a:rPr lang="en-US" sz="1050" dirty="0">
                <a:solidFill>
                  <a:schemeClr val="bg1"/>
                </a:solidFill>
              </a:rPr>
              <a:t>Power BI</a:t>
            </a:r>
            <a:endParaRPr lang="en-US" sz="1300" dirty="0"/>
          </a:p>
        </p:txBody>
      </p:sp>
      <p:sp>
        <p:nvSpPr>
          <p:cNvPr id="41" name="external band"/>
          <p:cNvSpPr/>
          <p:nvPr/>
        </p:nvSpPr>
        <p:spPr>
          <a:xfrm>
            <a:off x="548640" y="5852160"/>
            <a:ext cx="11064240" cy="457200"/>
          </a:xfrm>
          <a:prstGeom prst="roundRect">
            <a:avLst>
              <a:gd name="adj" fmla="val 20000"/>
            </a:avLst>
          </a:prstGeom>
          <a:solidFill>
            <a:schemeClr val="bg2"/>
          </a:solidFill>
          <a:ln w="12700">
            <a:solidFill>
              <a:schemeClr val="bg2"/>
            </a:solidFill>
            <a:prstDash val="solid"/>
          </a:ln>
        </p:spPr>
      </p:sp>
      <p:sp>
        <p:nvSpPr>
          <p:cNvPr id="42" name="Text 40"/>
          <p:cNvSpPr txBox="1"/>
          <p:nvPr/>
        </p:nvSpPr>
        <p:spPr>
          <a:xfrm>
            <a:off x="731520" y="5852160"/>
            <a:ext cx="10698480" cy="457200"/>
          </a:xfrm>
          <a:prstGeom prst="rect">
            <a:avLst/>
          </a:prstGeom>
          <a:noFill/>
          <a:ln/>
        </p:spPr>
        <p:txBody>
          <a:bodyPr wrap="square" lIns="0" tIns="0" rIns="0" bIns="0" rtlCol="0" anchor="ctr"/>
          <a:lstStyle/>
          <a:p>
            <a:pPr indent="0" marL="0">
              <a:buNone/>
            </a:pPr>
            <a:r>
              <a:rPr lang="en-US" sz="1200" b="1" dirty="0">
                <a:solidFill>
                  <a:schemeClr val="tx2"/>
                </a:solidFill>
              </a:rPr>
              <a:t>External partners feeding in and out:  </a:t>
            </a:r>
            <a:pPr indent="0" marL="0">
              <a:buNone/>
            </a:pPr>
            <a:r>
              <a:rPr lang="en-US" sz="1200" dirty="0">
                <a:solidFill>
                  <a:schemeClr val="tx1"/>
                </a:solidFill>
              </a:rPr>
              <a:t>Schools (transition info)  ·  UCAS  ·  SAAS  ·  Skills Development Scotland  ·  Partner universities  ·  Award bodies (SQA, City &amp; Guilds)</a:t>
            </a:r>
            <a:endParaRPr lang="en-US" sz="12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F80"/>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indent="0" marL="0">
              <a:buNone/>
            </a:pPr>
            <a:r>
              <a:rPr lang="en-US" sz="3200" b="1" dirty="0">
                <a:solidFill>
                  <a:schemeClr val="tx2"/>
                </a:solidFill>
              </a:rPr>
              <a:t>UnitE is the hub: what goes in and out</a:t>
            </a:r>
            <a:endParaRPr lang="en-US" sz="3200" dirty="0"/>
          </a:p>
        </p:txBody>
      </p:sp>
      <p:sp>
        <p:nvSpPr>
          <p:cNvPr id="3" name="Text 0"/>
          <p:cNvSpPr/>
          <p:nvPr>
            <p:ph idx="101" type="body" hasCustomPrompt="1"/>
          </p:nvPr>
        </p:nvSpPr>
        <p:spPr>
          <a:xfrm>
            <a:off x="548640" y="1005840"/>
            <a:ext cx="11064240" cy="411480"/>
          </a:xfrm>
          <a:prstGeom prst="rect">
            <a:avLst/>
          </a:prstGeom>
          <a:noFill/>
          <a:ln/>
        </p:spPr>
        <p:txBody>
          <a:bodyPr wrap="square" lIns="0" tIns="0" rIns="0" bIns="0" rtlCol="0" anchor="t"/>
          <a:lstStyle/>
          <a:p>
            <a:pPr indent="0" marL="0">
              <a:buNone/>
            </a:pPr>
            <a:r>
              <a:rPr lang="en-US" sz="1500" dirty="0">
                <a:solidFill>
                  <a:schemeClr val="tx1"/>
                </a:solidFill>
              </a:rPr>
              <a:t>Every core student system exchanges data with UnitE; amber lines are still done by hand</a:t>
            </a:r>
            <a:endParaRPr lang="en-US" sz="1500" dirty="0"/>
          </a:p>
        </p:txBody>
      </p:sp>
      <p:sp>
        <p:nvSpPr>
          <p:cNvPr id="4" name="hub UnitE"/>
          <p:cNvSpPr/>
          <p:nvPr/>
        </p:nvSpPr>
        <p:spPr>
          <a:xfrm>
            <a:off x="4910328" y="3246120"/>
            <a:ext cx="2377440" cy="1097280"/>
          </a:xfrm>
          <a:prstGeom prst="roundRect">
            <a:avLst>
              <a:gd name="adj" fmla="val 6667"/>
            </a:avLst>
          </a:prstGeom>
          <a:solidFill>
            <a:schemeClr val="accent1"/>
          </a:solidFill>
          <a:ln w="12700">
            <a:solidFill>
              <a:schemeClr val="accent1"/>
            </a:solidFill>
            <a:prstDash val="solid"/>
          </a:ln>
          <a:effectLst>
            <a:outerShdw sx="100000" sy="100000" kx="0" ky="0" algn="bl" rotWithShape="0" blurRad="50800" dist="25400" dir="5400000">
              <a:srgbClr val="000000">
                <a:alpha val="15000"/>
              </a:srgbClr>
            </a:outerShdw>
          </a:effectLst>
        </p:spPr>
      </p:sp>
      <p:sp>
        <p:nvSpPr>
          <p:cNvPr id="5" name="hub UnitE text"/>
          <p:cNvSpPr txBox="1"/>
          <p:nvPr/>
        </p:nvSpPr>
        <p:spPr>
          <a:xfrm>
            <a:off x="4956048" y="3246120"/>
            <a:ext cx="2286000" cy="1097280"/>
          </a:xfrm>
          <a:prstGeom prst="rect">
            <a:avLst/>
          </a:prstGeom>
          <a:noFill/>
          <a:ln/>
        </p:spPr>
        <p:txBody>
          <a:bodyPr wrap="square" lIns="25400" tIns="25400" rIns="25400" bIns="25400" rtlCol="0" anchor="ctr"/>
          <a:lstStyle/>
          <a:p>
            <a:pPr algn="ctr" indent="0" marL="0">
              <a:buNone/>
            </a:pPr>
            <a:r>
              <a:rPr lang="en-US" sz="2000" b="1" dirty="0">
                <a:solidFill>
                  <a:schemeClr val="bg1"/>
                </a:solidFill>
              </a:rPr>
              <a:t>UnitE</a:t>
            </a:r>
            <a:endParaRPr lang="en-US" sz="2000" dirty="0"/>
          </a:p>
          <a:p>
            <a:pPr algn="ctr" indent="0" marL="0">
              <a:buNone/>
            </a:pPr>
            <a:r>
              <a:rPr lang="en-US" sz="1100" dirty="0">
                <a:solidFill>
                  <a:schemeClr val="bg1"/>
                </a:solidFill>
              </a:rPr>
              <a:t>Core MIS (student &amp; staff)</a:t>
            </a:r>
            <a:endParaRPr lang="en-US" sz="2000" dirty="0"/>
          </a:p>
        </p:txBody>
      </p:sp>
      <p:sp>
        <p:nvSpPr>
          <p:cNvPr id="6" name="spoke Timetable &amp; Attendance"/>
          <p:cNvSpPr/>
          <p:nvPr/>
        </p:nvSpPr>
        <p:spPr>
          <a:xfrm>
            <a:off x="548640" y="1600200"/>
            <a:ext cx="2240280" cy="777240"/>
          </a:xfrm>
          <a:prstGeom prst="roundRect">
            <a:avLst>
              <a:gd name="adj" fmla="val 9412"/>
            </a:avLst>
          </a:prstGeom>
          <a:solidFill>
            <a:schemeClr val="accent5"/>
          </a:solidFill>
          <a:ln w="12700">
            <a:solidFill>
              <a:schemeClr val="accent5"/>
            </a:solidFill>
            <a:prstDash val="solid"/>
          </a:ln>
        </p:spPr>
      </p:sp>
      <p:sp>
        <p:nvSpPr>
          <p:cNvPr id="7" name="spoke Timetable &amp; Attendance text"/>
          <p:cNvSpPr txBox="1"/>
          <p:nvPr/>
        </p:nvSpPr>
        <p:spPr>
          <a:xfrm>
            <a:off x="594360" y="1600200"/>
            <a:ext cx="2148840" cy="777240"/>
          </a:xfrm>
          <a:prstGeom prst="rect">
            <a:avLst/>
          </a:prstGeom>
          <a:noFill/>
          <a:ln/>
        </p:spPr>
        <p:txBody>
          <a:bodyPr wrap="square" lIns="25400" tIns="25400" rIns="25400" bIns="25400" rtlCol="0" anchor="ctr"/>
          <a:lstStyle/>
          <a:p>
            <a:pPr algn="ctr" indent="0" marL="0">
              <a:buNone/>
            </a:pPr>
            <a:r>
              <a:rPr lang="en-US" sz="1200" b="1" dirty="0">
                <a:solidFill>
                  <a:schemeClr val="tx1"/>
                </a:solidFill>
              </a:rPr>
              <a:t>Timetable &amp; Attendance</a:t>
            </a:r>
            <a:endParaRPr lang="en-US" sz="1200" dirty="0"/>
          </a:p>
          <a:p>
            <a:pPr algn="ctr" indent="0" marL="0">
              <a:buNone/>
            </a:pPr>
            <a:r>
              <a:rPr lang="en-US" sz="1000" dirty="0">
                <a:solidFill>
                  <a:schemeClr val="tx1"/>
                </a:solidFill>
              </a:rPr>
              <a:t>Celcat · timetable, attendance</a:t>
            </a:r>
            <a:endParaRPr lang="en-US" sz="1200" dirty="0"/>
          </a:p>
        </p:txBody>
      </p:sp>
      <p:sp>
        <p:nvSpPr>
          <p:cNvPr id="8" name="Shape 6"/>
          <p:cNvSpPr/>
          <p:nvPr/>
        </p:nvSpPr>
        <p:spPr>
          <a:xfrm flipH="1" flipV="1">
            <a:off x="2734287" y="2423160"/>
            <a:ext cx="2130321" cy="868397"/>
          </a:xfrm>
          <a:prstGeom prst="line">
            <a:avLst/>
          </a:prstGeom>
          <a:noFill/>
          <a:ln w="22225">
            <a:solidFill>
              <a:schemeClr val="accent1"/>
            </a:solidFill>
            <a:prstDash val="solid"/>
            <a:tailEnd type="triangle"/>
          </a:ln>
        </p:spPr>
      </p:sp>
      <p:sp>
        <p:nvSpPr>
          <p:cNvPr id="9" name="spoke Enquiry Management"/>
          <p:cNvSpPr/>
          <p:nvPr/>
        </p:nvSpPr>
        <p:spPr>
          <a:xfrm>
            <a:off x="3794760" y="1600200"/>
            <a:ext cx="2240280" cy="777240"/>
          </a:xfrm>
          <a:prstGeom prst="roundRect">
            <a:avLst>
              <a:gd name="adj" fmla="val 9412"/>
            </a:avLst>
          </a:prstGeom>
          <a:solidFill>
            <a:schemeClr val="accent5"/>
          </a:solidFill>
          <a:ln w="12700">
            <a:solidFill>
              <a:schemeClr val="accent5"/>
            </a:solidFill>
            <a:prstDash val="solid"/>
          </a:ln>
        </p:spPr>
      </p:sp>
      <p:sp>
        <p:nvSpPr>
          <p:cNvPr id="10" name="spoke Enquiry Management text"/>
          <p:cNvSpPr txBox="1"/>
          <p:nvPr/>
        </p:nvSpPr>
        <p:spPr>
          <a:xfrm>
            <a:off x="3840480" y="1600200"/>
            <a:ext cx="2148840" cy="777240"/>
          </a:xfrm>
          <a:prstGeom prst="rect">
            <a:avLst/>
          </a:prstGeom>
          <a:noFill/>
          <a:ln/>
        </p:spPr>
        <p:txBody>
          <a:bodyPr wrap="square" lIns="25400" tIns="25400" rIns="25400" bIns="25400" rtlCol="0" anchor="ctr"/>
          <a:lstStyle/>
          <a:p>
            <a:pPr algn="ctr" indent="0" marL="0">
              <a:buNone/>
            </a:pPr>
            <a:r>
              <a:rPr lang="en-US" sz="1200" b="1" dirty="0">
                <a:solidFill>
                  <a:schemeClr val="tx1"/>
                </a:solidFill>
              </a:rPr>
              <a:t>Enquiry Management</a:t>
            </a:r>
            <a:endParaRPr lang="en-US" sz="1200" dirty="0"/>
          </a:p>
          <a:p>
            <a:pPr algn="ctr" indent="0" marL="0">
              <a:buNone/>
            </a:pPr>
            <a:r>
              <a:rPr lang="en-US" sz="1000" dirty="0">
                <a:solidFill>
                  <a:schemeClr val="tx1"/>
                </a:solidFill>
              </a:rPr>
              <a:t>Enquirer · application status</a:t>
            </a:r>
            <a:endParaRPr lang="en-US" sz="1200" dirty="0"/>
          </a:p>
        </p:txBody>
      </p:sp>
      <p:sp>
        <p:nvSpPr>
          <p:cNvPr id="11" name="Shape 9"/>
          <p:cNvSpPr/>
          <p:nvPr/>
        </p:nvSpPr>
        <p:spPr>
          <a:xfrm flipH="1" flipV="1">
            <a:off x="5146168" y="2458258"/>
            <a:ext cx="509633" cy="777240"/>
          </a:xfrm>
          <a:prstGeom prst="line">
            <a:avLst/>
          </a:prstGeom>
          <a:noFill/>
          <a:ln w="22225">
            <a:solidFill>
              <a:schemeClr val="accent1"/>
            </a:solidFill>
            <a:prstDash val="solid"/>
            <a:tailEnd type="triangle"/>
          </a:ln>
        </p:spPr>
      </p:sp>
      <p:sp>
        <p:nvSpPr>
          <p:cNvPr id="12" name="Shape 10"/>
          <p:cNvSpPr/>
          <p:nvPr/>
        </p:nvSpPr>
        <p:spPr>
          <a:xfrm>
            <a:off x="5253222" y="2388062"/>
            <a:ext cx="509633" cy="777240"/>
          </a:xfrm>
          <a:prstGeom prst="line">
            <a:avLst/>
          </a:prstGeom>
          <a:noFill/>
          <a:ln w="22225">
            <a:solidFill>
              <a:schemeClr val="accent3"/>
            </a:solidFill>
            <a:prstDash val="dash"/>
            <a:tailEnd type="triangle"/>
          </a:ln>
        </p:spPr>
      </p:sp>
      <p:sp>
        <p:nvSpPr>
          <p:cNvPr id="13" name="spoke Student Support"/>
          <p:cNvSpPr/>
          <p:nvPr/>
        </p:nvSpPr>
        <p:spPr>
          <a:xfrm>
            <a:off x="7040880" y="1600200"/>
            <a:ext cx="2240280" cy="777240"/>
          </a:xfrm>
          <a:prstGeom prst="roundRect">
            <a:avLst>
              <a:gd name="adj" fmla="val 9412"/>
            </a:avLst>
          </a:prstGeom>
          <a:solidFill>
            <a:schemeClr val="accent5"/>
          </a:solidFill>
          <a:ln w="12700">
            <a:solidFill>
              <a:schemeClr val="accent5"/>
            </a:solidFill>
            <a:prstDash val="solid"/>
          </a:ln>
        </p:spPr>
      </p:sp>
      <p:sp>
        <p:nvSpPr>
          <p:cNvPr id="14" name="spoke Student Support text"/>
          <p:cNvSpPr txBox="1"/>
          <p:nvPr/>
        </p:nvSpPr>
        <p:spPr>
          <a:xfrm>
            <a:off x="7086600" y="1600200"/>
            <a:ext cx="2148840" cy="777240"/>
          </a:xfrm>
          <a:prstGeom prst="rect">
            <a:avLst/>
          </a:prstGeom>
          <a:noFill/>
          <a:ln/>
        </p:spPr>
        <p:txBody>
          <a:bodyPr wrap="square" lIns="25400" tIns="25400" rIns="25400" bIns="25400" rtlCol="0" anchor="ctr"/>
          <a:lstStyle/>
          <a:p>
            <a:pPr algn="ctr" indent="0" marL="0">
              <a:buNone/>
            </a:pPr>
            <a:r>
              <a:rPr lang="en-US" sz="1200" b="1" dirty="0">
                <a:solidFill>
                  <a:schemeClr val="tx1"/>
                </a:solidFill>
              </a:rPr>
              <a:t>Student Support</a:t>
            </a:r>
            <a:endParaRPr lang="en-US" sz="1200" dirty="0"/>
          </a:p>
          <a:p>
            <a:pPr algn="ctr" indent="0" marL="0">
              <a:buNone/>
            </a:pPr>
            <a:r>
              <a:rPr lang="en-US" sz="1000" dirty="0">
                <a:solidFill>
                  <a:schemeClr val="tx1"/>
                </a:solidFill>
              </a:rPr>
              <a:t>TripleS · ASN, school transition</a:t>
            </a:r>
            <a:endParaRPr lang="en-US" sz="1200" dirty="0"/>
          </a:p>
        </p:txBody>
      </p:sp>
      <p:sp>
        <p:nvSpPr>
          <p:cNvPr id="15" name="Shape 13"/>
          <p:cNvSpPr/>
          <p:nvPr/>
        </p:nvSpPr>
        <p:spPr>
          <a:xfrm flipV="1">
            <a:off x="6777672" y="2423160"/>
            <a:ext cx="887431" cy="777240"/>
          </a:xfrm>
          <a:prstGeom prst="line">
            <a:avLst/>
          </a:prstGeom>
          <a:noFill/>
          <a:ln w="22225">
            <a:solidFill>
              <a:schemeClr val="accent1"/>
            </a:solidFill>
            <a:prstDash val="solid"/>
            <a:tailEnd type="triangle"/>
          </a:ln>
        </p:spPr>
      </p:sp>
      <p:sp>
        <p:nvSpPr>
          <p:cNvPr id="16" name="spoke Student Funding"/>
          <p:cNvSpPr/>
          <p:nvPr/>
        </p:nvSpPr>
        <p:spPr>
          <a:xfrm>
            <a:off x="9372600" y="2514600"/>
            <a:ext cx="2240280" cy="777240"/>
          </a:xfrm>
          <a:prstGeom prst="roundRect">
            <a:avLst>
              <a:gd name="adj" fmla="val 9412"/>
            </a:avLst>
          </a:prstGeom>
          <a:solidFill>
            <a:schemeClr val="accent5"/>
          </a:solidFill>
          <a:ln w="12700">
            <a:solidFill>
              <a:schemeClr val="accent5"/>
            </a:solidFill>
            <a:prstDash val="solid"/>
          </a:ln>
        </p:spPr>
      </p:sp>
      <p:sp>
        <p:nvSpPr>
          <p:cNvPr id="17" name="spoke Student Funding text"/>
          <p:cNvSpPr txBox="1"/>
          <p:nvPr/>
        </p:nvSpPr>
        <p:spPr>
          <a:xfrm>
            <a:off x="9418320" y="2514600"/>
            <a:ext cx="2148840" cy="777240"/>
          </a:xfrm>
          <a:prstGeom prst="rect">
            <a:avLst/>
          </a:prstGeom>
          <a:noFill/>
          <a:ln/>
        </p:spPr>
        <p:txBody>
          <a:bodyPr wrap="square" lIns="25400" tIns="25400" rIns="25400" bIns="25400" rtlCol="0" anchor="ctr"/>
          <a:lstStyle/>
          <a:p>
            <a:pPr algn="ctr" indent="0" marL="0">
              <a:buNone/>
            </a:pPr>
            <a:r>
              <a:rPr lang="en-US" sz="1200" b="1" dirty="0">
                <a:solidFill>
                  <a:schemeClr val="tx1"/>
                </a:solidFill>
              </a:rPr>
              <a:t>Student Funding</a:t>
            </a:r>
            <a:endParaRPr lang="en-US" sz="1200" dirty="0"/>
          </a:p>
          <a:p>
            <a:pPr algn="ctr" indent="0" marL="0">
              <a:buNone/>
            </a:pPr>
            <a:r>
              <a:rPr lang="en-US" sz="1000" dirty="0">
                <a:solidFill>
                  <a:schemeClr val="tx1"/>
                </a:solidFill>
              </a:rPr>
              <a:t>Bursary · detail, award, evidence</a:t>
            </a:r>
            <a:endParaRPr lang="en-US" sz="1200" dirty="0"/>
          </a:p>
        </p:txBody>
      </p:sp>
      <p:sp>
        <p:nvSpPr>
          <p:cNvPr id="18" name="Shape 16"/>
          <p:cNvSpPr/>
          <p:nvPr/>
        </p:nvSpPr>
        <p:spPr>
          <a:xfrm flipV="1">
            <a:off x="7320759" y="3077059"/>
            <a:ext cx="1993392" cy="404486"/>
          </a:xfrm>
          <a:prstGeom prst="line">
            <a:avLst/>
          </a:prstGeom>
          <a:noFill/>
          <a:ln w="22225">
            <a:solidFill>
              <a:schemeClr val="accent1"/>
            </a:solidFill>
            <a:prstDash val="solid"/>
            <a:tailEnd type="triangle"/>
          </a:ln>
        </p:spPr>
      </p:sp>
      <p:sp>
        <p:nvSpPr>
          <p:cNvPr id="19" name="Shape 17"/>
          <p:cNvSpPr/>
          <p:nvPr/>
        </p:nvSpPr>
        <p:spPr>
          <a:xfrm flipH="1">
            <a:off x="7346217" y="3202519"/>
            <a:ext cx="1993392" cy="404486"/>
          </a:xfrm>
          <a:prstGeom prst="line">
            <a:avLst/>
          </a:prstGeom>
          <a:noFill/>
          <a:ln w="22225">
            <a:solidFill>
              <a:schemeClr val="accent3"/>
            </a:solidFill>
            <a:prstDash val="dash"/>
            <a:tailEnd type="triangle"/>
          </a:ln>
        </p:spPr>
      </p:sp>
      <p:sp>
        <p:nvSpPr>
          <p:cNvPr id="20" name="spoke Student Self-Service"/>
          <p:cNvSpPr/>
          <p:nvPr/>
        </p:nvSpPr>
        <p:spPr>
          <a:xfrm>
            <a:off x="9372600" y="3931920"/>
            <a:ext cx="2240280" cy="777240"/>
          </a:xfrm>
          <a:prstGeom prst="roundRect">
            <a:avLst>
              <a:gd name="adj" fmla="val 9412"/>
            </a:avLst>
          </a:prstGeom>
          <a:solidFill>
            <a:schemeClr val="accent5"/>
          </a:solidFill>
          <a:ln w="12700">
            <a:solidFill>
              <a:schemeClr val="accent5"/>
            </a:solidFill>
            <a:prstDash val="solid"/>
          </a:ln>
        </p:spPr>
      </p:sp>
      <p:sp>
        <p:nvSpPr>
          <p:cNvPr id="21" name="spoke Student Self-Service text"/>
          <p:cNvSpPr txBox="1"/>
          <p:nvPr/>
        </p:nvSpPr>
        <p:spPr>
          <a:xfrm>
            <a:off x="9418320" y="3931920"/>
            <a:ext cx="2148840" cy="777240"/>
          </a:xfrm>
          <a:prstGeom prst="rect">
            <a:avLst/>
          </a:prstGeom>
          <a:noFill/>
          <a:ln/>
        </p:spPr>
        <p:txBody>
          <a:bodyPr wrap="square" lIns="25400" tIns="25400" rIns="25400" bIns="25400" rtlCol="0" anchor="ctr"/>
          <a:lstStyle/>
          <a:p>
            <a:pPr algn="ctr" indent="0" marL="0">
              <a:buNone/>
            </a:pPr>
            <a:r>
              <a:rPr lang="en-US" sz="1200" b="1" dirty="0">
                <a:solidFill>
                  <a:schemeClr val="tx1"/>
                </a:solidFill>
              </a:rPr>
              <a:t>Student Self-Service</a:t>
            </a:r>
            <a:endParaRPr lang="en-US" sz="1200" dirty="0"/>
          </a:p>
          <a:p>
            <a:pPr algn="ctr" indent="0" marL="0">
              <a:buNone/>
            </a:pPr>
            <a:r>
              <a:rPr lang="en-US" sz="1000" dirty="0">
                <a:solidFill>
                  <a:schemeClr val="tx1"/>
                </a:solidFill>
              </a:rPr>
              <a:t>Student Portal · enrolment, course</a:t>
            </a:r>
            <a:endParaRPr lang="en-US" sz="1200" dirty="0"/>
          </a:p>
        </p:txBody>
      </p:sp>
      <p:sp>
        <p:nvSpPr>
          <p:cNvPr id="22" name="Shape 20"/>
          <p:cNvSpPr/>
          <p:nvPr/>
        </p:nvSpPr>
        <p:spPr>
          <a:xfrm>
            <a:off x="7341093" y="3878927"/>
            <a:ext cx="1993392" cy="238543"/>
          </a:xfrm>
          <a:prstGeom prst="line">
            <a:avLst/>
          </a:prstGeom>
          <a:noFill/>
          <a:ln w="22225">
            <a:solidFill>
              <a:schemeClr val="accent1"/>
            </a:solidFill>
            <a:prstDash val="solid"/>
            <a:tailEnd type="triangle"/>
          </a:ln>
        </p:spPr>
      </p:sp>
      <p:sp>
        <p:nvSpPr>
          <p:cNvPr id="23" name="Shape 21"/>
          <p:cNvSpPr/>
          <p:nvPr/>
        </p:nvSpPr>
        <p:spPr>
          <a:xfrm flipH="1" flipV="1">
            <a:off x="7325883" y="4006036"/>
            <a:ext cx="1993392" cy="238543"/>
          </a:xfrm>
          <a:prstGeom prst="line">
            <a:avLst/>
          </a:prstGeom>
          <a:noFill/>
          <a:ln w="22225">
            <a:solidFill>
              <a:schemeClr val="accent3"/>
            </a:solidFill>
            <a:prstDash val="dash"/>
            <a:tailEnd type="triangle"/>
          </a:ln>
        </p:spPr>
      </p:sp>
      <p:sp>
        <p:nvSpPr>
          <p:cNvPr id="24" name="spoke Data Connector"/>
          <p:cNvSpPr/>
          <p:nvPr/>
        </p:nvSpPr>
        <p:spPr>
          <a:xfrm>
            <a:off x="9372600" y="5120640"/>
            <a:ext cx="2240280" cy="777240"/>
          </a:xfrm>
          <a:prstGeom prst="roundRect">
            <a:avLst>
              <a:gd name="adj" fmla="val 9412"/>
            </a:avLst>
          </a:prstGeom>
          <a:solidFill>
            <a:schemeClr val="accent5"/>
          </a:solidFill>
          <a:ln w="12700">
            <a:solidFill>
              <a:schemeClr val="accent5"/>
            </a:solidFill>
            <a:prstDash val="solid"/>
          </a:ln>
        </p:spPr>
      </p:sp>
      <p:sp>
        <p:nvSpPr>
          <p:cNvPr id="25" name="spoke Data Connector text"/>
          <p:cNvSpPr txBox="1"/>
          <p:nvPr/>
        </p:nvSpPr>
        <p:spPr>
          <a:xfrm>
            <a:off x="9418320" y="5120640"/>
            <a:ext cx="2148840" cy="777240"/>
          </a:xfrm>
          <a:prstGeom prst="rect">
            <a:avLst/>
          </a:prstGeom>
          <a:noFill/>
          <a:ln/>
        </p:spPr>
        <p:txBody>
          <a:bodyPr wrap="square" lIns="25400" tIns="25400" rIns="25400" bIns="25400" rtlCol="0" anchor="ctr"/>
          <a:lstStyle/>
          <a:p>
            <a:pPr algn="ctr" indent="0" marL="0">
              <a:buNone/>
            </a:pPr>
            <a:r>
              <a:rPr lang="en-US" sz="1200" b="1" dirty="0">
                <a:solidFill>
                  <a:schemeClr val="tx1"/>
                </a:solidFill>
              </a:rPr>
              <a:t>Data Connector</a:t>
            </a:r>
            <a:endParaRPr lang="en-US" sz="1200" dirty="0"/>
          </a:p>
          <a:p>
            <a:pPr algn="ctr" indent="0" marL="0">
              <a:buNone/>
            </a:pPr>
            <a:r>
              <a:rPr lang="en-US" sz="1000" dirty="0">
                <a:solidFill>
                  <a:schemeClr val="tx1"/>
                </a:solidFill>
              </a:rPr>
              <a:t>SQL Server → Power BI</a:t>
            </a:r>
            <a:endParaRPr lang="en-US" sz="1200" dirty="0"/>
          </a:p>
        </p:txBody>
      </p:sp>
      <p:sp>
        <p:nvSpPr>
          <p:cNvPr id="26" name="Shape 24"/>
          <p:cNvSpPr/>
          <p:nvPr/>
        </p:nvSpPr>
        <p:spPr>
          <a:xfrm>
            <a:off x="7333488" y="4276461"/>
            <a:ext cx="2046183" cy="798459"/>
          </a:xfrm>
          <a:prstGeom prst="line">
            <a:avLst/>
          </a:prstGeom>
          <a:noFill/>
          <a:ln w="22225">
            <a:solidFill>
              <a:schemeClr val="accent1"/>
            </a:solidFill>
            <a:prstDash val="solid"/>
            <a:tailEnd type="triangle"/>
          </a:ln>
        </p:spPr>
      </p:sp>
      <p:sp>
        <p:nvSpPr>
          <p:cNvPr id="27" name="spoke Student Record"/>
          <p:cNvSpPr/>
          <p:nvPr/>
        </p:nvSpPr>
        <p:spPr>
          <a:xfrm>
            <a:off x="6400800" y="5120640"/>
            <a:ext cx="2240280" cy="777240"/>
          </a:xfrm>
          <a:prstGeom prst="roundRect">
            <a:avLst>
              <a:gd name="adj" fmla="val 9412"/>
            </a:avLst>
          </a:prstGeom>
          <a:solidFill>
            <a:schemeClr val="accent5"/>
          </a:solidFill>
          <a:ln w="12700">
            <a:solidFill>
              <a:schemeClr val="accent5"/>
            </a:solidFill>
            <a:prstDash val="solid"/>
          </a:ln>
        </p:spPr>
      </p:sp>
      <p:sp>
        <p:nvSpPr>
          <p:cNvPr id="28" name="spoke Student Record text"/>
          <p:cNvSpPr txBox="1"/>
          <p:nvPr/>
        </p:nvSpPr>
        <p:spPr>
          <a:xfrm>
            <a:off x="6446520" y="5120640"/>
            <a:ext cx="2148840" cy="777240"/>
          </a:xfrm>
          <a:prstGeom prst="rect">
            <a:avLst/>
          </a:prstGeom>
          <a:noFill/>
          <a:ln/>
        </p:spPr>
        <p:txBody>
          <a:bodyPr wrap="square" lIns="25400" tIns="25400" rIns="25400" bIns="25400" rtlCol="0" anchor="ctr"/>
          <a:lstStyle/>
          <a:p>
            <a:pPr algn="ctr" indent="0" marL="0">
              <a:buNone/>
            </a:pPr>
            <a:r>
              <a:rPr lang="en-US" sz="1200" b="1" dirty="0">
                <a:solidFill>
                  <a:schemeClr val="tx1"/>
                </a:solidFill>
              </a:rPr>
              <a:t>Student Record</a:t>
            </a:r>
            <a:endParaRPr lang="en-US" sz="1200" dirty="0"/>
          </a:p>
          <a:p>
            <a:pPr algn="ctr" indent="0" marL="0">
              <a:buNone/>
            </a:pPr>
            <a:r>
              <a:rPr lang="en-US" sz="1000" dirty="0">
                <a:solidFill>
                  <a:schemeClr val="tx1"/>
                </a:solidFill>
              </a:rPr>
              <a:t>Dataserve</a:t>
            </a:r>
            <a:endParaRPr lang="en-US" sz="1200" dirty="0"/>
          </a:p>
        </p:txBody>
      </p:sp>
      <p:sp>
        <p:nvSpPr>
          <p:cNvPr id="29" name="Shape 27"/>
          <p:cNvSpPr/>
          <p:nvPr/>
        </p:nvSpPr>
        <p:spPr>
          <a:xfrm>
            <a:off x="6591971" y="4389120"/>
            <a:ext cx="568757" cy="685800"/>
          </a:xfrm>
          <a:prstGeom prst="line">
            <a:avLst/>
          </a:prstGeom>
          <a:noFill/>
          <a:ln w="22225">
            <a:solidFill>
              <a:schemeClr val="accent1"/>
            </a:solidFill>
            <a:prstDash val="solid"/>
            <a:tailEnd type="triangle"/>
          </a:ln>
        </p:spPr>
      </p:sp>
      <p:sp>
        <p:nvSpPr>
          <p:cNvPr id="30" name="spoke Apprenticeship E-portfolio"/>
          <p:cNvSpPr/>
          <p:nvPr/>
        </p:nvSpPr>
        <p:spPr>
          <a:xfrm>
            <a:off x="3703320" y="5120640"/>
            <a:ext cx="2240280" cy="777240"/>
          </a:xfrm>
          <a:prstGeom prst="roundRect">
            <a:avLst>
              <a:gd name="adj" fmla="val 9412"/>
            </a:avLst>
          </a:prstGeom>
          <a:solidFill>
            <a:srgbClr val="FDF0DF"/>
          </a:solidFill>
          <a:ln w="12700">
            <a:solidFill>
              <a:srgbClr val="FDF0DF"/>
            </a:solidFill>
            <a:prstDash val="solid"/>
          </a:ln>
        </p:spPr>
      </p:sp>
      <p:sp>
        <p:nvSpPr>
          <p:cNvPr id="31" name="spoke Apprenticeship E-portfolio text"/>
          <p:cNvSpPr txBox="1"/>
          <p:nvPr/>
        </p:nvSpPr>
        <p:spPr>
          <a:xfrm>
            <a:off x="3749040" y="5120640"/>
            <a:ext cx="2148840" cy="777240"/>
          </a:xfrm>
          <a:prstGeom prst="rect">
            <a:avLst/>
          </a:prstGeom>
          <a:noFill/>
          <a:ln/>
        </p:spPr>
        <p:txBody>
          <a:bodyPr wrap="square" lIns="25400" tIns="25400" rIns="25400" bIns="25400" rtlCol="0" anchor="ctr"/>
          <a:lstStyle/>
          <a:p>
            <a:pPr algn="ctr" indent="0" marL="0">
              <a:buNone/>
            </a:pPr>
            <a:r>
              <a:rPr lang="en-US" sz="1200" b="1" dirty="0">
                <a:solidFill>
                  <a:schemeClr val="tx1"/>
                </a:solidFill>
              </a:rPr>
              <a:t>Apprenticeship E-portfolio</a:t>
            </a:r>
            <a:endParaRPr lang="en-US" sz="1200" dirty="0"/>
          </a:p>
          <a:p>
            <a:pPr algn="ctr" indent="0" marL="0">
              <a:buNone/>
            </a:pPr>
            <a:r>
              <a:rPr lang="en-US" sz="1000" dirty="0">
                <a:solidFill>
                  <a:schemeClr val="tx1"/>
                </a:solidFill>
              </a:rPr>
              <a:t>Onefile</a:t>
            </a:r>
            <a:endParaRPr lang="en-US" sz="1200" dirty="0"/>
          </a:p>
        </p:txBody>
      </p:sp>
      <p:sp>
        <p:nvSpPr>
          <p:cNvPr id="32" name="Shape 30"/>
          <p:cNvSpPr/>
          <p:nvPr/>
        </p:nvSpPr>
        <p:spPr>
          <a:xfrm flipH="1">
            <a:off x="5146609" y="4389120"/>
            <a:ext cx="510235" cy="685800"/>
          </a:xfrm>
          <a:prstGeom prst="line">
            <a:avLst/>
          </a:prstGeom>
          <a:noFill/>
          <a:ln w="22225">
            <a:solidFill>
              <a:schemeClr val="accent3"/>
            </a:solidFill>
            <a:prstDash val="dash"/>
            <a:tailEnd type="triangle"/>
          </a:ln>
        </p:spPr>
      </p:sp>
      <p:sp>
        <p:nvSpPr>
          <p:cNvPr id="33" name="spoke HR &amp; Payroll"/>
          <p:cNvSpPr/>
          <p:nvPr/>
        </p:nvSpPr>
        <p:spPr>
          <a:xfrm>
            <a:off x="548640" y="5120640"/>
            <a:ext cx="2240280" cy="777240"/>
          </a:xfrm>
          <a:prstGeom prst="roundRect">
            <a:avLst>
              <a:gd name="adj" fmla="val 9412"/>
            </a:avLst>
          </a:prstGeom>
          <a:solidFill>
            <a:srgbClr val="FDF0DF"/>
          </a:solidFill>
          <a:ln w="12700">
            <a:solidFill>
              <a:srgbClr val="FDF0DF"/>
            </a:solidFill>
            <a:prstDash val="solid"/>
          </a:ln>
        </p:spPr>
      </p:sp>
      <p:sp>
        <p:nvSpPr>
          <p:cNvPr id="34" name="spoke HR &amp; Payroll text"/>
          <p:cNvSpPr txBox="1"/>
          <p:nvPr/>
        </p:nvSpPr>
        <p:spPr>
          <a:xfrm>
            <a:off x="594360" y="5120640"/>
            <a:ext cx="2148840" cy="777240"/>
          </a:xfrm>
          <a:prstGeom prst="rect">
            <a:avLst/>
          </a:prstGeom>
          <a:noFill/>
          <a:ln/>
        </p:spPr>
        <p:txBody>
          <a:bodyPr wrap="square" lIns="25400" tIns="25400" rIns="25400" bIns="25400" rtlCol="0" anchor="ctr"/>
          <a:lstStyle/>
          <a:p>
            <a:pPr algn="ctr" indent="0" marL="0">
              <a:buNone/>
            </a:pPr>
            <a:r>
              <a:rPr lang="en-US" sz="1200" b="1" dirty="0">
                <a:solidFill>
                  <a:schemeClr val="tx1"/>
                </a:solidFill>
              </a:rPr>
              <a:t>HR &amp; Payroll</a:t>
            </a:r>
            <a:endParaRPr lang="en-US" sz="1200" dirty="0"/>
          </a:p>
          <a:p>
            <a:pPr algn="ctr" indent="0" marL="0">
              <a:buNone/>
            </a:pPr>
            <a:r>
              <a:rPr lang="en-US" sz="1000" dirty="0">
                <a:solidFill>
                  <a:schemeClr val="tx1"/>
                </a:solidFill>
              </a:rPr>
              <a:t>iTrent · new / transfer / leaver</a:t>
            </a:r>
            <a:endParaRPr lang="en-US" sz="1200" dirty="0"/>
          </a:p>
        </p:txBody>
      </p:sp>
      <p:sp>
        <p:nvSpPr>
          <p:cNvPr id="35" name="Shape 33"/>
          <p:cNvSpPr/>
          <p:nvPr/>
        </p:nvSpPr>
        <p:spPr>
          <a:xfrm flipV="1">
            <a:off x="2791115" y="4272484"/>
            <a:ext cx="2073493" cy="802436"/>
          </a:xfrm>
          <a:prstGeom prst="line">
            <a:avLst/>
          </a:prstGeom>
          <a:noFill/>
          <a:ln w="22225">
            <a:solidFill>
              <a:schemeClr val="accent3"/>
            </a:solidFill>
            <a:prstDash val="dash"/>
            <a:tailEnd type="triangle"/>
          </a:ln>
        </p:spPr>
      </p:sp>
      <p:sp>
        <p:nvSpPr>
          <p:cNvPr id="36" name="spoke Manual data entry"/>
          <p:cNvSpPr/>
          <p:nvPr/>
        </p:nvSpPr>
        <p:spPr>
          <a:xfrm>
            <a:off x="548640" y="3931920"/>
            <a:ext cx="2240280" cy="777240"/>
          </a:xfrm>
          <a:prstGeom prst="roundRect">
            <a:avLst>
              <a:gd name="adj" fmla="val 9412"/>
            </a:avLst>
          </a:prstGeom>
          <a:solidFill>
            <a:srgbClr val="FDF0DF"/>
          </a:solidFill>
          <a:ln w="12700">
            <a:solidFill>
              <a:srgbClr val="FDF0DF"/>
            </a:solidFill>
            <a:prstDash val="solid"/>
          </a:ln>
        </p:spPr>
      </p:sp>
      <p:sp>
        <p:nvSpPr>
          <p:cNvPr id="37" name="spoke Manual data entry text"/>
          <p:cNvSpPr txBox="1"/>
          <p:nvPr/>
        </p:nvSpPr>
        <p:spPr>
          <a:xfrm>
            <a:off x="594360" y="3931920"/>
            <a:ext cx="2148840" cy="777240"/>
          </a:xfrm>
          <a:prstGeom prst="rect">
            <a:avLst/>
          </a:prstGeom>
          <a:noFill/>
          <a:ln/>
        </p:spPr>
        <p:txBody>
          <a:bodyPr wrap="square" lIns="25400" tIns="25400" rIns="25400" bIns="25400" rtlCol="0" anchor="ctr"/>
          <a:lstStyle/>
          <a:p>
            <a:pPr algn="ctr" indent="0" marL="0">
              <a:buNone/>
            </a:pPr>
            <a:r>
              <a:rPr lang="en-US" sz="1200" b="1" dirty="0">
                <a:solidFill>
                  <a:schemeClr val="tx1"/>
                </a:solidFill>
              </a:rPr>
              <a:t>Manual data entry</a:t>
            </a:r>
            <a:endParaRPr lang="en-US" sz="1200" dirty="0"/>
          </a:p>
          <a:p>
            <a:pPr algn="ctr" indent="0" marL="0">
              <a:buNone/>
            </a:pPr>
            <a:r>
              <a:rPr lang="en-US" sz="1000" dirty="0">
                <a:solidFill>
                  <a:schemeClr val="tx1"/>
                </a:solidFill>
              </a:rPr>
              <a:t>Forms keyed in by staff</a:t>
            </a:r>
            <a:endParaRPr lang="en-US" sz="1200" dirty="0"/>
          </a:p>
        </p:txBody>
      </p:sp>
      <p:sp>
        <p:nvSpPr>
          <p:cNvPr id="38" name="Shape 36"/>
          <p:cNvSpPr/>
          <p:nvPr/>
        </p:nvSpPr>
        <p:spPr>
          <a:xfrm flipV="1">
            <a:off x="2834640" y="3941262"/>
            <a:ext cx="2029968" cy="240915"/>
          </a:xfrm>
          <a:prstGeom prst="line">
            <a:avLst/>
          </a:prstGeom>
          <a:noFill/>
          <a:ln w="22225">
            <a:solidFill>
              <a:schemeClr val="accent3"/>
            </a:solidFill>
            <a:prstDash val="dash"/>
            <a:tailEnd type="triangle"/>
          </a:ln>
        </p:spPr>
      </p:sp>
      <p:sp>
        <p:nvSpPr>
          <p:cNvPr id="39" name="spoke School &amp; Employer Portal"/>
          <p:cNvSpPr/>
          <p:nvPr/>
        </p:nvSpPr>
        <p:spPr>
          <a:xfrm>
            <a:off x="548640" y="2606040"/>
            <a:ext cx="2240280" cy="777240"/>
          </a:xfrm>
          <a:prstGeom prst="roundRect">
            <a:avLst>
              <a:gd name="adj" fmla="val 9412"/>
            </a:avLst>
          </a:prstGeom>
          <a:solidFill>
            <a:schemeClr val="accent5"/>
          </a:solidFill>
          <a:ln w="12700">
            <a:solidFill>
              <a:schemeClr val="accent5"/>
            </a:solidFill>
            <a:prstDash val="solid"/>
          </a:ln>
        </p:spPr>
      </p:sp>
      <p:sp>
        <p:nvSpPr>
          <p:cNvPr id="40" name="spoke School &amp; Employer Portal text"/>
          <p:cNvSpPr txBox="1"/>
          <p:nvPr/>
        </p:nvSpPr>
        <p:spPr>
          <a:xfrm>
            <a:off x="594360" y="2606040"/>
            <a:ext cx="2148840" cy="777240"/>
          </a:xfrm>
          <a:prstGeom prst="rect">
            <a:avLst/>
          </a:prstGeom>
          <a:noFill/>
          <a:ln/>
        </p:spPr>
        <p:txBody>
          <a:bodyPr wrap="square" lIns="25400" tIns="25400" rIns="25400" bIns="25400" rtlCol="0" anchor="ctr"/>
          <a:lstStyle/>
          <a:p>
            <a:pPr algn="ctr" indent="0" marL="0">
              <a:buNone/>
            </a:pPr>
            <a:r>
              <a:rPr lang="en-US" sz="1200" b="1" dirty="0">
                <a:solidFill>
                  <a:schemeClr val="tx1"/>
                </a:solidFill>
              </a:rPr>
              <a:t>School &amp; Employer Portal</a:t>
            </a:r>
            <a:endParaRPr lang="en-US" sz="1200" dirty="0"/>
          </a:p>
          <a:p>
            <a:pPr algn="ctr" indent="0" marL="0">
              <a:buNone/>
            </a:pPr>
            <a:r>
              <a:rPr lang="en-US" sz="1000" dirty="0">
                <a:solidFill>
                  <a:schemeClr val="tx1"/>
                </a:solidFill>
              </a:rPr>
              <a:t>FVC Portal · school transition</a:t>
            </a:r>
            <a:endParaRPr lang="en-US" sz="1200" dirty="0"/>
          </a:p>
        </p:txBody>
      </p:sp>
      <p:sp>
        <p:nvSpPr>
          <p:cNvPr id="41" name="Shape 39"/>
          <p:cNvSpPr/>
          <p:nvPr/>
        </p:nvSpPr>
        <p:spPr>
          <a:xfrm flipH="1" flipV="1">
            <a:off x="2823264" y="3268202"/>
            <a:ext cx="2029968" cy="366609"/>
          </a:xfrm>
          <a:prstGeom prst="line">
            <a:avLst/>
          </a:prstGeom>
          <a:noFill/>
          <a:ln w="22225">
            <a:solidFill>
              <a:schemeClr val="accent1"/>
            </a:solidFill>
            <a:prstDash val="solid"/>
            <a:tailEnd type="triangle"/>
          </a:ln>
        </p:spPr>
      </p:sp>
      <p:sp>
        <p:nvSpPr>
          <p:cNvPr id="42" name="Shape 40"/>
          <p:cNvSpPr/>
          <p:nvPr/>
        </p:nvSpPr>
        <p:spPr>
          <a:xfrm>
            <a:off x="2846016" y="3142224"/>
            <a:ext cx="2029968" cy="366609"/>
          </a:xfrm>
          <a:prstGeom prst="line">
            <a:avLst/>
          </a:prstGeom>
          <a:noFill/>
          <a:ln w="22225">
            <a:solidFill>
              <a:schemeClr val="accent3"/>
            </a:solidFill>
            <a:prstDash val="dash"/>
            <a:tailEnd type="triangle"/>
          </a:ln>
        </p:spPr>
      </p:sp>
      <p:sp>
        <p:nvSpPr>
          <p:cNvPr id="43" name="Shape 41"/>
          <p:cNvSpPr/>
          <p:nvPr/>
        </p:nvSpPr>
        <p:spPr>
          <a:xfrm>
            <a:off x="548640" y="6217920"/>
            <a:ext cx="548640" cy="914"/>
          </a:xfrm>
          <a:prstGeom prst="line">
            <a:avLst/>
          </a:prstGeom>
          <a:noFill/>
          <a:ln w="22225">
            <a:solidFill>
              <a:schemeClr val="accent1"/>
            </a:solidFill>
            <a:prstDash val="solid"/>
            <a:tailEnd type="triangle"/>
          </a:ln>
        </p:spPr>
      </p:sp>
      <p:sp>
        <p:nvSpPr>
          <p:cNvPr id="44" name="Text 42"/>
          <p:cNvSpPr txBox="1"/>
          <p:nvPr/>
        </p:nvSpPr>
        <p:spPr>
          <a:xfrm>
            <a:off x="1188720" y="6080760"/>
            <a:ext cx="1463040" cy="274320"/>
          </a:xfrm>
          <a:prstGeom prst="rect">
            <a:avLst/>
          </a:prstGeom>
          <a:noFill/>
          <a:ln/>
        </p:spPr>
        <p:txBody>
          <a:bodyPr wrap="square" lIns="0" tIns="0" rIns="0" bIns="0" rtlCol="0" anchor="ctr"/>
          <a:lstStyle/>
          <a:p>
            <a:pPr indent="0" marL="0">
              <a:buNone/>
            </a:pPr>
            <a:r>
              <a:rPr lang="en-US" sz="1100" dirty="0">
                <a:solidFill>
                  <a:schemeClr val="tx1"/>
                </a:solidFill>
              </a:rPr>
              <a:t>Automated feed</a:t>
            </a:r>
            <a:endParaRPr lang="en-US" sz="1100" dirty="0"/>
          </a:p>
        </p:txBody>
      </p:sp>
      <p:sp>
        <p:nvSpPr>
          <p:cNvPr id="45" name="Shape 43"/>
          <p:cNvSpPr/>
          <p:nvPr/>
        </p:nvSpPr>
        <p:spPr>
          <a:xfrm>
            <a:off x="2743200" y="6217920"/>
            <a:ext cx="548640" cy="914"/>
          </a:xfrm>
          <a:prstGeom prst="line">
            <a:avLst/>
          </a:prstGeom>
          <a:noFill/>
          <a:ln w="22225">
            <a:solidFill>
              <a:schemeClr val="accent3"/>
            </a:solidFill>
            <a:prstDash val="dash"/>
            <a:tailEnd type="triangle"/>
          </a:ln>
        </p:spPr>
      </p:sp>
      <p:sp>
        <p:nvSpPr>
          <p:cNvPr id="46" name="Text 44"/>
          <p:cNvSpPr txBox="1"/>
          <p:nvPr/>
        </p:nvSpPr>
        <p:spPr>
          <a:xfrm>
            <a:off x="3383280" y="6080760"/>
            <a:ext cx="1828800" cy="274320"/>
          </a:xfrm>
          <a:prstGeom prst="rect">
            <a:avLst/>
          </a:prstGeom>
          <a:noFill/>
          <a:ln/>
        </p:spPr>
        <p:txBody>
          <a:bodyPr wrap="square" lIns="0" tIns="0" rIns="0" bIns="0" rtlCol="0" anchor="ctr"/>
          <a:lstStyle/>
          <a:p>
            <a:pPr indent="0" marL="0">
              <a:buNone/>
            </a:pPr>
            <a:r>
              <a:rPr lang="en-US" sz="1100" dirty="0">
                <a:solidFill>
                  <a:schemeClr val="tx1"/>
                </a:solidFill>
              </a:rPr>
              <a:t>Manual / file hand-off</a:t>
            </a:r>
            <a:endParaRPr lang="en-US" sz="11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F80"/>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indent="0" marL="0">
              <a:buNone/>
            </a:pPr>
            <a:r>
              <a:rPr lang="en-US" sz="3200" b="1" dirty="0">
                <a:solidFill>
                  <a:schemeClr val="tx2"/>
                </a:solidFill>
              </a:rPr>
              <a:t>Following the student: which system holds what, when</a:t>
            </a:r>
            <a:endParaRPr lang="en-US" sz="3200" dirty="0"/>
          </a:p>
        </p:txBody>
      </p:sp>
      <p:sp>
        <p:nvSpPr>
          <p:cNvPr id="3" name="Text 0"/>
          <p:cNvSpPr/>
          <p:nvPr>
            <p:ph idx="101" type="body" hasCustomPrompt="1"/>
          </p:nvPr>
        </p:nvSpPr>
        <p:spPr>
          <a:xfrm>
            <a:off x="548640" y="1005840"/>
            <a:ext cx="11064240" cy="411480"/>
          </a:xfrm>
          <a:prstGeom prst="rect">
            <a:avLst/>
          </a:prstGeom>
          <a:noFill/>
          <a:ln/>
        </p:spPr>
        <p:txBody>
          <a:bodyPr wrap="square" lIns="0" tIns="0" rIns="0" bIns="0" rtlCol="0" anchor="t"/>
          <a:lstStyle/>
          <a:p>
            <a:pPr indent="0" marL="0">
              <a:buNone/>
            </a:pPr>
            <a:r>
              <a:rPr lang="en-US" sz="1500" dirty="0">
                <a:solidFill>
                  <a:schemeClr val="tx1"/>
                </a:solidFill>
              </a:rPr>
              <a:t>The same student record travels through six stages, touching a different system at each</a:t>
            </a:r>
            <a:endParaRPr lang="en-US" sz="1500" dirty="0"/>
          </a:p>
        </p:txBody>
      </p:sp>
      <p:sp>
        <p:nvSpPr>
          <p:cNvPr id="4" name="stage 1"/>
          <p:cNvSpPr/>
          <p:nvPr/>
        </p:nvSpPr>
        <p:spPr>
          <a:xfrm>
            <a:off x="548640" y="1691640"/>
            <a:ext cx="1892808" cy="731520"/>
          </a:xfrm>
          <a:prstGeom prst="homePlate">
            <a:avLst/>
          </a:prstGeom>
          <a:solidFill>
            <a:schemeClr val="tx2"/>
          </a:solidFill>
          <a:ln w="12700">
            <a:solidFill>
              <a:schemeClr val="tx2"/>
            </a:solidFill>
            <a:prstDash val="solid"/>
          </a:ln>
        </p:spPr>
      </p:sp>
      <p:sp>
        <p:nvSpPr>
          <p:cNvPr id="5" name="Text 3"/>
          <p:cNvSpPr txBox="1"/>
          <p:nvPr/>
        </p:nvSpPr>
        <p:spPr>
          <a:xfrm>
            <a:off x="822960" y="1691640"/>
            <a:ext cx="1417320" cy="731520"/>
          </a:xfrm>
          <a:prstGeom prst="rect">
            <a:avLst/>
          </a:prstGeom>
          <a:noFill/>
          <a:ln/>
        </p:spPr>
        <p:txBody>
          <a:bodyPr wrap="square" lIns="0" tIns="0" rIns="0" bIns="0" rtlCol="0" anchor="ctr"/>
          <a:lstStyle/>
          <a:p>
            <a:pPr algn="ctr" indent="0" marL="0">
              <a:buNone/>
            </a:pPr>
            <a:r>
              <a:rPr lang="en-US" sz="1300" b="1" dirty="0">
                <a:solidFill>
                  <a:schemeClr val="bg1"/>
                </a:solidFill>
              </a:rPr>
              <a:t>Attract &amp; enquire</a:t>
            </a:r>
            <a:endParaRPr lang="en-US" sz="1300" dirty="0"/>
          </a:p>
        </p:txBody>
      </p:sp>
      <p:sp>
        <p:nvSpPr>
          <p:cNvPr id="6" name="stage systems 1"/>
          <p:cNvSpPr/>
          <p:nvPr/>
        </p:nvSpPr>
        <p:spPr>
          <a:xfrm>
            <a:off x="548640" y="2651760"/>
            <a:ext cx="1737360" cy="1600200"/>
          </a:xfrm>
          <a:prstGeom prst="roundRect">
            <a:avLst>
              <a:gd name="adj" fmla="val 4571"/>
            </a:avLst>
          </a:prstGeom>
          <a:solidFill>
            <a:schemeClr val="accent5"/>
          </a:solidFill>
          <a:ln w="12700">
            <a:solidFill>
              <a:schemeClr val="accent5"/>
            </a:solidFill>
            <a:prstDash val="solid"/>
          </a:ln>
        </p:spPr>
      </p:sp>
      <p:sp>
        <p:nvSpPr>
          <p:cNvPr id="7" name="Text 5"/>
          <p:cNvSpPr txBox="1"/>
          <p:nvPr/>
        </p:nvSpPr>
        <p:spPr>
          <a:xfrm>
            <a:off x="658368" y="2697480"/>
            <a:ext cx="1554480" cy="1508760"/>
          </a:xfrm>
          <a:prstGeom prst="rect">
            <a:avLst/>
          </a:prstGeom>
          <a:noFill/>
          <a:ln/>
        </p:spPr>
        <p:txBody>
          <a:bodyPr wrap="square" lIns="0" tIns="0" rIns="0" bIns="0" rtlCol="0" anchor="t"/>
          <a:lstStyle/>
          <a:p>
            <a:pPr indent="0" marL="0">
              <a:buNone/>
            </a:pPr>
            <a:r>
              <a:rPr lang="en-US" sz="1000" b="1" dirty="0">
                <a:solidFill>
                  <a:srgbClr val="6B6F80"/>
                </a:solidFill>
              </a:rPr>
              <a:t>Systems</a:t>
            </a:r>
            <a:endParaRPr lang="en-US" sz="1000" dirty="0"/>
          </a:p>
          <a:p>
            <a:pPr indent="0" marL="0">
              <a:buNone/>
            </a:pPr>
            <a:r>
              <a:rPr lang="en-US" sz="1200" dirty="0">
                <a:solidFill>
                  <a:schemeClr val="tx1"/>
                </a:solidFill>
              </a:rPr>
              <a:t>FVC Website</a:t>
            </a:r>
            <a:endParaRPr lang="en-US" sz="1000" dirty="0"/>
          </a:p>
          <a:p>
            <a:pPr indent="0" marL="0">
              <a:buNone/>
            </a:pPr>
            <a:r>
              <a:rPr lang="en-US" sz="1200" dirty="0">
                <a:solidFill>
                  <a:schemeClr val="tx1"/>
                </a:solidFill>
              </a:rPr>
              <a:t>CRM (RUBI)</a:t>
            </a:r>
            <a:endParaRPr lang="en-US" sz="1000" dirty="0"/>
          </a:p>
          <a:p>
            <a:pPr indent="0" marL="0">
              <a:buNone/>
            </a:pPr>
            <a:r>
              <a:rPr lang="en-US" sz="1200" dirty="0">
                <a:solidFill>
                  <a:schemeClr val="tx1"/>
                </a:solidFill>
              </a:rPr>
              <a:t>Enquirer</a:t>
            </a:r>
            <a:endParaRPr lang="en-US" sz="1000" dirty="0"/>
          </a:p>
        </p:txBody>
      </p:sp>
      <p:sp>
        <p:nvSpPr>
          <p:cNvPr id="8" name="stage data 1"/>
          <p:cNvSpPr/>
          <p:nvPr/>
        </p:nvSpPr>
        <p:spPr>
          <a:xfrm>
            <a:off x="548640" y="4389120"/>
            <a:ext cx="1737360" cy="960120"/>
          </a:xfrm>
          <a:prstGeom prst="roundRect">
            <a:avLst>
              <a:gd name="adj" fmla="val 7619"/>
            </a:avLst>
          </a:prstGeom>
          <a:solidFill>
            <a:schemeClr val="bg2"/>
          </a:solidFill>
          <a:ln w="12700">
            <a:solidFill>
              <a:schemeClr val="bg2"/>
            </a:solidFill>
            <a:prstDash val="solid"/>
          </a:ln>
        </p:spPr>
      </p:sp>
      <p:sp>
        <p:nvSpPr>
          <p:cNvPr id="9" name="Text 7"/>
          <p:cNvSpPr txBox="1"/>
          <p:nvPr/>
        </p:nvSpPr>
        <p:spPr>
          <a:xfrm>
            <a:off x="658368" y="4434840"/>
            <a:ext cx="1554480" cy="868680"/>
          </a:xfrm>
          <a:prstGeom prst="rect">
            <a:avLst/>
          </a:prstGeom>
          <a:noFill/>
          <a:ln/>
        </p:spPr>
        <p:txBody>
          <a:bodyPr wrap="square" lIns="0" tIns="0" rIns="0" bIns="0" rtlCol="0" anchor="t"/>
          <a:lstStyle/>
          <a:p>
            <a:pPr indent="0" marL="0">
              <a:buNone/>
            </a:pPr>
            <a:r>
              <a:rPr lang="en-US" sz="1000" b="1" dirty="0">
                <a:solidFill>
                  <a:srgbClr val="6B6F80"/>
                </a:solidFill>
              </a:rPr>
              <a:t>Data</a:t>
            </a:r>
            <a:endParaRPr lang="en-US" sz="1000" dirty="0"/>
          </a:p>
          <a:p>
            <a:pPr indent="0" marL="0">
              <a:buNone/>
            </a:pPr>
            <a:r>
              <a:rPr lang="en-US" sz="1200" dirty="0">
                <a:solidFill>
                  <a:schemeClr val="tx1"/>
                </a:solidFill>
              </a:rPr>
              <a:t>Enquiry, contact details</a:t>
            </a:r>
            <a:endParaRPr lang="en-US" sz="1000" dirty="0"/>
          </a:p>
        </p:txBody>
      </p:sp>
      <p:sp>
        <p:nvSpPr>
          <p:cNvPr id="10" name="stage 2"/>
          <p:cNvSpPr/>
          <p:nvPr/>
        </p:nvSpPr>
        <p:spPr>
          <a:xfrm>
            <a:off x="2404872" y="1691640"/>
            <a:ext cx="1892808" cy="731520"/>
          </a:xfrm>
          <a:prstGeom prst="chevron">
            <a:avLst/>
          </a:prstGeom>
          <a:solidFill>
            <a:schemeClr val="tx2"/>
          </a:solidFill>
          <a:ln w="12700">
            <a:solidFill>
              <a:schemeClr val="tx2"/>
            </a:solidFill>
            <a:prstDash val="solid"/>
          </a:ln>
        </p:spPr>
      </p:sp>
      <p:sp>
        <p:nvSpPr>
          <p:cNvPr id="11" name="Text 9"/>
          <p:cNvSpPr txBox="1"/>
          <p:nvPr/>
        </p:nvSpPr>
        <p:spPr>
          <a:xfrm>
            <a:off x="2679192" y="1691640"/>
            <a:ext cx="1417320" cy="731520"/>
          </a:xfrm>
          <a:prstGeom prst="rect">
            <a:avLst/>
          </a:prstGeom>
          <a:noFill/>
          <a:ln/>
        </p:spPr>
        <p:txBody>
          <a:bodyPr wrap="square" lIns="0" tIns="0" rIns="0" bIns="0" rtlCol="0" anchor="ctr"/>
          <a:lstStyle/>
          <a:p>
            <a:pPr algn="ctr" indent="0" marL="0">
              <a:buNone/>
            </a:pPr>
            <a:r>
              <a:rPr lang="en-US" sz="1300" b="1" dirty="0">
                <a:solidFill>
                  <a:schemeClr val="bg1"/>
                </a:solidFill>
              </a:rPr>
              <a:t>Apply</a:t>
            </a:r>
            <a:endParaRPr lang="en-US" sz="1300" dirty="0"/>
          </a:p>
        </p:txBody>
      </p:sp>
      <p:sp>
        <p:nvSpPr>
          <p:cNvPr id="12" name="stage systems 2"/>
          <p:cNvSpPr/>
          <p:nvPr/>
        </p:nvSpPr>
        <p:spPr>
          <a:xfrm>
            <a:off x="2404872" y="2651760"/>
            <a:ext cx="1737360" cy="1600200"/>
          </a:xfrm>
          <a:prstGeom prst="roundRect">
            <a:avLst>
              <a:gd name="adj" fmla="val 4571"/>
            </a:avLst>
          </a:prstGeom>
          <a:solidFill>
            <a:schemeClr val="accent5"/>
          </a:solidFill>
          <a:ln w="12700">
            <a:solidFill>
              <a:schemeClr val="accent5"/>
            </a:solidFill>
            <a:prstDash val="solid"/>
          </a:ln>
        </p:spPr>
      </p:sp>
      <p:sp>
        <p:nvSpPr>
          <p:cNvPr id="13" name="Text 11"/>
          <p:cNvSpPr txBox="1"/>
          <p:nvPr/>
        </p:nvSpPr>
        <p:spPr>
          <a:xfrm>
            <a:off x="2514600" y="2697480"/>
            <a:ext cx="1554480" cy="1508760"/>
          </a:xfrm>
          <a:prstGeom prst="rect">
            <a:avLst/>
          </a:prstGeom>
          <a:noFill/>
          <a:ln/>
        </p:spPr>
        <p:txBody>
          <a:bodyPr wrap="square" lIns="0" tIns="0" rIns="0" bIns="0" rtlCol="0" anchor="t"/>
          <a:lstStyle/>
          <a:p>
            <a:pPr indent="0" marL="0">
              <a:buNone/>
            </a:pPr>
            <a:r>
              <a:rPr lang="en-US" sz="1000" b="1" dirty="0">
                <a:solidFill>
                  <a:srgbClr val="6B6F80"/>
                </a:solidFill>
              </a:rPr>
              <a:t>Systems</a:t>
            </a:r>
            <a:endParaRPr lang="en-US" sz="1000" dirty="0"/>
          </a:p>
          <a:p>
            <a:pPr indent="0" marL="0">
              <a:buNone/>
            </a:pPr>
            <a:r>
              <a:rPr lang="en-US" sz="1200" dirty="0">
                <a:solidFill>
                  <a:schemeClr val="tx1"/>
                </a:solidFill>
              </a:rPr>
              <a:t>Student Registration</a:t>
            </a:r>
            <a:endParaRPr lang="en-US" sz="1000" dirty="0"/>
          </a:p>
          <a:p>
            <a:pPr indent="0" marL="0">
              <a:buNone/>
            </a:pPr>
            <a:r>
              <a:rPr lang="en-US" sz="1200" dirty="0">
                <a:solidFill>
                  <a:schemeClr val="tx1"/>
                </a:solidFill>
              </a:rPr>
              <a:t>FVC Portal (schools)</a:t>
            </a:r>
            <a:endParaRPr lang="en-US" sz="1000" dirty="0"/>
          </a:p>
          <a:p>
            <a:pPr indent="0" marL="0">
              <a:buNone/>
            </a:pPr>
            <a:r>
              <a:rPr lang="en-US" sz="1200" dirty="0">
                <a:solidFill>
                  <a:schemeClr val="tx1"/>
                </a:solidFill>
              </a:rPr>
              <a:t>Dante (commercial)</a:t>
            </a:r>
            <a:endParaRPr lang="en-US" sz="1000" dirty="0"/>
          </a:p>
        </p:txBody>
      </p:sp>
      <p:sp>
        <p:nvSpPr>
          <p:cNvPr id="14" name="stage data 2"/>
          <p:cNvSpPr/>
          <p:nvPr/>
        </p:nvSpPr>
        <p:spPr>
          <a:xfrm>
            <a:off x="2404872" y="4389120"/>
            <a:ext cx="1737360" cy="960120"/>
          </a:xfrm>
          <a:prstGeom prst="roundRect">
            <a:avLst>
              <a:gd name="adj" fmla="val 7619"/>
            </a:avLst>
          </a:prstGeom>
          <a:solidFill>
            <a:schemeClr val="bg2"/>
          </a:solidFill>
          <a:ln w="12700">
            <a:solidFill>
              <a:schemeClr val="bg2"/>
            </a:solidFill>
            <a:prstDash val="solid"/>
          </a:ln>
        </p:spPr>
      </p:sp>
      <p:sp>
        <p:nvSpPr>
          <p:cNvPr id="15" name="Text 13"/>
          <p:cNvSpPr txBox="1"/>
          <p:nvPr/>
        </p:nvSpPr>
        <p:spPr>
          <a:xfrm>
            <a:off x="2514600" y="4434840"/>
            <a:ext cx="1554480" cy="868680"/>
          </a:xfrm>
          <a:prstGeom prst="rect">
            <a:avLst/>
          </a:prstGeom>
          <a:noFill/>
          <a:ln/>
        </p:spPr>
        <p:txBody>
          <a:bodyPr wrap="square" lIns="0" tIns="0" rIns="0" bIns="0" rtlCol="0" anchor="t"/>
          <a:lstStyle/>
          <a:p>
            <a:pPr indent="0" marL="0">
              <a:buNone/>
            </a:pPr>
            <a:r>
              <a:rPr lang="en-US" sz="1000" b="1" dirty="0">
                <a:solidFill>
                  <a:srgbClr val="6B6F80"/>
                </a:solidFill>
              </a:rPr>
              <a:t>Data</a:t>
            </a:r>
            <a:endParaRPr lang="en-US" sz="1000" dirty="0"/>
          </a:p>
          <a:p>
            <a:pPr indent="0" marL="0">
              <a:buNone/>
            </a:pPr>
            <a:r>
              <a:rPr lang="en-US" sz="1200" dirty="0">
                <a:solidFill>
                  <a:schemeClr val="tx1"/>
                </a:solidFill>
              </a:rPr>
              <a:t>Application, school transition</a:t>
            </a:r>
            <a:endParaRPr lang="en-US" sz="1000" dirty="0"/>
          </a:p>
        </p:txBody>
      </p:sp>
      <p:sp>
        <p:nvSpPr>
          <p:cNvPr id="16" name="stage 3"/>
          <p:cNvSpPr/>
          <p:nvPr/>
        </p:nvSpPr>
        <p:spPr>
          <a:xfrm>
            <a:off x="4261104" y="1691640"/>
            <a:ext cx="1892808" cy="731520"/>
          </a:xfrm>
          <a:prstGeom prst="chevron">
            <a:avLst/>
          </a:prstGeom>
          <a:solidFill>
            <a:schemeClr val="accent1"/>
          </a:solidFill>
          <a:ln w="12700">
            <a:solidFill>
              <a:schemeClr val="accent1"/>
            </a:solidFill>
            <a:prstDash val="solid"/>
          </a:ln>
        </p:spPr>
      </p:sp>
      <p:sp>
        <p:nvSpPr>
          <p:cNvPr id="17" name="Text 15"/>
          <p:cNvSpPr txBox="1"/>
          <p:nvPr/>
        </p:nvSpPr>
        <p:spPr>
          <a:xfrm>
            <a:off x="4535424" y="1691640"/>
            <a:ext cx="1417320" cy="731520"/>
          </a:xfrm>
          <a:prstGeom prst="rect">
            <a:avLst/>
          </a:prstGeom>
          <a:noFill/>
          <a:ln/>
        </p:spPr>
        <p:txBody>
          <a:bodyPr wrap="square" lIns="0" tIns="0" rIns="0" bIns="0" rtlCol="0" anchor="ctr"/>
          <a:lstStyle/>
          <a:p>
            <a:pPr algn="ctr" indent="0" marL="0">
              <a:buNone/>
            </a:pPr>
            <a:r>
              <a:rPr lang="en-US" sz="1300" b="1" dirty="0">
                <a:solidFill>
                  <a:schemeClr val="bg1"/>
                </a:solidFill>
              </a:rPr>
              <a:t>Enrol</a:t>
            </a:r>
            <a:endParaRPr lang="en-US" sz="1300" dirty="0"/>
          </a:p>
        </p:txBody>
      </p:sp>
      <p:sp>
        <p:nvSpPr>
          <p:cNvPr id="18" name="stage systems 3"/>
          <p:cNvSpPr/>
          <p:nvPr/>
        </p:nvSpPr>
        <p:spPr>
          <a:xfrm>
            <a:off x="4261104" y="2651760"/>
            <a:ext cx="1737360" cy="1600200"/>
          </a:xfrm>
          <a:prstGeom prst="roundRect">
            <a:avLst>
              <a:gd name="adj" fmla="val 4571"/>
            </a:avLst>
          </a:prstGeom>
          <a:solidFill>
            <a:schemeClr val="accent5"/>
          </a:solidFill>
          <a:ln w="12700">
            <a:solidFill>
              <a:schemeClr val="accent5"/>
            </a:solidFill>
            <a:prstDash val="solid"/>
          </a:ln>
        </p:spPr>
      </p:sp>
      <p:sp>
        <p:nvSpPr>
          <p:cNvPr id="19" name="Text 17"/>
          <p:cNvSpPr txBox="1"/>
          <p:nvPr/>
        </p:nvSpPr>
        <p:spPr>
          <a:xfrm>
            <a:off x="4370832" y="2697480"/>
            <a:ext cx="1554480" cy="1508760"/>
          </a:xfrm>
          <a:prstGeom prst="rect">
            <a:avLst/>
          </a:prstGeom>
          <a:noFill/>
          <a:ln/>
        </p:spPr>
        <p:txBody>
          <a:bodyPr wrap="square" lIns="0" tIns="0" rIns="0" bIns="0" rtlCol="0" anchor="t"/>
          <a:lstStyle/>
          <a:p>
            <a:pPr indent="0" marL="0">
              <a:buNone/>
            </a:pPr>
            <a:r>
              <a:rPr lang="en-US" sz="1000" b="1" dirty="0">
                <a:solidFill>
                  <a:srgbClr val="6B6F80"/>
                </a:solidFill>
              </a:rPr>
              <a:t>Systems</a:t>
            </a:r>
            <a:endParaRPr lang="en-US" sz="1000" dirty="0"/>
          </a:p>
          <a:p>
            <a:pPr indent="0" marL="0">
              <a:buNone/>
            </a:pPr>
            <a:r>
              <a:rPr lang="en-US" sz="1200" dirty="0">
                <a:solidFill>
                  <a:schemeClr val="tx1"/>
                </a:solidFill>
              </a:rPr>
              <a:t>UnitE</a:t>
            </a:r>
            <a:endParaRPr lang="en-US" sz="1000" dirty="0"/>
          </a:p>
        </p:txBody>
      </p:sp>
      <p:sp>
        <p:nvSpPr>
          <p:cNvPr id="20" name="stage data 3"/>
          <p:cNvSpPr/>
          <p:nvPr/>
        </p:nvSpPr>
        <p:spPr>
          <a:xfrm>
            <a:off x="4261104" y="4389120"/>
            <a:ext cx="1737360" cy="960120"/>
          </a:xfrm>
          <a:prstGeom prst="roundRect">
            <a:avLst>
              <a:gd name="adj" fmla="val 7619"/>
            </a:avLst>
          </a:prstGeom>
          <a:solidFill>
            <a:schemeClr val="bg2"/>
          </a:solidFill>
          <a:ln w="12700">
            <a:solidFill>
              <a:schemeClr val="bg2"/>
            </a:solidFill>
            <a:prstDash val="solid"/>
          </a:ln>
        </p:spPr>
      </p:sp>
      <p:sp>
        <p:nvSpPr>
          <p:cNvPr id="21" name="Text 19"/>
          <p:cNvSpPr txBox="1"/>
          <p:nvPr/>
        </p:nvSpPr>
        <p:spPr>
          <a:xfrm>
            <a:off x="4370832" y="4434840"/>
            <a:ext cx="1554480" cy="868680"/>
          </a:xfrm>
          <a:prstGeom prst="rect">
            <a:avLst/>
          </a:prstGeom>
          <a:noFill/>
          <a:ln/>
        </p:spPr>
        <p:txBody>
          <a:bodyPr wrap="square" lIns="0" tIns="0" rIns="0" bIns="0" rtlCol="0" anchor="t"/>
          <a:lstStyle/>
          <a:p>
            <a:pPr indent="0" marL="0">
              <a:buNone/>
            </a:pPr>
            <a:r>
              <a:rPr lang="en-US" sz="1000" b="1" dirty="0">
                <a:solidFill>
                  <a:srgbClr val="6B6F80"/>
                </a:solidFill>
              </a:rPr>
              <a:t>Data</a:t>
            </a:r>
            <a:endParaRPr lang="en-US" sz="1000" dirty="0"/>
          </a:p>
          <a:p>
            <a:pPr indent="0" marL="0">
              <a:buNone/>
            </a:pPr>
            <a:r>
              <a:rPr lang="en-US" sz="1200" dirty="0">
                <a:solidFill>
                  <a:schemeClr val="tx1"/>
                </a:solidFill>
              </a:rPr>
              <a:t>Student, course, enrolment</a:t>
            </a:r>
            <a:endParaRPr lang="en-US" sz="1000" dirty="0"/>
          </a:p>
        </p:txBody>
      </p:sp>
      <p:sp>
        <p:nvSpPr>
          <p:cNvPr id="22" name="stage 4"/>
          <p:cNvSpPr/>
          <p:nvPr/>
        </p:nvSpPr>
        <p:spPr>
          <a:xfrm>
            <a:off x="6117336" y="1691640"/>
            <a:ext cx="1892808" cy="731520"/>
          </a:xfrm>
          <a:prstGeom prst="chevron">
            <a:avLst/>
          </a:prstGeom>
          <a:solidFill>
            <a:schemeClr val="tx2"/>
          </a:solidFill>
          <a:ln w="12700">
            <a:solidFill>
              <a:schemeClr val="tx2"/>
            </a:solidFill>
            <a:prstDash val="solid"/>
          </a:ln>
        </p:spPr>
      </p:sp>
      <p:sp>
        <p:nvSpPr>
          <p:cNvPr id="23" name="Text 21"/>
          <p:cNvSpPr txBox="1"/>
          <p:nvPr/>
        </p:nvSpPr>
        <p:spPr>
          <a:xfrm>
            <a:off x="6391656" y="1691640"/>
            <a:ext cx="1417320" cy="731520"/>
          </a:xfrm>
          <a:prstGeom prst="rect">
            <a:avLst/>
          </a:prstGeom>
          <a:noFill/>
          <a:ln/>
        </p:spPr>
        <p:txBody>
          <a:bodyPr wrap="square" lIns="0" tIns="0" rIns="0" bIns="0" rtlCol="0" anchor="ctr"/>
          <a:lstStyle/>
          <a:p>
            <a:pPr algn="ctr" indent="0" marL="0">
              <a:buNone/>
            </a:pPr>
            <a:r>
              <a:rPr lang="en-US" sz="1300" b="1" dirty="0">
                <a:solidFill>
                  <a:schemeClr val="bg1"/>
                </a:solidFill>
              </a:rPr>
              <a:t>Learn &amp; attend</a:t>
            </a:r>
            <a:endParaRPr lang="en-US" sz="1300" dirty="0"/>
          </a:p>
        </p:txBody>
      </p:sp>
      <p:sp>
        <p:nvSpPr>
          <p:cNvPr id="24" name="stage systems 4"/>
          <p:cNvSpPr/>
          <p:nvPr/>
        </p:nvSpPr>
        <p:spPr>
          <a:xfrm>
            <a:off x="6117336" y="2651760"/>
            <a:ext cx="1737360" cy="1600200"/>
          </a:xfrm>
          <a:prstGeom prst="roundRect">
            <a:avLst>
              <a:gd name="adj" fmla="val 4571"/>
            </a:avLst>
          </a:prstGeom>
          <a:solidFill>
            <a:schemeClr val="accent5"/>
          </a:solidFill>
          <a:ln w="12700">
            <a:solidFill>
              <a:schemeClr val="accent5"/>
            </a:solidFill>
            <a:prstDash val="solid"/>
          </a:ln>
        </p:spPr>
      </p:sp>
      <p:sp>
        <p:nvSpPr>
          <p:cNvPr id="25" name="Text 23"/>
          <p:cNvSpPr txBox="1"/>
          <p:nvPr/>
        </p:nvSpPr>
        <p:spPr>
          <a:xfrm>
            <a:off x="6227064" y="2697480"/>
            <a:ext cx="1554480" cy="1508760"/>
          </a:xfrm>
          <a:prstGeom prst="rect">
            <a:avLst/>
          </a:prstGeom>
          <a:noFill/>
          <a:ln/>
        </p:spPr>
        <p:txBody>
          <a:bodyPr wrap="square" lIns="0" tIns="0" rIns="0" bIns="0" rtlCol="0" anchor="t"/>
          <a:lstStyle/>
          <a:p>
            <a:pPr indent="0" marL="0">
              <a:buNone/>
            </a:pPr>
            <a:r>
              <a:rPr lang="en-US" sz="1000" b="1" dirty="0">
                <a:solidFill>
                  <a:srgbClr val="6B6F80"/>
                </a:solidFill>
              </a:rPr>
              <a:t>Systems</a:t>
            </a:r>
            <a:endParaRPr lang="en-US" sz="1000" dirty="0"/>
          </a:p>
          <a:p>
            <a:pPr indent="0" marL="0">
              <a:buNone/>
            </a:pPr>
            <a:r>
              <a:rPr lang="en-US" sz="1200" dirty="0">
                <a:solidFill>
                  <a:schemeClr val="tx1"/>
                </a:solidFill>
              </a:rPr>
              <a:t>Celcat</a:t>
            </a:r>
            <a:endParaRPr lang="en-US" sz="1000" dirty="0"/>
          </a:p>
          <a:p>
            <a:pPr indent="0" marL="0">
              <a:buNone/>
            </a:pPr>
            <a:r>
              <a:rPr lang="en-US" sz="1200" dirty="0">
                <a:solidFill>
                  <a:schemeClr val="tx1"/>
                </a:solidFill>
              </a:rPr>
              <a:t>Moodle (VLE)</a:t>
            </a:r>
            <a:endParaRPr lang="en-US" sz="1000" dirty="0"/>
          </a:p>
          <a:p>
            <a:pPr indent="0" marL="0">
              <a:buNone/>
            </a:pPr>
            <a:r>
              <a:rPr lang="en-US" sz="1200" dirty="0">
                <a:solidFill>
                  <a:schemeClr val="tx1"/>
                </a:solidFill>
              </a:rPr>
              <a:t>Onefile / JTL</a:t>
            </a:r>
            <a:endParaRPr lang="en-US" sz="1000" dirty="0"/>
          </a:p>
        </p:txBody>
      </p:sp>
      <p:sp>
        <p:nvSpPr>
          <p:cNvPr id="26" name="stage data 4"/>
          <p:cNvSpPr/>
          <p:nvPr/>
        </p:nvSpPr>
        <p:spPr>
          <a:xfrm>
            <a:off x="6117336" y="4389120"/>
            <a:ext cx="1737360" cy="960120"/>
          </a:xfrm>
          <a:prstGeom prst="roundRect">
            <a:avLst>
              <a:gd name="adj" fmla="val 7619"/>
            </a:avLst>
          </a:prstGeom>
          <a:solidFill>
            <a:schemeClr val="bg2"/>
          </a:solidFill>
          <a:ln w="12700">
            <a:solidFill>
              <a:schemeClr val="bg2"/>
            </a:solidFill>
            <a:prstDash val="solid"/>
          </a:ln>
        </p:spPr>
      </p:sp>
      <p:sp>
        <p:nvSpPr>
          <p:cNvPr id="27" name="Text 25"/>
          <p:cNvSpPr txBox="1"/>
          <p:nvPr/>
        </p:nvSpPr>
        <p:spPr>
          <a:xfrm>
            <a:off x="6227064" y="4434840"/>
            <a:ext cx="1554480" cy="868680"/>
          </a:xfrm>
          <a:prstGeom prst="rect">
            <a:avLst/>
          </a:prstGeom>
          <a:noFill/>
          <a:ln/>
        </p:spPr>
        <p:txBody>
          <a:bodyPr wrap="square" lIns="0" tIns="0" rIns="0" bIns="0" rtlCol="0" anchor="t"/>
          <a:lstStyle/>
          <a:p>
            <a:pPr indent="0" marL="0">
              <a:buNone/>
            </a:pPr>
            <a:r>
              <a:rPr lang="en-US" sz="1000" b="1" dirty="0">
                <a:solidFill>
                  <a:srgbClr val="6B6F80"/>
                </a:solidFill>
              </a:rPr>
              <a:t>Data</a:t>
            </a:r>
            <a:endParaRPr lang="en-US" sz="1000" dirty="0"/>
          </a:p>
          <a:p>
            <a:pPr indent="0" marL="0">
              <a:buNone/>
            </a:pPr>
            <a:r>
              <a:rPr lang="en-US" sz="1200" dirty="0">
                <a:solidFill>
                  <a:schemeClr val="tx1"/>
                </a:solidFill>
              </a:rPr>
              <a:t>Timetable, attendance, e-portfolio</a:t>
            </a:r>
            <a:endParaRPr lang="en-US" sz="1000" dirty="0"/>
          </a:p>
        </p:txBody>
      </p:sp>
      <p:sp>
        <p:nvSpPr>
          <p:cNvPr id="28" name="stage 5"/>
          <p:cNvSpPr/>
          <p:nvPr/>
        </p:nvSpPr>
        <p:spPr>
          <a:xfrm>
            <a:off x="7973568" y="1691640"/>
            <a:ext cx="1892808" cy="731520"/>
          </a:xfrm>
          <a:prstGeom prst="chevron">
            <a:avLst/>
          </a:prstGeom>
          <a:solidFill>
            <a:schemeClr val="tx2"/>
          </a:solidFill>
          <a:ln w="12700">
            <a:solidFill>
              <a:schemeClr val="tx2"/>
            </a:solidFill>
            <a:prstDash val="solid"/>
          </a:ln>
        </p:spPr>
      </p:sp>
      <p:sp>
        <p:nvSpPr>
          <p:cNvPr id="29" name="Text 27"/>
          <p:cNvSpPr txBox="1"/>
          <p:nvPr/>
        </p:nvSpPr>
        <p:spPr>
          <a:xfrm>
            <a:off x="8247888" y="1691640"/>
            <a:ext cx="1417320" cy="731520"/>
          </a:xfrm>
          <a:prstGeom prst="rect">
            <a:avLst/>
          </a:prstGeom>
          <a:noFill/>
          <a:ln/>
        </p:spPr>
        <p:txBody>
          <a:bodyPr wrap="square" lIns="0" tIns="0" rIns="0" bIns="0" rtlCol="0" anchor="ctr"/>
          <a:lstStyle/>
          <a:p>
            <a:pPr algn="ctr" indent="0" marL="0">
              <a:buNone/>
            </a:pPr>
            <a:r>
              <a:rPr lang="en-US" sz="1300" b="1" dirty="0">
                <a:solidFill>
                  <a:schemeClr val="bg1"/>
                </a:solidFill>
              </a:rPr>
              <a:t>Support &amp; fund</a:t>
            </a:r>
            <a:endParaRPr lang="en-US" sz="1300" dirty="0"/>
          </a:p>
        </p:txBody>
      </p:sp>
      <p:sp>
        <p:nvSpPr>
          <p:cNvPr id="30" name="stage systems 5"/>
          <p:cNvSpPr/>
          <p:nvPr/>
        </p:nvSpPr>
        <p:spPr>
          <a:xfrm>
            <a:off x="7973568" y="2651760"/>
            <a:ext cx="1737360" cy="1600200"/>
          </a:xfrm>
          <a:prstGeom prst="roundRect">
            <a:avLst>
              <a:gd name="adj" fmla="val 4571"/>
            </a:avLst>
          </a:prstGeom>
          <a:solidFill>
            <a:schemeClr val="accent5"/>
          </a:solidFill>
          <a:ln w="12700">
            <a:solidFill>
              <a:schemeClr val="accent5"/>
            </a:solidFill>
            <a:prstDash val="solid"/>
          </a:ln>
        </p:spPr>
      </p:sp>
      <p:sp>
        <p:nvSpPr>
          <p:cNvPr id="31" name="Text 29"/>
          <p:cNvSpPr txBox="1"/>
          <p:nvPr/>
        </p:nvSpPr>
        <p:spPr>
          <a:xfrm>
            <a:off x="8083296" y="2697480"/>
            <a:ext cx="1554480" cy="1508760"/>
          </a:xfrm>
          <a:prstGeom prst="rect">
            <a:avLst/>
          </a:prstGeom>
          <a:noFill/>
          <a:ln/>
        </p:spPr>
        <p:txBody>
          <a:bodyPr wrap="square" lIns="0" tIns="0" rIns="0" bIns="0" rtlCol="0" anchor="t"/>
          <a:lstStyle/>
          <a:p>
            <a:pPr indent="0" marL="0">
              <a:buNone/>
            </a:pPr>
            <a:r>
              <a:rPr lang="en-US" sz="1000" b="1" dirty="0">
                <a:solidFill>
                  <a:srgbClr val="6B6F80"/>
                </a:solidFill>
              </a:rPr>
              <a:t>Systems</a:t>
            </a:r>
            <a:endParaRPr lang="en-US" sz="1000" dirty="0"/>
          </a:p>
          <a:p>
            <a:pPr indent="0" marL="0">
              <a:buNone/>
            </a:pPr>
            <a:r>
              <a:rPr lang="en-US" sz="1200" dirty="0">
                <a:solidFill>
                  <a:schemeClr val="tx1"/>
                </a:solidFill>
              </a:rPr>
              <a:t>TripleS</a:t>
            </a:r>
            <a:endParaRPr lang="en-US" sz="1000" dirty="0"/>
          </a:p>
          <a:p>
            <a:pPr indent="0" marL="0">
              <a:buNone/>
            </a:pPr>
            <a:r>
              <a:rPr lang="en-US" sz="1200" dirty="0">
                <a:solidFill>
                  <a:schemeClr val="tx1"/>
                </a:solidFill>
              </a:rPr>
              <a:t>Bursary</a:t>
            </a:r>
            <a:endParaRPr lang="en-US" sz="1000" dirty="0"/>
          </a:p>
          <a:p>
            <a:pPr indent="0" marL="0">
              <a:buNone/>
            </a:pPr>
            <a:r>
              <a:rPr lang="en-US" sz="1200" dirty="0">
                <a:solidFill>
                  <a:schemeClr val="tx1"/>
                </a:solidFill>
              </a:rPr>
              <a:t>SAAS (external)</a:t>
            </a:r>
            <a:endParaRPr lang="en-US" sz="1000" dirty="0"/>
          </a:p>
        </p:txBody>
      </p:sp>
      <p:sp>
        <p:nvSpPr>
          <p:cNvPr id="32" name="stage data 5"/>
          <p:cNvSpPr/>
          <p:nvPr/>
        </p:nvSpPr>
        <p:spPr>
          <a:xfrm>
            <a:off x="7973568" y="4389120"/>
            <a:ext cx="1737360" cy="960120"/>
          </a:xfrm>
          <a:prstGeom prst="roundRect">
            <a:avLst>
              <a:gd name="adj" fmla="val 7619"/>
            </a:avLst>
          </a:prstGeom>
          <a:solidFill>
            <a:schemeClr val="bg2"/>
          </a:solidFill>
          <a:ln w="12700">
            <a:solidFill>
              <a:schemeClr val="bg2"/>
            </a:solidFill>
            <a:prstDash val="solid"/>
          </a:ln>
        </p:spPr>
      </p:sp>
      <p:sp>
        <p:nvSpPr>
          <p:cNvPr id="33" name="Text 31"/>
          <p:cNvSpPr txBox="1"/>
          <p:nvPr/>
        </p:nvSpPr>
        <p:spPr>
          <a:xfrm>
            <a:off x="8083296" y="4434840"/>
            <a:ext cx="1554480" cy="868680"/>
          </a:xfrm>
          <a:prstGeom prst="rect">
            <a:avLst/>
          </a:prstGeom>
          <a:noFill/>
          <a:ln/>
        </p:spPr>
        <p:txBody>
          <a:bodyPr wrap="square" lIns="0" tIns="0" rIns="0" bIns="0" rtlCol="0" anchor="t"/>
          <a:lstStyle/>
          <a:p>
            <a:pPr indent="0" marL="0">
              <a:buNone/>
            </a:pPr>
            <a:r>
              <a:rPr lang="en-US" sz="1000" b="1" dirty="0">
                <a:solidFill>
                  <a:srgbClr val="6B6F80"/>
                </a:solidFill>
              </a:rPr>
              <a:t>Data</a:t>
            </a:r>
            <a:endParaRPr lang="en-US" sz="1000" dirty="0"/>
          </a:p>
          <a:p>
            <a:pPr indent="0" marL="0">
              <a:buNone/>
            </a:pPr>
            <a:r>
              <a:rPr lang="en-US" sz="1200" dirty="0">
                <a:solidFill>
                  <a:schemeClr val="tx1"/>
                </a:solidFill>
              </a:rPr>
              <a:t>ASN, PEEP, bursary awards</a:t>
            </a:r>
            <a:endParaRPr lang="en-US" sz="1000" dirty="0"/>
          </a:p>
        </p:txBody>
      </p:sp>
      <p:sp>
        <p:nvSpPr>
          <p:cNvPr id="34" name="stage 6"/>
          <p:cNvSpPr/>
          <p:nvPr/>
        </p:nvSpPr>
        <p:spPr>
          <a:xfrm>
            <a:off x="9829800" y="1691640"/>
            <a:ext cx="1892808" cy="731520"/>
          </a:xfrm>
          <a:prstGeom prst="chevron">
            <a:avLst/>
          </a:prstGeom>
          <a:solidFill>
            <a:schemeClr val="tx2"/>
          </a:solidFill>
          <a:ln w="12700">
            <a:solidFill>
              <a:schemeClr val="tx2"/>
            </a:solidFill>
            <a:prstDash val="solid"/>
          </a:ln>
        </p:spPr>
      </p:sp>
      <p:sp>
        <p:nvSpPr>
          <p:cNvPr id="35" name="Text 33"/>
          <p:cNvSpPr txBox="1"/>
          <p:nvPr/>
        </p:nvSpPr>
        <p:spPr>
          <a:xfrm>
            <a:off x="10104120" y="1691640"/>
            <a:ext cx="1417320" cy="731520"/>
          </a:xfrm>
          <a:prstGeom prst="rect">
            <a:avLst/>
          </a:prstGeom>
          <a:noFill/>
          <a:ln/>
        </p:spPr>
        <p:txBody>
          <a:bodyPr wrap="square" lIns="0" tIns="0" rIns="0" bIns="0" rtlCol="0" anchor="ctr"/>
          <a:lstStyle/>
          <a:p>
            <a:pPr algn="ctr" indent="0" marL="0">
              <a:buNone/>
            </a:pPr>
            <a:r>
              <a:rPr lang="en-US" sz="1300" b="1" dirty="0">
                <a:solidFill>
                  <a:schemeClr val="bg1"/>
                </a:solidFill>
              </a:rPr>
              <a:t>Achieve &amp; progress</a:t>
            </a:r>
            <a:endParaRPr lang="en-US" sz="1300" dirty="0"/>
          </a:p>
        </p:txBody>
      </p:sp>
      <p:sp>
        <p:nvSpPr>
          <p:cNvPr id="36" name="stage systems 6"/>
          <p:cNvSpPr/>
          <p:nvPr/>
        </p:nvSpPr>
        <p:spPr>
          <a:xfrm>
            <a:off x="9829800" y="2651760"/>
            <a:ext cx="1737360" cy="1600200"/>
          </a:xfrm>
          <a:prstGeom prst="roundRect">
            <a:avLst>
              <a:gd name="adj" fmla="val 4571"/>
            </a:avLst>
          </a:prstGeom>
          <a:solidFill>
            <a:schemeClr val="accent5"/>
          </a:solidFill>
          <a:ln w="12700">
            <a:solidFill>
              <a:schemeClr val="accent5"/>
            </a:solidFill>
            <a:prstDash val="solid"/>
          </a:ln>
        </p:spPr>
      </p:sp>
      <p:sp>
        <p:nvSpPr>
          <p:cNvPr id="37" name="Text 35"/>
          <p:cNvSpPr txBox="1"/>
          <p:nvPr/>
        </p:nvSpPr>
        <p:spPr>
          <a:xfrm>
            <a:off x="9939528" y="2697480"/>
            <a:ext cx="1554480" cy="1508760"/>
          </a:xfrm>
          <a:prstGeom prst="rect">
            <a:avLst/>
          </a:prstGeom>
          <a:noFill/>
          <a:ln/>
        </p:spPr>
        <p:txBody>
          <a:bodyPr wrap="square" lIns="0" tIns="0" rIns="0" bIns="0" rtlCol="0" anchor="t"/>
          <a:lstStyle/>
          <a:p>
            <a:pPr indent="0" marL="0">
              <a:buNone/>
            </a:pPr>
            <a:r>
              <a:rPr lang="en-US" sz="1000" b="1" dirty="0">
                <a:solidFill>
                  <a:srgbClr val="6B6F80"/>
                </a:solidFill>
              </a:rPr>
              <a:t>Systems</a:t>
            </a:r>
            <a:endParaRPr lang="en-US" sz="1000" dirty="0"/>
          </a:p>
          <a:p>
            <a:pPr indent="0" marL="0">
              <a:buNone/>
            </a:pPr>
            <a:r>
              <a:rPr lang="en-US" sz="1200" dirty="0">
                <a:solidFill>
                  <a:schemeClr val="tx1"/>
                </a:solidFill>
              </a:rPr>
              <a:t>Dataserve</a:t>
            </a:r>
            <a:endParaRPr lang="en-US" sz="1000" dirty="0"/>
          </a:p>
          <a:p>
            <a:pPr indent="0" marL="0">
              <a:buNone/>
            </a:pPr>
            <a:r>
              <a:rPr lang="en-US" sz="1200" dirty="0">
                <a:solidFill>
                  <a:schemeClr val="tx1"/>
                </a:solidFill>
              </a:rPr>
              <a:t>UCAS · NAD</a:t>
            </a:r>
            <a:endParaRPr lang="en-US" sz="1000" dirty="0"/>
          </a:p>
          <a:p>
            <a:pPr indent="0" marL="0">
              <a:buNone/>
            </a:pPr>
            <a:r>
              <a:rPr lang="en-US" sz="1200" dirty="0">
                <a:solidFill>
                  <a:schemeClr val="tx1"/>
                </a:solidFill>
              </a:rPr>
              <a:t>Partner universities</a:t>
            </a:r>
            <a:endParaRPr lang="en-US" sz="1000" dirty="0"/>
          </a:p>
        </p:txBody>
      </p:sp>
      <p:sp>
        <p:nvSpPr>
          <p:cNvPr id="38" name="stage data 6"/>
          <p:cNvSpPr/>
          <p:nvPr/>
        </p:nvSpPr>
        <p:spPr>
          <a:xfrm>
            <a:off x="9829800" y="4389120"/>
            <a:ext cx="1737360" cy="960120"/>
          </a:xfrm>
          <a:prstGeom prst="roundRect">
            <a:avLst>
              <a:gd name="adj" fmla="val 7619"/>
            </a:avLst>
          </a:prstGeom>
          <a:solidFill>
            <a:schemeClr val="bg2"/>
          </a:solidFill>
          <a:ln w="12700">
            <a:solidFill>
              <a:schemeClr val="bg2"/>
            </a:solidFill>
            <a:prstDash val="solid"/>
          </a:ln>
        </p:spPr>
      </p:sp>
      <p:sp>
        <p:nvSpPr>
          <p:cNvPr id="39" name="Text 37"/>
          <p:cNvSpPr txBox="1"/>
          <p:nvPr/>
        </p:nvSpPr>
        <p:spPr>
          <a:xfrm>
            <a:off x="9939528" y="4434840"/>
            <a:ext cx="1554480" cy="868680"/>
          </a:xfrm>
          <a:prstGeom prst="rect">
            <a:avLst/>
          </a:prstGeom>
          <a:noFill/>
          <a:ln/>
        </p:spPr>
        <p:txBody>
          <a:bodyPr wrap="square" lIns="0" tIns="0" rIns="0" bIns="0" rtlCol="0" anchor="t"/>
          <a:lstStyle/>
          <a:p>
            <a:pPr indent="0" marL="0">
              <a:buNone/>
            </a:pPr>
            <a:r>
              <a:rPr lang="en-US" sz="1000" b="1" dirty="0">
                <a:solidFill>
                  <a:srgbClr val="6B6F80"/>
                </a:solidFill>
              </a:rPr>
              <a:t>Data</a:t>
            </a:r>
            <a:endParaRPr lang="en-US" sz="1000" dirty="0"/>
          </a:p>
          <a:p>
            <a:pPr indent="0" marL="0">
              <a:buNone/>
            </a:pPr>
            <a:r>
              <a:rPr lang="en-US" sz="1200" dirty="0">
                <a:solidFill>
                  <a:schemeClr val="tx1"/>
                </a:solidFill>
              </a:rPr>
              <a:t>Results, destinations</a:t>
            </a:r>
            <a:endParaRPr lang="en-US" sz="1000" dirty="0"/>
          </a:p>
        </p:txBody>
      </p:sp>
      <p:sp>
        <p:nvSpPr>
          <p:cNvPr id="40" name="reporting band"/>
          <p:cNvSpPr/>
          <p:nvPr/>
        </p:nvSpPr>
        <p:spPr>
          <a:xfrm>
            <a:off x="548640" y="5532120"/>
            <a:ext cx="11064240" cy="685800"/>
          </a:xfrm>
          <a:prstGeom prst="roundRect">
            <a:avLst>
              <a:gd name="adj" fmla="val 13333"/>
            </a:avLst>
          </a:prstGeom>
          <a:solidFill>
            <a:schemeClr val="accent4"/>
          </a:solidFill>
          <a:ln w="12700">
            <a:solidFill>
              <a:schemeClr val="accent4"/>
            </a:solidFill>
            <a:prstDash val="solid"/>
          </a:ln>
        </p:spPr>
      </p:sp>
      <p:sp>
        <p:nvSpPr>
          <p:cNvPr id="41" name="Text 39"/>
          <p:cNvSpPr txBox="1"/>
          <p:nvPr/>
        </p:nvSpPr>
        <p:spPr>
          <a:xfrm>
            <a:off x="777240" y="5532120"/>
            <a:ext cx="10607040" cy="685800"/>
          </a:xfrm>
          <a:prstGeom prst="rect">
            <a:avLst/>
          </a:prstGeom>
          <a:noFill/>
          <a:ln/>
        </p:spPr>
        <p:txBody>
          <a:bodyPr wrap="square" lIns="0" tIns="0" rIns="0" bIns="0" rtlCol="0" anchor="ctr"/>
          <a:lstStyle/>
          <a:p>
            <a:pPr indent="0" marL="0">
              <a:buNone/>
            </a:pPr>
            <a:r>
              <a:rPr lang="en-US" sz="1300" b="1" dirty="0">
                <a:solidFill>
                  <a:schemeClr val="bg1"/>
                </a:solidFill>
              </a:rPr>
              <a:t>Across every stage:  </a:t>
            </a:r>
            <a:pPr indent="0" marL="0">
              <a:buNone/>
            </a:pPr>
            <a:r>
              <a:rPr lang="en-US" sz="1300" dirty="0">
                <a:solidFill>
                  <a:schemeClr val="bg1"/>
                </a:solidFill>
              </a:rPr>
              <a:t>UnitE, Enquirer, TripleS, Bursary and iTrent feed the SQL Server data connector, which powers Power BI reporting</a:t>
            </a:r>
            <a:endParaRPr lang="en-US" sz="13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F80"/>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indent="0" marL="0">
              <a:buNone/>
            </a:pPr>
            <a:r>
              <a:rPr lang="en-US" sz="3200" b="1" dirty="0">
                <a:solidFill>
                  <a:schemeClr val="tx2"/>
                </a:solidFill>
              </a:rPr>
              <a:t>Reporting: five systems feed one Power BI layer</a:t>
            </a:r>
            <a:endParaRPr lang="en-US" sz="3200" dirty="0"/>
          </a:p>
        </p:txBody>
      </p:sp>
      <p:sp>
        <p:nvSpPr>
          <p:cNvPr id="3" name="Text 0"/>
          <p:cNvSpPr/>
          <p:nvPr>
            <p:ph idx="101" type="body" hasCustomPrompt="1"/>
          </p:nvPr>
        </p:nvSpPr>
        <p:spPr>
          <a:xfrm>
            <a:off x="548640" y="1005840"/>
            <a:ext cx="11064240" cy="411480"/>
          </a:xfrm>
          <a:prstGeom prst="rect">
            <a:avLst/>
          </a:prstGeom>
          <a:noFill/>
          <a:ln/>
        </p:spPr>
        <p:txBody>
          <a:bodyPr wrap="square" lIns="0" tIns="0" rIns="0" bIns="0" rtlCol="0" anchor="t"/>
          <a:lstStyle/>
          <a:p>
            <a:pPr indent="0" marL="0">
              <a:buNone/>
            </a:pPr>
            <a:r>
              <a:rPr lang="en-US" sz="1500" dirty="0">
                <a:solidFill>
                  <a:schemeClr val="tx1"/>
                </a:solidFill>
              </a:rPr>
              <a:t>All automated feeds land in the SQL Server data connector before reaching Power BI</a:t>
            </a:r>
            <a:endParaRPr lang="en-US" sz="1500" dirty="0"/>
          </a:p>
        </p:txBody>
      </p:sp>
      <p:sp>
        <p:nvSpPr>
          <p:cNvPr id="4" name="feed UnitE"/>
          <p:cNvSpPr/>
          <p:nvPr/>
        </p:nvSpPr>
        <p:spPr>
          <a:xfrm>
            <a:off x="548640" y="1691640"/>
            <a:ext cx="1463040" cy="713232"/>
          </a:xfrm>
          <a:prstGeom prst="roundRect">
            <a:avLst>
              <a:gd name="adj" fmla="val 10256"/>
            </a:avLst>
          </a:prstGeom>
          <a:solidFill>
            <a:schemeClr val="accent1"/>
          </a:solidFill>
          <a:ln w="12700">
            <a:solidFill>
              <a:schemeClr val="accent1"/>
            </a:solidFill>
            <a:prstDash val="solid"/>
          </a:ln>
        </p:spPr>
      </p:sp>
      <p:sp>
        <p:nvSpPr>
          <p:cNvPr id="5" name="feed UnitE text"/>
          <p:cNvSpPr txBox="1"/>
          <p:nvPr/>
        </p:nvSpPr>
        <p:spPr>
          <a:xfrm>
            <a:off x="594360" y="1691640"/>
            <a:ext cx="1371600" cy="713232"/>
          </a:xfrm>
          <a:prstGeom prst="rect">
            <a:avLst/>
          </a:prstGeom>
          <a:noFill/>
          <a:ln/>
        </p:spPr>
        <p:txBody>
          <a:bodyPr wrap="square" lIns="25400" tIns="25400" rIns="25400" bIns="25400" rtlCol="0" anchor="ctr"/>
          <a:lstStyle/>
          <a:p>
            <a:pPr algn="ctr" indent="0" marL="0">
              <a:buNone/>
            </a:pPr>
            <a:r>
              <a:rPr lang="en-US" sz="1500" b="1" dirty="0">
                <a:solidFill>
                  <a:schemeClr val="bg1"/>
                </a:solidFill>
              </a:rPr>
              <a:t>UnitE</a:t>
            </a:r>
            <a:endParaRPr lang="en-US" sz="1500" dirty="0"/>
          </a:p>
        </p:txBody>
      </p:sp>
      <p:sp>
        <p:nvSpPr>
          <p:cNvPr id="6" name="feed detail UnitE"/>
          <p:cNvSpPr/>
          <p:nvPr/>
        </p:nvSpPr>
        <p:spPr>
          <a:xfrm>
            <a:off x="2103120" y="1691640"/>
            <a:ext cx="4206240" cy="713232"/>
          </a:xfrm>
          <a:prstGeom prst="roundRect">
            <a:avLst>
              <a:gd name="adj" fmla="val 10256"/>
            </a:avLst>
          </a:prstGeom>
          <a:solidFill>
            <a:schemeClr val="bg2"/>
          </a:solidFill>
          <a:ln w="12700">
            <a:solidFill>
              <a:schemeClr val="bg2"/>
            </a:solidFill>
            <a:prstDash val="solid"/>
          </a:ln>
        </p:spPr>
      </p:sp>
      <p:sp>
        <p:nvSpPr>
          <p:cNvPr id="7" name="Text 5"/>
          <p:cNvSpPr txBox="1"/>
          <p:nvPr/>
        </p:nvSpPr>
        <p:spPr>
          <a:xfrm>
            <a:off x="2240280" y="1691640"/>
            <a:ext cx="3977640" cy="713232"/>
          </a:xfrm>
          <a:prstGeom prst="rect">
            <a:avLst/>
          </a:prstGeom>
          <a:noFill/>
          <a:ln/>
        </p:spPr>
        <p:txBody>
          <a:bodyPr wrap="square" lIns="0" tIns="0" rIns="0" bIns="0" rtlCol="0" anchor="ctr"/>
          <a:lstStyle/>
          <a:p>
            <a:pPr indent="0" marL="0">
              <a:buNone/>
            </a:pPr>
            <a:r>
              <a:rPr lang="en-US" sz="1200" dirty="0">
                <a:solidFill>
                  <a:schemeClr val="tx1"/>
                </a:solidFill>
              </a:rPr>
              <a:t>Student details, ASN, application, enrolment, course; employee details, organisation</a:t>
            </a:r>
            <a:endParaRPr lang="en-US" sz="1200" dirty="0"/>
          </a:p>
        </p:txBody>
      </p:sp>
      <p:sp>
        <p:nvSpPr>
          <p:cNvPr id="8" name="Shape 6"/>
          <p:cNvSpPr/>
          <p:nvPr/>
        </p:nvSpPr>
        <p:spPr>
          <a:xfrm>
            <a:off x="6355080" y="2048256"/>
            <a:ext cx="731520" cy="1828800"/>
          </a:xfrm>
          <a:prstGeom prst="line">
            <a:avLst/>
          </a:prstGeom>
          <a:noFill/>
          <a:ln w="19050">
            <a:solidFill>
              <a:schemeClr val="accent1"/>
            </a:solidFill>
            <a:prstDash val="solid"/>
            <a:tailEnd type="triangle"/>
          </a:ln>
        </p:spPr>
      </p:sp>
      <p:sp>
        <p:nvSpPr>
          <p:cNvPr id="9" name="feed Enquirer"/>
          <p:cNvSpPr/>
          <p:nvPr/>
        </p:nvSpPr>
        <p:spPr>
          <a:xfrm>
            <a:off x="548640" y="2560320"/>
            <a:ext cx="1463040" cy="713232"/>
          </a:xfrm>
          <a:prstGeom prst="roundRect">
            <a:avLst>
              <a:gd name="adj" fmla="val 10256"/>
            </a:avLst>
          </a:prstGeom>
          <a:solidFill>
            <a:schemeClr val="accent1"/>
          </a:solidFill>
          <a:ln w="12700">
            <a:solidFill>
              <a:schemeClr val="accent1"/>
            </a:solidFill>
            <a:prstDash val="solid"/>
          </a:ln>
        </p:spPr>
      </p:sp>
      <p:sp>
        <p:nvSpPr>
          <p:cNvPr id="10" name="feed Enquirer text"/>
          <p:cNvSpPr txBox="1"/>
          <p:nvPr/>
        </p:nvSpPr>
        <p:spPr>
          <a:xfrm>
            <a:off x="594360" y="2560320"/>
            <a:ext cx="1371600" cy="713232"/>
          </a:xfrm>
          <a:prstGeom prst="rect">
            <a:avLst/>
          </a:prstGeom>
          <a:noFill/>
          <a:ln/>
        </p:spPr>
        <p:txBody>
          <a:bodyPr wrap="square" lIns="25400" tIns="25400" rIns="25400" bIns="25400" rtlCol="0" anchor="ctr"/>
          <a:lstStyle/>
          <a:p>
            <a:pPr algn="ctr" indent="0" marL="0">
              <a:buNone/>
            </a:pPr>
            <a:r>
              <a:rPr lang="en-US" sz="1500" b="1" dirty="0">
                <a:solidFill>
                  <a:schemeClr val="bg1"/>
                </a:solidFill>
              </a:rPr>
              <a:t>Enquirer</a:t>
            </a:r>
            <a:endParaRPr lang="en-US" sz="1500" dirty="0"/>
          </a:p>
        </p:txBody>
      </p:sp>
      <p:sp>
        <p:nvSpPr>
          <p:cNvPr id="11" name="feed detail Enquirer"/>
          <p:cNvSpPr/>
          <p:nvPr/>
        </p:nvSpPr>
        <p:spPr>
          <a:xfrm>
            <a:off x="2103120" y="2560320"/>
            <a:ext cx="4206240" cy="713232"/>
          </a:xfrm>
          <a:prstGeom prst="roundRect">
            <a:avLst>
              <a:gd name="adj" fmla="val 10256"/>
            </a:avLst>
          </a:prstGeom>
          <a:solidFill>
            <a:schemeClr val="bg2"/>
          </a:solidFill>
          <a:ln w="12700">
            <a:solidFill>
              <a:schemeClr val="bg2"/>
            </a:solidFill>
            <a:prstDash val="solid"/>
          </a:ln>
        </p:spPr>
      </p:sp>
      <p:sp>
        <p:nvSpPr>
          <p:cNvPr id="12" name="Text 10"/>
          <p:cNvSpPr txBox="1"/>
          <p:nvPr/>
        </p:nvSpPr>
        <p:spPr>
          <a:xfrm>
            <a:off x="2240280" y="2560320"/>
            <a:ext cx="3977640" cy="713232"/>
          </a:xfrm>
          <a:prstGeom prst="rect">
            <a:avLst/>
          </a:prstGeom>
          <a:noFill/>
          <a:ln/>
        </p:spPr>
        <p:txBody>
          <a:bodyPr wrap="square" lIns="0" tIns="0" rIns="0" bIns="0" rtlCol="0" anchor="ctr"/>
          <a:lstStyle/>
          <a:p>
            <a:pPr indent="0" marL="0">
              <a:buNone/>
            </a:pPr>
            <a:r>
              <a:rPr lang="en-US" sz="1200" dirty="0">
                <a:solidFill>
                  <a:schemeClr val="tx1"/>
                </a:solidFill>
              </a:rPr>
              <a:t>Bursary engagement, curriculum planning, attendance, PEEP, care placement</a:t>
            </a:r>
            <a:endParaRPr lang="en-US" sz="1200" dirty="0"/>
          </a:p>
        </p:txBody>
      </p:sp>
      <p:sp>
        <p:nvSpPr>
          <p:cNvPr id="13" name="Shape 11"/>
          <p:cNvSpPr/>
          <p:nvPr/>
        </p:nvSpPr>
        <p:spPr>
          <a:xfrm>
            <a:off x="6355080" y="2916936"/>
            <a:ext cx="731520" cy="960120"/>
          </a:xfrm>
          <a:prstGeom prst="line">
            <a:avLst/>
          </a:prstGeom>
          <a:noFill/>
          <a:ln w="19050">
            <a:solidFill>
              <a:schemeClr val="accent1"/>
            </a:solidFill>
            <a:prstDash val="solid"/>
            <a:tailEnd type="triangle"/>
          </a:ln>
        </p:spPr>
      </p:sp>
      <p:sp>
        <p:nvSpPr>
          <p:cNvPr id="14" name="feed iTrent"/>
          <p:cNvSpPr/>
          <p:nvPr/>
        </p:nvSpPr>
        <p:spPr>
          <a:xfrm>
            <a:off x="548640" y="3429000"/>
            <a:ext cx="1463040" cy="713232"/>
          </a:xfrm>
          <a:prstGeom prst="roundRect">
            <a:avLst>
              <a:gd name="adj" fmla="val 10256"/>
            </a:avLst>
          </a:prstGeom>
          <a:solidFill>
            <a:schemeClr val="accent1"/>
          </a:solidFill>
          <a:ln w="12700">
            <a:solidFill>
              <a:schemeClr val="accent1"/>
            </a:solidFill>
            <a:prstDash val="solid"/>
          </a:ln>
        </p:spPr>
      </p:sp>
      <p:sp>
        <p:nvSpPr>
          <p:cNvPr id="15" name="feed iTrent text"/>
          <p:cNvSpPr txBox="1"/>
          <p:nvPr/>
        </p:nvSpPr>
        <p:spPr>
          <a:xfrm>
            <a:off x="594360" y="3429000"/>
            <a:ext cx="1371600" cy="713232"/>
          </a:xfrm>
          <a:prstGeom prst="rect">
            <a:avLst/>
          </a:prstGeom>
          <a:noFill/>
          <a:ln/>
        </p:spPr>
        <p:txBody>
          <a:bodyPr wrap="square" lIns="25400" tIns="25400" rIns="25400" bIns="25400" rtlCol="0" anchor="ctr"/>
          <a:lstStyle/>
          <a:p>
            <a:pPr algn="ctr" indent="0" marL="0">
              <a:buNone/>
            </a:pPr>
            <a:r>
              <a:rPr lang="en-US" sz="1500" b="1" dirty="0">
                <a:solidFill>
                  <a:schemeClr val="bg1"/>
                </a:solidFill>
              </a:rPr>
              <a:t>iTrent</a:t>
            </a:r>
            <a:endParaRPr lang="en-US" sz="1500" dirty="0"/>
          </a:p>
        </p:txBody>
      </p:sp>
      <p:sp>
        <p:nvSpPr>
          <p:cNvPr id="16" name="feed detail iTrent"/>
          <p:cNvSpPr/>
          <p:nvPr/>
        </p:nvSpPr>
        <p:spPr>
          <a:xfrm>
            <a:off x="2103120" y="3429000"/>
            <a:ext cx="4206240" cy="713232"/>
          </a:xfrm>
          <a:prstGeom prst="roundRect">
            <a:avLst>
              <a:gd name="adj" fmla="val 10256"/>
            </a:avLst>
          </a:prstGeom>
          <a:solidFill>
            <a:schemeClr val="bg2"/>
          </a:solidFill>
          <a:ln w="12700">
            <a:solidFill>
              <a:schemeClr val="bg2"/>
            </a:solidFill>
            <a:prstDash val="solid"/>
          </a:ln>
        </p:spPr>
      </p:sp>
      <p:sp>
        <p:nvSpPr>
          <p:cNvPr id="17" name="Text 15"/>
          <p:cNvSpPr txBox="1"/>
          <p:nvPr/>
        </p:nvSpPr>
        <p:spPr>
          <a:xfrm>
            <a:off x="2240280" y="3429000"/>
            <a:ext cx="3977640" cy="713232"/>
          </a:xfrm>
          <a:prstGeom prst="rect">
            <a:avLst/>
          </a:prstGeom>
          <a:noFill/>
          <a:ln/>
        </p:spPr>
        <p:txBody>
          <a:bodyPr wrap="square" lIns="0" tIns="0" rIns="0" bIns="0" rtlCol="0" anchor="ctr"/>
          <a:lstStyle/>
          <a:p>
            <a:pPr indent="0" marL="0">
              <a:buNone/>
            </a:pPr>
            <a:r>
              <a:rPr lang="en-US" sz="1200" dirty="0">
                <a:solidFill>
                  <a:schemeClr val="tx1"/>
                </a:solidFill>
              </a:rPr>
              <a:t>All employee data: detail, work pattern, payroll, job role</a:t>
            </a:r>
            <a:endParaRPr lang="en-US" sz="1200" dirty="0"/>
          </a:p>
        </p:txBody>
      </p:sp>
      <p:sp>
        <p:nvSpPr>
          <p:cNvPr id="18" name="Shape 16"/>
          <p:cNvSpPr/>
          <p:nvPr/>
        </p:nvSpPr>
        <p:spPr>
          <a:xfrm>
            <a:off x="6355080" y="3785616"/>
            <a:ext cx="731520" cy="91440"/>
          </a:xfrm>
          <a:prstGeom prst="line">
            <a:avLst/>
          </a:prstGeom>
          <a:noFill/>
          <a:ln w="19050">
            <a:solidFill>
              <a:schemeClr val="accent1"/>
            </a:solidFill>
            <a:prstDash val="solid"/>
            <a:tailEnd type="triangle"/>
          </a:ln>
        </p:spPr>
      </p:sp>
      <p:sp>
        <p:nvSpPr>
          <p:cNvPr id="19" name="feed TripleS"/>
          <p:cNvSpPr/>
          <p:nvPr/>
        </p:nvSpPr>
        <p:spPr>
          <a:xfrm>
            <a:off x="548640" y="4297680"/>
            <a:ext cx="1463040" cy="713232"/>
          </a:xfrm>
          <a:prstGeom prst="roundRect">
            <a:avLst>
              <a:gd name="adj" fmla="val 10256"/>
            </a:avLst>
          </a:prstGeom>
          <a:solidFill>
            <a:schemeClr val="accent1"/>
          </a:solidFill>
          <a:ln w="12700">
            <a:solidFill>
              <a:schemeClr val="accent1"/>
            </a:solidFill>
            <a:prstDash val="solid"/>
          </a:ln>
        </p:spPr>
      </p:sp>
      <p:sp>
        <p:nvSpPr>
          <p:cNvPr id="20" name="feed TripleS text"/>
          <p:cNvSpPr txBox="1"/>
          <p:nvPr/>
        </p:nvSpPr>
        <p:spPr>
          <a:xfrm>
            <a:off x="594360" y="4297680"/>
            <a:ext cx="1371600" cy="713232"/>
          </a:xfrm>
          <a:prstGeom prst="rect">
            <a:avLst/>
          </a:prstGeom>
          <a:noFill/>
          <a:ln/>
        </p:spPr>
        <p:txBody>
          <a:bodyPr wrap="square" lIns="25400" tIns="25400" rIns="25400" bIns="25400" rtlCol="0" anchor="ctr"/>
          <a:lstStyle/>
          <a:p>
            <a:pPr algn="ctr" indent="0" marL="0">
              <a:buNone/>
            </a:pPr>
            <a:r>
              <a:rPr lang="en-US" sz="1500" b="1" dirty="0">
                <a:solidFill>
                  <a:schemeClr val="bg1"/>
                </a:solidFill>
              </a:rPr>
              <a:t>TripleS</a:t>
            </a:r>
            <a:endParaRPr lang="en-US" sz="1500" dirty="0"/>
          </a:p>
        </p:txBody>
      </p:sp>
      <p:sp>
        <p:nvSpPr>
          <p:cNvPr id="21" name="feed detail TripleS"/>
          <p:cNvSpPr/>
          <p:nvPr/>
        </p:nvSpPr>
        <p:spPr>
          <a:xfrm>
            <a:off x="2103120" y="4297680"/>
            <a:ext cx="4206240" cy="713232"/>
          </a:xfrm>
          <a:prstGeom prst="roundRect">
            <a:avLst>
              <a:gd name="adj" fmla="val 10256"/>
            </a:avLst>
          </a:prstGeom>
          <a:solidFill>
            <a:schemeClr val="bg2"/>
          </a:solidFill>
          <a:ln w="12700">
            <a:solidFill>
              <a:schemeClr val="bg2"/>
            </a:solidFill>
            <a:prstDash val="solid"/>
          </a:ln>
        </p:spPr>
      </p:sp>
      <p:sp>
        <p:nvSpPr>
          <p:cNvPr id="22" name="Text 20"/>
          <p:cNvSpPr txBox="1"/>
          <p:nvPr/>
        </p:nvSpPr>
        <p:spPr>
          <a:xfrm>
            <a:off x="2240280" y="4297680"/>
            <a:ext cx="3977640" cy="713232"/>
          </a:xfrm>
          <a:prstGeom prst="rect">
            <a:avLst/>
          </a:prstGeom>
          <a:noFill/>
          <a:ln/>
        </p:spPr>
        <p:txBody>
          <a:bodyPr wrap="square" lIns="0" tIns="0" rIns="0" bIns="0" rtlCol="0" anchor="ctr"/>
          <a:lstStyle/>
          <a:p>
            <a:pPr indent="0" marL="0">
              <a:buNone/>
            </a:pPr>
            <a:r>
              <a:rPr lang="en-US" sz="1200" dirty="0">
                <a:solidFill>
                  <a:schemeClr val="tx1"/>
                </a:solidFill>
              </a:rPr>
              <a:t>ASN and school transition</a:t>
            </a:r>
            <a:endParaRPr lang="en-US" sz="1200" dirty="0"/>
          </a:p>
        </p:txBody>
      </p:sp>
      <p:sp>
        <p:nvSpPr>
          <p:cNvPr id="23" name="Shape 21"/>
          <p:cNvSpPr/>
          <p:nvPr/>
        </p:nvSpPr>
        <p:spPr>
          <a:xfrm flipV="1">
            <a:off x="6355080" y="3877056"/>
            <a:ext cx="731520" cy="777240"/>
          </a:xfrm>
          <a:prstGeom prst="line">
            <a:avLst/>
          </a:prstGeom>
          <a:noFill/>
          <a:ln w="19050">
            <a:solidFill>
              <a:schemeClr val="accent1"/>
            </a:solidFill>
            <a:prstDash val="solid"/>
            <a:tailEnd type="triangle"/>
          </a:ln>
        </p:spPr>
      </p:sp>
      <p:sp>
        <p:nvSpPr>
          <p:cNvPr id="24" name="feed Bursary"/>
          <p:cNvSpPr/>
          <p:nvPr/>
        </p:nvSpPr>
        <p:spPr>
          <a:xfrm>
            <a:off x="548640" y="5166360"/>
            <a:ext cx="1463040" cy="713232"/>
          </a:xfrm>
          <a:prstGeom prst="roundRect">
            <a:avLst>
              <a:gd name="adj" fmla="val 10256"/>
            </a:avLst>
          </a:prstGeom>
          <a:solidFill>
            <a:schemeClr val="accent1"/>
          </a:solidFill>
          <a:ln w="12700">
            <a:solidFill>
              <a:schemeClr val="accent1"/>
            </a:solidFill>
            <a:prstDash val="solid"/>
          </a:ln>
        </p:spPr>
      </p:sp>
      <p:sp>
        <p:nvSpPr>
          <p:cNvPr id="25" name="feed Bursary text"/>
          <p:cNvSpPr txBox="1"/>
          <p:nvPr/>
        </p:nvSpPr>
        <p:spPr>
          <a:xfrm>
            <a:off x="594360" y="5166360"/>
            <a:ext cx="1371600" cy="713232"/>
          </a:xfrm>
          <a:prstGeom prst="rect">
            <a:avLst/>
          </a:prstGeom>
          <a:noFill/>
          <a:ln/>
        </p:spPr>
        <p:txBody>
          <a:bodyPr wrap="square" lIns="25400" tIns="25400" rIns="25400" bIns="25400" rtlCol="0" anchor="ctr"/>
          <a:lstStyle/>
          <a:p>
            <a:pPr algn="ctr" indent="0" marL="0">
              <a:buNone/>
            </a:pPr>
            <a:r>
              <a:rPr lang="en-US" sz="1500" b="1" dirty="0">
                <a:solidFill>
                  <a:schemeClr val="bg1"/>
                </a:solidFill>
              </a:rPr>
              <a:t>Bursary</a:t>
            </a:r>
            <a:endParaRPr lang="en-US" sz="1500" dirty="0"/>
          </a:p>
        </p:txBody>
      </p:sp>
      <p:sp>
        <p:nvSpPr>
          <p:cNvPr id="26" name="feed detail Bursary"/>
          <p:cNvSpPr/>
          <p:nvPr/>
        </p:nvSpPr>
        <p:spPr>
          <a:xfrm>
            <a:off x="2103120" y="5166360"/>
            <a:ext cx="4206240" cy="713232"/>
          </a:xfrm>
          <a:prstGeom prst="roundRect">
            <a:avLst>
              <a:gd name="adj" fmla="val 10256"/>
            </a:avLst>
          </a:prstGeom>
          <a:solidFill>
            <a:schemeClr val="bg2"/>
          </a:solidFill>
          <a:ln w="12700">
            <a:solidFill>
              <a:schemeClr val="bg2"/>
            </a:solidFill>
            <a:prstDash val="solid"/>
          </a:ln>
        </p:spPr>
      </p:sp>
      <p:sp>
        <p:nvSpPr>
          <p:cNvPr id="27" name="Text 25"/>
          <p:cNvSpPr txBox="1"/>
          <p:nvPr/>
        </p:nvSpPr>
        <p:spPr>
          <a:xfrm>
            <a:off x="2240280" y="5166360"/>
            <a:ext cx="3977640" cy="713232"/>
          </a:xfrm>
          <a:prstGeom prst="rect">
            <a:avLst/>
          </a:prstGeom>
          <a:noFill/>
          <a:ln/>
        </p:spPr>
        <p:txBody>
          <a:bodyPr wrap="square" lIns="0" tIns="0" rIns="0" bIns="0" rtlCol="0" anchor="ctr"/>
          <a:lstStyle/>
          <a:p>
            <a:pPr indent="0" marL="0">
              <a:buNone/>
            </a:pPr>
            <a:r>
              <a:rPr lang="en-US" sz="1200" dirty="0">
                <a:solidFill>
                  <a:schemeClr val="tx1"/>
                </a:solidFill>
              </a:rPr>
              <a:t>Applications and awards</a:t>
            </a:r>
            <a:endParaRPr lang="en-US" sz="1200" dirty="0"/>
          </a:p>
        </p:txBody>
      </p:sp>
      <p:sp>
        <p:nvSpPr>
          <p:cNvPr id="28" name="Shape 26"/>
          <p:cNvSpPr/>
          <p:nvPr/>
        </p:nvSpPr>
        <p:spPr>
          <a:xfrm flipV="1">
            <a:off x="6355080" y="3877056"/>
            <a:ext cx="731520" cy="1645920"/>
          </a:xfrm>
          <a:prstGeom prst="line">
            <a:avLst/>
          </a:prstGeom>
          <a:noFill/>
          <a:ln w="19050">
            <a:solidFill>
              <a:schemeClr val="accent1"/>
            </a:solidFill>
            <a:prstDash val="solid"/>
            <a:tailEnd type="triangle"/>
          </a:ln>
        </p:spPr>
      </p:sp>
      <p:sp>
        <p:nvSpPr>
          <p:cNvPr id="29" name="connector"/>
          <p:cNvSpPr/>
          <p:nvPr/>
        </p:nvSpPr>
        <p:spPr>
          <a:xfrm>
            <a:off x="7132320" y="3291840"/>
            <a:ext cx="2011680" cy="1188720"/>
          </a:xfrm>
          <a:prstGeom prst="roundRect">
            <a:avLst>
              <a:gd name="adj" fmla="val 6154"/>
            </a:avLst>
          </a:prstGeom>
          <a:solidFill>
            <a:schemeClr val="accent4"/>
          </a:solidFill>
          <a:ln w="12700">
            <a:solidFill>
              <a:schemeClr val="accent4"/>
            </a:solidFill>
            <a:prstDash val="solid"/>
          </a:ln>
          <a:effectLst>
            <a:outerShdw sx="100000" sy="100000" kx="0" ky="0" algn="bl" rotWithShape="0" blurRad="50800" dist="25400" dir="5400000">
              <a:srgbClr val="000000">
                <a:alpha val="15000"/>
              </a:srgbClr>
            </a:outerShdw>
          </a:effectLst>
        </p:spPr>
      </p:sp>
      <p:sp>
        <p:nvSpPr>
          <p:cNvPr id="30" name="connector text"/>
          <p:cNvSpPr txBox="1"/>
          <p:nvPr/>
        </p:nvSpPr>
        <p:spPr>
          <a:xfrm>
            <a:off x="7178040" y="3291840"/>
            <a:ext cx="1920240" cy="1188720"/>
          </a:xfrm>
          <a:prstGeom prst="rect">
            <a:avLst/>
          </a:prstGeom>
          <a:noFill/>
          <a:ln/>
        </p:spPr>
        <p:txBody>
          <a:bodyPr wrap="square" lIns="25400" tIns="25400" rIns="25400" bIns="25400" rtlCol="0" anchor="ctr"/>
          <a:lstStyle/>
          <a:p>
            <a:pPr algn="ctr" indent="0" marL="0">
              <a:buNone/>
            </a:pPr>
            <a:r>
              <a:rPr lang="en-US" sz="1600" b="1" dirty="0">
                <a:solidFill>
                  <a:schemeClr val="bg1"/>
                </a:solidFill>
              </a:rPr>
              <a:t>Data Connector</a:t>
            </a:r>
            <a:endParaRPr lang="en-US" sz="1600" dirty="0"/>
          </a:p>
          <a:p>
            <a:pPr algn="ctr" indent="0" marL="0">
              <a:buNone/>
            </a:pPr>
            <a:r>
              <a:rPr lang="en-US" sz="1200" dirty="0">
                <a:solidFill>
                  <a:schemeClr val="bg1"/>
                </a:solidFill>
              </a:rPr>
              <a:t>SQL Server</a:t>
            </a:r>
            <a:endParaRPr lang="en-US" sz="1600" dirty="0"/>
          </a:p>
        </p:txBody>
      </p:sp>
      <p:sp>
        <p:nvSpPr>
          <p:cNvPr id="31" name="Shape 29"/>
          <p:cNvSpPr/>
          <p:nvPr/>
        </p:nvSpPr>
        <p:spPr>
          <a:xfrm>
            <a:off x="9189720" y="3886200"/>
            <a:ext cx="411480" cy="914"/>
          </a:xfrm>
          <a:prstGeom prst="line">
            <a:avLst/>
          </a:prstGeom>
          <a:noFill/>
          <a:ln w="28575">
            <a:solidFill>
              <a:schemeClr val="tx2"/>
            </a:solidFill>
            <a:prstDash val="solid"/>
            <a:tailEnd type="triangle"/>
          </a:ln>
        </p:spPr>
      </p:sp>
      <p:sp>
        <p:nvSpPr>
          <p:cNvPr id="32" name="powerbi"/>
          <p:cNvSpPr/>
          <p:nvPr/>
        </p:nvSpPr>
        <p:spPr>
          <a:xfrm>
            <a:off x="9646920" y="3291840"/>
            <a:ext cx="1965960" cy="1188720"/>
          </a:xfrm>
          <a:prstGeom prst="roundRect">
            <a:avLst>
              <a:gd name="adj" fmla="val 6154"/>
            </a:avLst>
          </a:prstGeom>
          <a:solidFill>
            <a:schemeClr val="accent5"/>
          </a:solidFill>
          <a:ln w="19050">
            <a:solidFill>
              <a:schemeClr val="accent1"/>
            </a:solidFill>
            <a:prstDash val="solid"/>
          </a:ln>
          <a:effectLst>
            <a:outerShdw sx="100000" sy="100000" kx="0" ky="0" algn="bl" rotWithShape="0" blurRad="50800" dist="25400" dir="5400000">
              <a:srgbClr val="000000">
                <a:alpha val="15000"/>
              </a:srgbClr>
            </a:outerShdw>
          </a:effectLst>
        </p:spPr>
      </p:sp>
      <p:sp>
        <p:nvSpPr>
          <p:cNvPr id="33" name="powerbi text"/>
          <p:cNvSpPr txBox="1"/>
          <p:nvPr/>
        </p:nvSpPr>
        <p:spPr>
          <a:xfrm>
            <a:off x="9692640" y="3291840"/>
            <a:ext cx="1874520" cy="1188720"/>
          </a:xfrm>
          <a:prstGeom prst="rect">
            <a:avLst/>
          </a:prstGeom>
          <a:noFill/>
          <a:ln/>
        </p:spPr>
        <p:txBody>
          <a:bodyPr wrap="square" lIns="25400" tIns="25400" rIns="25400" bIns="25400" rtlCol="0" anchor="ctr"/>
          <a:lstStyle/>
          <a:p>
            <a:pPr algn="ctr" indent="0" marL="0">
              <a:buNone/>
            </a:pPr>
            <a:r>
              <a:rPr lang="en-US" sz="1600" b="1" dirty="0">
                <a:solidFill>
                  <a:schemeClr val="tx1"/>
                </a:solidFill>
              </a:rPr>
              <a:t>BI Report</a:t>
            </a:r>
            <a:endParaRPr lang="en-US" sz="1600" dirty="0"/>
          </a:p>
          <a:p>
            <a:pPr algn="ctr" indent="0" marL="0">
              <a:buNone/>
            </a:pPr>
            <a:r>
              <a:rPr lang="en-US" sz="1200" dirty="0">
                <a:solidFill>
                  <a:schemeClr val="tx1"/>
                </a:solidFill>
              </a:rPr>
              <a:t>Power BI</a:t>
            </a:r>
            <a:endParaRPr lang="en-US" sz="1600" dirty="0"/>
          </a:p>
        </p:txBody>
      </p:sp>
      <p:sp>
        <p:nvSpPr>
          <p:cNvPr id="34" name="side feeds"/>
          <p:cNvSpPr/>
          <p:nvPr/>
        </p:nvSpPr>
        <p:spPr>
          <a:xfrm>
            <a:off x="7132320" y="4892040"/>
            <a:ext cx="4480560" cy="1097280"/>
          </a:xfrm>
          <a:prstGeom prst="roundRect">
            <a:avLst>
              <a:gd name="adj" fmla="val 6667"/>
            </a:avLst>
          </a:prstGeom>
          <a:solidFill>
            <a:srgbClr val="FDF0DF"/>
          </a:solidFill>
          <a:ln w="12700">
            <a:solidFill>
              <a:srgbClr val="FDF0DF"/>
            </a:solidFill>
            <a:prstDash val="solid"/>
          </a:ln>
        </p:spPr>
      </p:sp>
      <p:sp>
        <p:nvSpPr>
          <p:cNvPr id="35" name="Text 33"/>
          <p:cNvSpPr txBox="1"/>
          <p:nvPr/>
        </p:nvSpPr>
        <p:spPr>
          <a:xfrm>
            <a:off x="7269480" y="4892040"/>
            <a:ext cx="4206240" cy="1097280"/>
          </a:xfrm>
          <a:prstGeom prst="rect">
            <a:avLst/>
          </a:prstGeom>
          <a:noFill/>
          <a:ln/>
        </p:spPr>
        <p:txBody>
          <a:bodyPr wrap="square" lIns="0" tIns="0" rIns="0" bIns="0" rtlCol="0" anchor="ctr"/>
          <a:lstStyle/>
          <a:p>
            <a:pPr indent="0" marL="0">
              <a:buNone/>
            </a:pPr>
            <a:r>
              <a:rPr lang="en-US" sz="1200" b="1" dirty="0">
                <a:solidFill>
                  <a:schemeClr val="tx1"/>
                </a:solidFill>
              </a:rPr>
              <a:t>Also reaching Power BI outside the connector</a:t>
            </a:r>
            <a:endParaRPr lang="en-US" sz="1200" dirty="0"/>
          </a:p>
          <a:p>
            <a:pPr indent="0" marL="0">
              <a:buNone/>
            </a:pPr>
            <a:r>
              <a:rPr lang="en-US" sz="1200" dirty="0">
                <a:solidFill>
                  <a:schemeClr val="tx1"/>
                </a:solidFill>
              </a:rPr>
              <a:t>Staff Helpdesk (UNIDESK) directly; MS Access databases by manual upload</a:t>
            </a:r>
            <a:endParaRPr lang="en-US" sz="12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F80"/>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indent="0" marL="0">
              <a:buNone/>
            </a:pPr>
            <a:r>
              <a:rPr lang="en-US" sz="3200" b="1" dirty="0">
                <a:solidFill>
                  <a:schemeClr val="tx2"/>
                </a:solidFill>
              </a:rPr>
              <a:t>Where data still moves by hand</a:t>
            </a:r>
            <a:endParaRPr lang="en-US" sz="3200" dirty="0"/>
          </a:p>
        </p:txBody>
      </p:sp>
      <p:sp>
        <p:nvSpPr>
          <p:cNvPr id="3" name="Text 0"/>
          <p:cNvSpPr/>
          <p:nvPr>
            <p:ph idx="101" type="body" hasCustomPrompt="1"/>
          </p:nvPr>
        </p:nvSpPr>
        <p:spPr>
          <a:xfrm>
            <a:off x="548640" y="1005840"/>
            <a:ext cx="11064240" cy="411480"/>
          </a:xfrm>
          <a:prstGeom prst="rect">
            <a:avLst/>
          </a:prstGeom>
          <a:noFill/>
          <a:ln/>
        </p:spPr>
        <p:txBody>
          <a:bodyPr wrap="square" lIns="0" tIns="0" rIns="0" bIns="0" rtlCol="0" anchor="t"/>
          <a:lstStyle/>
          <a:p>
            <a:pPr indent="0" marL="0">
              <a:buNone/>
            </a:pPr>
            <a:r>
              <a:rPr lang="en-US" sz="1500" dirty="0">
                <a:solidFill>
                  <a:schemeClr val="tx1"/>
                </a:solidFill>
              </a:rPr>
              <a:t>23 of 98 connections are manual. These are the main ones on the student and staff side</a:t>
            </a:r>
            <a:endParaRPr lang="en-US" sz="1500" dirty="0"/>
          </a:p>
        </p:txBody>
      </p:sp>
      <p:graphicFrame>
        <p:nvGraphicFramePr>
          <p:cNvPr id="9" name="manual table"/>
          <p:cNvGraphicFramePr>
            <a:graphicFrameLocks noGrp="1"/>
          </p:cNvGraphicFramePr>
          <p:nvPr>
            <p:extLst>
              <p:ext uri="{D42A27DB-BD31-4B8C-83A1-F6EECF244321}">
                <p14:modId xmlns:p14="http://schemas.microsoft.com/office/powerpoint/2010/main" val="1579011935"/>
              </p:ext>
            </p:extLst>
          </p:nvPr>
        </p:nvGraphicFramePr>
        <p:xfrm>
          <a:off x="548640" y="1645920"/>
          <a:ext cx="11064240" cy="914400"/>
        </p:xfrm>
        <a:graphic>
          <a:graphicData uri="http://schemas.openxmlformats.org/drawingml/2006/table">
            <a:tbl>
              <a:tblPr/>
              <a:tblGrid>
                <a:gridCol w="2926080"/>
                <a:gridCol w="2377440"/>
                <a:gridCol w="2834640"/>
                <a:gridCol w="2926080"/>
              </a:tblGrid>
              <a:tr h="457200">
                <a:tc>
                  <a:txBody>
                    <a:bodyPr/>
                    <a:lstStyle/>
                    <a:p>
                      <a:pPr indent="0" marL="0">
                        <a:buNone/>
                      </a:pPr>
                      <a:r>
                        <a:rPr lang="en-US" sz="1200" b="1" dirty="0">
                          <a:solidFill>
                            <a:schemeClr val="bg1"/>
                          </a:solidFill>
                        </a:rPr>
                        <a:t>From</a:t>
                      </a:r>
                      <a:endParaRPr lang="en-US" sz="1200" dirty="0"/>
                    </a:p>
                  </a:txBody>
                  <a:tcPr marL="73152" marR="73152" marT="0" marB="0" anchor="ctr">
                    <a:lnL w="9525" cap="flat" cmpd="sng" algn="ctr">
                      <a:solidFill>
                        <a:srgbClr val="D5D6E3"/>
                      </a:solidFill>
                      <a:prstDash val="solid"/>
                      <a:round/>
                      <a:headEnd type="none" w="med" len="med"/>
                      <a:tailEnd type="none" w="med" len="med"/>
                    </a:lnL>
                    <a:lnR w="9525" cap="flat" cmpd="sng" algn="ctr">
                      <a:solidFill>
                        <a:srgbClr val="D5D6E3"/>
                      </a:solidFill>
                      <a:prstDash val="solid"/>
                      <a:round/>
                      <a:headEnd type="none" w="med" len="med"/>
                      <a:tailEnd type="none" w="med" len="med"/>
                    </a:lnR>
                    <a:lnT w="9525" cap="flat" cmpd="sng" algn="ctr">
                      <a:solidFill>
                        <a:srgbClr val="D5D6E3"/>
                      </a:solidFill>
                      <a:prstDash val="solid"/>
                      <a:round/>
                      <a:headEnd type="none" w="med" len="med"/>
                      <a:tailEnd type="none" w="med" len="med"/>
                    </a:lnT>
                    <a:lnB w="9525" cap="flat" cmpd="sng" algn="ctr">
                      <a:solidFill>
                        <a:srgbClr val="D5D6E3"/>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To</a:t>
                      </a:r>
                      <a:endParaRPr lang="en-US" sz="1200" dirty="0"/>
                    </a:p>
                  </a:txBody>
                  <a:tcPr marL="73152" marR="73152" marT="0" marB="0" anchor="ctr">
                    <a:lnL w="9525" cap="flat" cmpd="sng" algn="ctr">
                      <a:solidFill>
                        <a:srgbClr val="D5D6E3"/>
                      </a:solidFill>
                      <a:prstDash val="solid"/>
                      <a:round/>
                      <a:headEnd type="none" w="med" len="med"/>
                      <a:tailEnd type="none" w="med" len="med"/>
                    </a:lnL>
                    <a:lnR w="9525" cap="flat" cmpd="sng" algn="ctr">
                      <a:solidFill>
                        <a:srgbClr val="D5D6E3"/>
                      </a:solidFill>
                      <a:prstDash val="solid"/>
                      <a:round/>
                      <a:headEnd type="none" w="med" len="med"/>
                      <a:tailEnd type="none" w="med" len="med"/>
                    </a:lnR>
                    <a:lnT w="9525" cap="flat" cmpd="sng" algn="ctr">
                      <a:solidFill>
                        <a:srgbClr val="D5D6E3"/>
                      </a:solidFill>
                      <a:prstDash val="solid"/>
                      <a:round/>
                      <a:headEnd type="none" w="med" len="med"/>
                      <a:tailEnd type="none" w="med" len="med"/>
                    </a:lnT>
                    <a:lnB w="9525" cap="flat" cmpd="sng" algn="ctr">
                      <a:solidFill>
                        <a:srgbClr val="D5D6E3"/>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What moves</a:t>
                      </a:r>
                      <a:endParaRPr lang="en-US" sz="1200" dirty="0"/>
                    </a:p>
                  </a:txBody>
                  <a:tcPr marL="73152" marR="73152" marT="0" marB="0" anchor="ctr">
                    <a:lnL w="9525" cap="flat" cmpd="sng" algn="ctr">
                      <a:solidFill>
                        <a:srgbClr val="D5D6E3"/>
                      </a:solidFill>
                      <a:prstDash val="solid"/>
                      <a:round/>
                      <a:headEnd type="none" w="med" len="med"/>
                      <a:tailEnd type="none" w="med" len="med"/>
                    </a:lnL>
                    <a:lnR w="9525" cap="flat" cmpd="sng" algn="ctr">
                      <a:solidFill>
                        <a:srgbClr val="D5D6E3"/>
                      </a:solidFill>
                      <a:prstDash val="solid"/>
                      <a:round/>
                      <a:headEnd type="none" w="med" len="med"/>
                      <a:tailEnd type="none" w="med" len="med"/>
                    </a:lnR>
                    <a:lnT w="9525" cap="flat" cmpd="sng" algn="ctr">
                      <a:solidFill>
                        <a:srgbClr val="D5D6E3"/>
                      </a:solidFill>
                      <a:prstDash val="solid"/>
                      <a:round/>
                      <a:headEnd type="none" w="med" len="med"/>
                      <a:tailEnd type="none" w="med" len="med"/>
                    </a:lnT>
                    <a:lnB w="9525" cap="flat" cmpd="sng" algn="ctr">
                      <a:solidFill>
                        <a:srgbClr val="D5D6E3"/>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Why it matters</a:t>
                      </a:r>
                      <a:endParaRPr lang="en-US" sz="1200" dirty="0"/>
                    </a:p>
                  </a:txBody>
                  <a:tcPr marL="73152" marR="73152" marT="0" marB="0" anchor="ctr">
                    <a:lnL w="9525" cap="flat" cmpd="sng" algn="ctr">
                      <a:solidFill>
                        <a:srgbClr val="D5D6E3"/>
                      </a:solidFill>
                      <a:prstDash val="solid"/>
                      <a:round/>
                      <a:headEnd type="none" w="med" len="med"/>
                      <a:tailEnd type="none" w="med" len="med"/>
                    </a:lnL>
                    <a:lnR w="9525" cap="flat" cmpd="sng" algn="ctr">
                      <a:solidFill>
                        <a:srgbClr val="D5D6E3"/>
                      </a:solidFill>
                      <a:prstDash val="solid"/>
                      <a:round/>
                      <a:headEnd type="none" w="med" len="med"/>
                      <a:tailEnd type="none" w="med" len="med"/>
                    </a:lnR>
                    <a:lnT w="9525" cap="flat" cmpd="sng" algn="ctr">
                      <a:solidFill>
                        <a:srgbClr val="D5D6E3"/>
                      </a:solidFill>
                      <a:prstDash val="solid"/>
                      <a:round/>
                      <a:headEnd type="none" w="med" len="med"/>
                      <a:tailEnd type="none" w="med" len="med"/>
                    </a:lnT>
                    <a:lnB w="9525" cap="flat" cmpd="sng" algn="ctr">
                      <a:solidFill>
                        <a:srgbClr val="D5D6E3"/>
                      </a:solidFill>
                      <a:prstDash val="solid"/>
                      <a:round/>
                      <a:headEnd type="none" w="med" len="med"/>
                      <a:tailEnd type="none" w="med" len="med"/>
                    </a:lnB>
                    <a:solidFill>
                      <a:schemeClr val="tx2"/>
                    </a:solidFill>
                  </a:tcPr>
                </a:tc>
              </a:tr>
              <a:tr h="457200">
                <a:tc>
                  <a:txBody>
                    <a:bodyPr/>
                    <a:lstStyle/>
                    <a:p>
                      <a:pPr indent="0" marL="0">
                        <a:buNone/>
                      </a:pPr>
                      <a:r>
                        <a:rPr lang="en-US" sz="1200" dirty="0">
                          <a:solidFill>
                            <a:schemeClr val="tx1"/>
                          </a:solidFill>
                        </a:rPr>
                        <a:t>Enquirer, Student Portal, FVC Portal</a:t>
                      </a:r>
                      <a:endParaRPr lang="en-US" sz="1200" dirty="0"/>
                    </a:p>
                  </a:txBody>
                  <a:tcPr marL="73152" marR="73152" marT="0" marB="0" anchor="ctr">
                    <a:lnL w="9525" cap="flat" cmpd="sng" algn="ctr">
                      <a:solidFill>
                        <a:srgbClr val="D5D6E3"/>
                      </a:solidFill>
                      <a:prstDash val="solid"/>
                      <a:round/>
                      <a:headEnd type="none" w="med" len="med"/>
                      <a:tailEnd type="none" w="med" len="med"/>
                    </a:lnL>
                    <a:lnR w="9525" cap="flat" cmpd="sng" algn="ctr">
                      <a:solidFill>
                        <a:srgbClr val="D5D6E3"/>
                      </a:solidFill>
                      <a:prstDash val="solid"/>
                      <a:round/>
                      <a:headEnd type="none" w="med" len="med"/>
                      <a:tailEnd type="none" w="med" len="med"/>
                    </a:lnR>
                    <a:lnT w="9525" cap="flat" cmpd="sng" algn="ctr">
                      <a:solidFill>
                        <a:srgbClr val="D5D6E3"/>
                      </a:solidFill>
                      <a:prstDash val="solid"/>
                      <a:round/>
                      <a:headEnd type="none" w="med" len="med"/>
                      <a:tailEnd type="none" w="med" len="med"/>
                    </a:lnT>
                    <a:lnB w="9525" cap="flat" cmpd="sng" algn="ctr">
                      <a:solidFill>
                        <a:srgbClr val="D5D6E3"/>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UnitE</a:t>
                      </a:r>
                      <a:endParaRPr lang="en-US" sz="1200" dirty="0"/>
                    </a:p>
                  </a:txBody>
                  <a:tcPr marL="73152" marR="73152" marT="0" marB="0" anchor="ctr">
                    <a:lnL w="9525" cap="flat" cmpd="sng" algn="ctr">
                      <a:solidFill>
                        <a:srgbClr val="D5D6E3"/>
                      </a:solidFill>
                      <a:prstDash val="solid"/>
                      <a:round/>
                      <a:headEnd type="none" w="med" len="med"/>
                      <a:tailEnd type="none" w="med" len="med"/>
                    </a:lnL>
                    <a:lnR w="9525" cap="flat" cmpd="sng" algn="ctr">
                      <a:solidFill>
                        <a:srgbClr val="D5D6E3"/>
                      </a:solidFill>
                      <a:prstDash val="solid"/>
                      <a:round/>
                      <a:headEnd type="none" w="med" len="med"/>
                      <a:tailEnd type="none" w="med" len="med"/>
                    </a:lnR>
                    <a:lnT w="9525" cap="flat" cmpd="sng" algn="ctr">
                      <a:solidFill>
                        <a:srgbClr val="D5D6E3"/>
                      </a:solidFill>
                      <a:prstDash val="solid"/>
                      <a:round/>
                      <a:headEnd type="none" w="med" len="med"/>
                      <a:tailEnd type="none" w="med" len="med"/>
                    </a:lnT>
                    <a:lnB w="9525" cap="flat" cmpd="sng" algn="ctr">
                      <a:solidFill>
                        <a:srgbClr val="D5D6E3"/>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Application and student details</a:t>
                      </a:r>
                      <a:endParaRPr lang="en-US" sz="1200" dirty="0"/>
                    </a:p>
                  </a:txBody>
                  <a:tcPr marL="73152" marR="73152" marT="0" marB="0" anchor="ctr">
                    <a:lnL w="9525" cap="flat" cmpd="sng" algn="ctr">
                      <a:solidFill>
                        <a:srgbClr val="D5D6E3"/>
                      </a:solidFill>
                      <a:prstDash val="solid"/>
                      <a:round/>
                      <a:headEnd type="none" w="med" len="med"/>
                      <a:tailEnd type="none" w="med" len="med"/>
                    </a:lnL>
                    <a:lnR w="9525" cap="flat" cmpd="sng" algn="ctr">
                      <a:solidFill>
                        <a:srgbClr val="D5D6E3"/>
                      </a:solidFill>
                      <a:prstDash val="solid"/>
                      <a:round/>
                      <a:headEnd type="none" w="med" len="med"/>
                      <a:tailEnd type="none" w="med" len="med"/>
                    </a:lnR>
                    <a:lnT w="9525" cap="flat" cmpd="sng" algn="ctr">
                      <a:solidFill>
                        <a:srgbClr val="D5D6E3"/>
                      </a:solidFill>
                      <a:prstDash val="solid"/>
                      <a:round/>
                      <a:headEnd type="none" w="med" len="med"/>
                      <a:tailEnd type="none" w="med" len="med"/>
                    </a:lnT>
                    <a:lnB w="9525" cap="flat" cmpd="sng" algn="ctr">
                      <a:solidFill>
                        <a:srgbClr val="D5D6E3"/>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Re-keying risk on the core record</a:t>
                      </a:r>
                      <a:endParaRPr lang="en-US" sz="1200" dirty="0"/>
                    </a:p>
                  </a:txBody>
                  <a:tcPr marL="73152" marR="73152" marT="0" marB="0" anchor="ctr">
                    <a:lnL w="9525" cap="flat" cmpd="sng" algn="ctr">
                      <a:solidFill>
                        <a:srgbClr val="D5D6E3"/>
                      </a:solidFill>
                      <a:prstDash val="solid"/>
                      <a:round/>
                      <a:headEnd type="none" w="med" len="med"/>
                      <a:tailEnd type="none" w="med" len="med"/>
                    </a:lnL>
                    <a:lnR w="9525" cap="flat" cmpd="sng" algn="ctr">
                      <a:solidFill>
                        <a:srgbClr val="D5D6E3"/>
                      </a:solidFill>
                      <a:prstDash val="solid"/>
                      <a:round/>
                      <a:headEnd type="none" w="med" len="med"/>
                      <a:tailEnd type="none" w="med" len="med"/>
                    </a:lnR>
                    <a:lnT w="9525" cap="flat" cmpd="sng" algn="ctr">
                      <a:solidFill>
                        <a:srgbClr val="D5D6E3"/>
                      </a:solidFill>
                      <a:prstDash val="solid"/>
                      <a:round/>
                      <a:headEnd type="none" w="med" len="med"/>
                      <a:tailEnd type="none" w="med" len="med"/>
                    </a:lnT>
                    <a:lnB w="9525" cap="flat" cmpd="sng" algn="ctr">
                      <a:solidFill>
                        <a:srgbClr val="D5D6E3"/>
                      </a:solidFill>
                      <a:prstDash val="solid"/>
                      <a:round/>
                      <a:headEnd type="none" w="med" len="med"/>
                      <a:tailEnd type="none" w="med" len="med"/>
                    </a:lnB>
                    <a:solidFill>
                      <a:schemeClr val="bg1"/>
                    </a:solidFill>
                  </a:tcPr>
                </a:tc>
              </a:tr>
              <a:tr h="457200">
                <a:tc>
                  <a:txBody>
                    <a:bodyPr/>
                    <a:lstStyle/>
                    <a:p>
                      <a:pPr indent="0" marL="0">
                        <a:buNone/>
                      </a:pPr>
                      <a:r>
                        <a:rPr lang="en-US" sz="1200" dirty="0">
                          <a:solidFill>
                            <a:schemeClr val="tx1"/>
                          </a:solidFill>
                        </a:rPr>
                        <a:t>Paper / form data</a:t>
                      </a:r>
                      <a:endParaRPr lang="en-US" sz="1200" dirty="0"/>
                    </a:p>
                  </a:txBody>
                  <a:tcPr marL="73152" marR="73152" marT="0" marB="0" anchor="ctr">
                    <a:lnL w="9525" cap="flat" cmpd="sng" algn="ctr">
                      <a:solidFill>
                        <a:srgbClr val="D5D6E3"/>
                      </a:solidFill>
                      <a:prstDash val="solid"/>
                      <a:round/>
                      <a:headEnd type="none" w="med" len="med"/>
                      <a:tailEnd type="none" w="med" len="med"/>
                    </a:lnL>
                    <a:lnR w="9525" cap="flat" cmpd="sng" algn="ctr">
                      <a:solidFill>
                        <a:srgbClr val="D5D6E3"/>
                      </a:solidFill>
                      <a:prstDash val="solid"/>
                      <a:round/>
                      <a:headEnd type="none" w="med" len="med"/>
                      <a:tailEnd type="none" w="med" len="med"/>
                    </a:lnR>
                    <a:lnT w="9525" cap="flat" cmpd="sng" algn="ctr">
                      <a:solidFill>
                        <a:srgbClr val="D5D6E3"/>
                      </a:solidFill>
                      <a:prstDash val="solid"/>
                      <a:round/>
                      <a:headEnd type="none" w="med" len="med"/>
                      <a:tailEnd type="none" w="med" len="med"/>
                    </a:lnT>
                    <a:lnB w="9525" cap="flat" cmpd="sng" algn="ctr">
                      <a:solidFill>
                        <a:srgbClr val="D5D6E3"/>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UnitE, Enquirer</a:t>
                      </a:r>
                      <a:endParaRPr lang="en-US" sz="1200" dirty="0"/>
                    </a:p>
                  </a:txBody>
                  <a:tcPr marL="73152" marR="73152" marT="0" marB="0" anchor="ctr">
                    <a:lnL w="9525" cap="flat" cmpd="sng" algn="ctr">
                      <a:solidFill>
                        <a:srgbClr val="D5D6E3"/>
                      </a:solidFill>
                      <a:prstDash val="solid"/>
                      <a:round/>
                      <a:headEnd type="none" w="med" len="med"/>
                      <a:tailEnd type="none" w="med" len="med"/>
                    </a:lnL>
                    <a:lnR w="9525" cap="flat" cmpd="sng" algn="ctr">
                      <a:solidFill>
                        <a:srgbClr val="D5D6E3"/>
                      </a:solidFill>
                      <a:prstDash val="solid"/>
                      <a:round/>
                      <a:headEnd type="none" w="med" len="med"/>
                      <a:tailEnd type="none" w="med" len="med"/>
                    </a:lnR>
                    <a:lnT w="9525" cap="flat" cmpd="sng" algn="ctr">
                      <a:solidFill>
                        <a:srgbClr val="D5D6E3"/>
                      </a:solidFill>
                      <a:prstDash val="solid"/>
                      <a:round/>
                      <a:headEnd type="none" w="med" len="med"/>
                      <a:tailEnd type="none" w="med" len="med"/>
                    </a:lnT>
                    <a:lnB w="9525" cap="flat" cmpd="sng" algn="ctr">
                      <a:solidFill>
                        <a:srgbClr val="D5D6E3"/>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Data filled in by staff on request</a:t>
                      </a:r>
                      <a:endParaRPr lang="en-US" sz="1200" dirty="0"/>
                    </a:p>
                  </a:txBody>
                  <a:tcPr marL="73152" marR="73152" marT="0" marB="0" anchor="ctr">
                    <a:lnL w="9525" cap="flat" cmpd="sng" algn="ctr">
                      <a:solidFill>
                        <a:srgbClr val="D5D6E3"/>
                      </a:solidFill>
                      <a:prstDash val="solid"/>
                      <a:round/>
                      <a:headEnd type="none" w="med" len="med"/>
                      <a:tailEnd type="none" w="med" len="med"/>
                    </a:lnL>
                    <a:lnR w="9525" cap="flat" cmpd="sng" algn="ctr">
                      <a:solidFill>
                        <a:srgbClr val="D5D6E3"/>
                      </a:solidFill>
                      <a:prstDash val="solid"/>
                      <a:round/>
                      <a:headEnd type="none" w="med" len="med"/>
                      <a:tailEnd type="none" w="med" len="med"/>
                    </a:lnR>
                    <a:lnT w="9525" cap="flat" cmpd="sng" algn="ctr">
                      <a:solidFill>
                        <a:srgbClr val="D5D6E3"/>
                      </a:solidFill>
                      <a:prstDash val="solid"/>
                      <a:round/>
                      <a:headEnd type="none" w="med" len="med"/>
                      <a:tailEnd type="none" w="med" len="med"/>
                    </a:lnT>
                    <a:lnB w="9525" cap="flat" cmpd="sng" algn="ctr">
                      <a:solidFill>
                        <a:srgbClr val="D5D6E3"/>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Effort and delay at enrolment</a:t>
                      </a:r>
                      <a:endParaRPr lang="en-US" sz="1200" dirty="0"/>
                    </a:p>
                  </a:txBody>
                  <a:tcPr marL="73152" marR="73152" marT="0" marB="0" anchor="ctr">
                    <a:lnL w="9525" cap="flat" cmpd="sng" algn="ctr">
                      <a:solidFill>
                        <a:srgbClr val="D5D6E3"/>
                      </a:solidFill>
                      <a:prstDash val="solid"/>
                      <a:round/>
                      <a:headEnd type="none" w="med" len="med"/>
                      <a:tailEnd type="none" w="med" len="med"/>
                    </a:lnL>
                    <a:lnR w="9525" cap="flat" cmpd="sng" algn="ctr">
                      <a:solidFill>
                        <a:srgbClr val="D5D6E3"/>
                      </a:solidFill>
                      <a:prstDash val="solid"/>
                      <a:round/>
                      <a:headEnd type="none" w="med" len="med"/>
                      <a:tailEnd type="none" w="med" len="med"/>
                    </a:lnR>
                    <a:lnT w="9525" cap="flat" cmpd="sng" algn="ctr">
                      <a:solidFill>
                        <a:srgbClr val="D5D6E3"/>
                      </a:solidFill>
                      <a:prstDash val="solid"/>
                      <a:round/>
                      <a:headEnd type="none" w="med" len="med"/>
                      <a:tailEnd type="none" w="med" len="med"/>
                    </a:lnT>
                    <a:lnB w="9525" cap="flat" cmpd="sng" algn="ctr">
                      <a:solidFill>
                        <a:srgbClr val="D5D6E3"/>
                      </a:solidFill>
                      <a:prstDash val="solid"/>
                      <a:round/>
                      <a:headEnd type="none" w="med" len="med"/>
                      <a:tailEnd type="none" w="med" len="med"/>
                    </a:lnB>
                    <a:solidFill>
                      <a:schemeClr val="bg1"/>
                    </a:solidFill>
                  </a:tcPr>
                </a:tc>
              </a:tr>
              <a:tr h="457200">
                <a:tc>
                  <a:txBody>
                    <a:bodyPr/>
                    <a:lstStyle/>
                    <a:p>
                      <a:pPr indent="0" marL="0">
                        <a:buNone/>
                      </a:pPr>
                      <a:r>
                        <a:rPr lang="en-US" sz="1200" dirty="0">
                          <a:solidFill>
                            <a:schemeClr val="tx1"/>
                          </a:solidFill>
                        </a:rPr>
                        <a:t>Schools</a:t>
                      </a:r>
                      <a:endParaRPr lang="en-US" sz="1200" dirty="0"/>
                    </a:p>
                  </a:txBody>
                  <a:tcPr marL="73152" marR="73152" marT="0" marB="0" anchor="ctr">
                    <a:lnL w="9525" cap="flat" cmpd="sng" algn="ctr">
                      <a:solidFill>
                        <a:srgbClr val="D5D6E3"/>
                      </a:solidFill>
                      <a:prstDash val="solid"/>
                      <a:round/>
                      <a:headEnd type="none" w="med" len="med"/>
                      <a:tailEnd type="none" w="med" len="med"/>
                    </a:lnL>
                    <a:lnR w="9525" cap="flat" cmpd="sng" algn="ctr">
                      <a:solidFill>
                        <a:srgbClr val="D5D6E3"/>
                      </a:solidFill>
                      <a:prstDash val="solid"/>
                      <a:round/>
                      <a:headEnd type="none" w="med" len="med"/>
                      <a:tailEnd type="none" w="med" len="med"/>
                    </a:lnR>
                    <a:lnT w="9525" cap="flat" cmpd="sng" algn="ctr">
                      <a:solidFill>
                        <a:srgbClr val="D5D6E3"/>
                      </a:solidFill>
                      <a:prstDash val="solid"/>
                      <a:round/>
                      <a:headEnd type="none" w="med" len="med"/>
                      <a:tailEnd type="none" w="med" len="med"/>
                    </a:lnT>
                    <a:lnB w="9525" cap="flat" cmpd="sng" algn="ctr">
                      <a:solidFill>
                        <a:srgbClr val="D5D6E3"/>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FVC Portal</a:t>
                      </a:r>
                      <a:endParaRPr lang="en-US" sz="1200" dirty="0"/>
                    </a:p>
                  </a:txBody>
                  <a:tcPr marL="73152" marR="73152" marT="0" marB="0" anchor="ctr">
                    <a:lnL w="9525" cap="flat" cmpd="sng" algn="ctr">
                      <a:solidFill>
                        <a:srgbClr val="D5D6E3"/>
                      </a:solidFill>
                      <a:prstDash val="solid"/>
                      <a:round/>
                      <a:headEnd type="none" w="med" len="med"/>
                      <a:tailEnd type="none" w="med" len="med"/>
                    </a:lnL>
                    <a:lnR w="9525" cap="flat" cmpd="sng" algn="ctr">
                      <a:solidFill>
                        <a:srgbClr val="D5D6E3"/>
                      </a:solidFill>
                      <a:prstDash val="solid"/>
                      <a:round/>
                      <a:headEnd type="none" w="med" len="med"/>
                      <a:tailEnd type="none" w="med" len="med"/>
                    </a:lnR>
                    <a:lnT w="9525" cap="flat" cmpd="sng" algn="ctr">
                      <a:solidFill>
                        <a:srgbClr val="D5D6E3"/>
                      </a:solidFill>
                      <a:prstDash val="solid"/>
                      <a:round/>
                      <a:headEnd type="none" w="med" len="med"/>
                      <a:tailEnd type="none" w="med" len="med"/>
                    </a:lnT>
                    <a:lnB w="9525" cap="flat" cmpd="sng" algn="ctr">
                      <a:solidFill>
                        <a:srgbClr val="D5D6E3"/>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School transition information</a:t>
                      </a:r>
                      <a:endParaRPr lang="en-US" sz="1200" dirty="0"/>
                    </a:p>
                  </a:txBody>
                  <a:tcPr marL="73152" marR="73152" marT="0" marB="0" anchor="ctr">
                    <a:lnL w="9525" cap="flat" cmpd="sng" algn="ctr">
                      <a:solidFill>
                        <a:srgbClr val="D5D6E3"/>
                      </a:solidFill>
                      <a:prstDash val="solid"/>
                      <a:round/>
                      <a:headEnd type="none" w="med" len="med"/>
                      <a:tailEnd type="none" w="med" len="med"/>
                    </a:lnL>
                    <a:lnR w="9525" cap="flat" cmpd="sng" algn="ctr">
                      <a:solidFill>
                        <a:srgbClr val="D5D6E3"/>
                      </a:solidFill>
                      <a:prstDash val="solid"/>
                      <a:round/>
                      <a:headEnd type="none" w="med" len="med"/>
                      <a:tailEnd type="none" w="med" len="med"/>
                    </a:lnR>
                    <a:lnT w="9525" cap="flat" cmpd="sng" algn="ctr">
                      <a:solidFill>
                        <a:srgbClr val="D5D6E3"/>
                      </a:solidFill>
                      <a:prstDash val="solid"/>
                      <a:round/>
                      <a:headEnd type="none" w="med" len="med"/>
                      <a:tailEnd type="none" w="med" len="med"/>
                    </a:lnT>
                    <a:lnB w="9525" cap="flat" cmpd="sng" algn="ctr">
                      <a:solidFill>
                        <a:srgbClr val="D5D6E3"/>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Depends on each school uploading</a:t>
                      </a:r>
                      <a:endParaRPr lang="en-US" sz="1200" dirty="0"/>
                    </a:p>
                  </a:txBody>
                  <a:tcPr marL="73152" marR="73152" marT="0" marB="0" anchor="ctr">
                    <a:lnL w="9525" cap="flat" cmpd="sng" algn="ctr">
                      <a:solidFill>
                        <a:srgbClr val="D5D6E3"/>
                      </a:solidFill>
                      <a:prstDash val="solid"/>
                      <a:round/>
                      <a:headEnd type="none" w="med" len="med"/>
                      <a:tailEnd type="none" w="med" len="med"/>
                    </a:lnL>
                    <a:lnR w="9525" cap="flat" cmpd="sng" algn="ctr">
                      <a:solidFill>
                        <a:srgbClr val="D5D6E3"/>
                      </a:solidFill>
                      <a:prstDash val="solid"/>
                      <a:round/>
                      <a:headEnd type="none" w="med" len="med"/>
                      <a:tailEnd type="none" w="med" len="med"/>
                    </a:lnR>
                    <a:lnT w="9525" cap="flat" cmpd="sng" algn="ctr">
                      <a:solidFill>
                        <a:srgbClr val="D5D6E3"/>
                      </a:solidFill>
                      <a:prstDash val="solid"/>
                      <a:round/>
                      <a:headEnd type="none" w="med" len="med"/>
                      <a:tailEnd type="none" w="med" len="med"/>
                    </a:lnT>
                    <a:lnB w="9525" cap="flat" cmpd="sng" algn="ctr">
                      <a:solidFill>
                        <a:srgbClr val="D5D6E3"/>
                      </a:solidFill>
                      <a:prstDash val="solid"/>
                      <a:round/>
                      <a:headEnd type="none" w="med" len="med"/>
                      <a:tailEnd type="none" w="med" len="med"/>
                    </a:lnB>
                    <a:solidFill>
                      <a:schemeClr val="bg1"/>
                    </a:solidFill>
                  </a:tcPr>
                </a:tc>
              </a:tr>
              <a:tr h="457200">
                <a:tc>
                  <a:txBody>
                    <a:bodyPr/>
                    <a:lstStyle/>
                    <a:p>
                      <a:pPr indent="0" marL="0">
                        <a:buNone/>
                      </a:pPr>
                      <a:r>
                        <a:rPr lang="en-US" sz="1200" dirty="0">
                          <a:solidFill>
                            <a:schemeClr val="tx1"/>
                          </a:solidFill>
                        </a:rPr>
                        <a:t>iTrent</a:t>
                      </a:r>
                      <a:endParaRPr lang="en-US" sz="1200" dirty="0"/>
                    </a:p>
                  </a:txBody>
                  <a:tcPr marL="73152" marR="73152" marT="0" marB="0" anchor="ctr">
                    <a:lnL w="9525" cap="flat" cmpd="sng" algn="ctr">
                      <a:solidFill>
                        <a:srgbClr val="D5D6E3"/>
                      </a:solidFill>
                      <a:prstDash val="solid"/>
                      <a:round/>
                      <a:headEnd type="none" w="med" len="med"/>
                      <a:tailEnd type="none" w="med" len="med"/>
                    </a:lnL>
                    <a:lnR w="9525" cap="flat" cmpd="sng" algn="ctr">
                      <a:solidFill>
                        <a:srgbClr val="D5D6E3"/>
                      </a:solidFill>
                      <a:prstDash val="solid"/>
                      <a:round/>
                      <a:headEnd type="none" w="med" len="med"/>
                      <a:tailEnd type="none" w="med" len="med"/>
                    </a:lnR>
                    <a:lnT w="9525" cap="flat" cmpd="sng" algn="ctr">
                      <a:solidFill>
                        <a:srgbClr val="D5D6E3"/>
                      </a:solidFill>
                      <a:prstDash val="solid"/>
                      <a:round/>
                      <a:headEnd type="none" w="med" len="med"/>
                      <a:tailEnd type="none" w="med" len="med"/>
                    </a:lnT>
                    <a:lnB w="9525" cap="flat" cmpd="sng" algn="ctr">
                      <a:solidFill>
                        <a:srgbClr val="D5D6E3"/>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UnitE, Finance (Sun)</a:t>
                      </a:r>
                      <a:endParaRPr lang="en-US" sz="1200" dirty="0"/>
                    </a:p>
                  </a:txBody>
                  <a:tcPr marL="73152" marR="73152" marT="0" marB="0" anchor="ctr">
                    <a:lnL w="9525" cap="flat" cmpd="sng" algn="ctr">
                      <a:solidFill>
                        <a:srgbClr val="D5D6E3"/>
                      </a:solidFill>
                      <a:prstDash val="solid"/>
                      <a:round/>
                      <a:headEnd type="none" w="med" len="med"/>
                      <a:tailEnd type="none" w="med" len="med"/>
                    </a:lnL>
                    <a:lnR w="9525" cap="flat" cmpd="sng" algn="ctr">
                      <a:solidFill>
                        <a:srgbClr val="D5D6E3"/>
                      </a:solidFill>
                      <a:prstDash val="solid"/>
                      <a:round/>
                      <a:headEnd type="none" w="med" len="med"/>
                      <a:tailEnd type="none" w="med" len="med"/>
                    </a:lnR>
                    <a:lnT w="9525" cap="flat" cmpd="sng" algn="ctr">
                      <a:solidFill>
                        <a:srgbClr val="D5D6E3"/>
                      </a:solidFill>
                      <a:prstDash val="solid"/>
                      <a:round/>
                      <a:headEnd type="none" w="med" len="med"/>
                      <a:tailEnd type="none" w="med" len="med"/>
                    </a:lnT>
                    <a:lnB w="9525" cap="flat" cmpd="sng" algn="ctr">
                      <a:solidFill>
                        <a:srgbClr val="D5D6E3"/>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Staff new / transfer / leaver, payroll</a:t>
                      </a:r>
                      <a:endParaRPr lang="en-US" sz="1200" dirty="0"/>
                    </a:p>
                  </a:txBody>
                  <a:tcPr marL="73152" marR="73152" marT="0" marB="0" anchor="ctr">
                    <a:lnL w="9525" cap="flat" cmpd="sng" algn="ctr">
                      <a:solidFill>
                        <a:srgbClr val="D5D6E3"/>
                      </a:solidFill>
                      <a:prstDash val="solid"/>
                      <a:round/>
                      <a:headEnd type="none" w="med" len="med"/>
                      <a:tailEnd type="none" w="med" len="med"/>
                    </a:lnL>
                    <a:lnR w="9525" cap="flat" cmpd="sng" algn="ctr">
                      <a:solidFill>
                        <a:srgbClr val="D5D6E3"/>
                      </a:solidFill>
                      <a:prstDash val="solid"/>
                      <a:round/>
                      <a:headEnd type="none" w="med" len="med"/>
                      <a:tailEnd type="none" w="med" len="med"/>
                    </a:lnR>
                    <a:lnT w="9525" cap="flat" cmpd="sng" algn="ctr">
                      <a:solidFill>
                        <a:srgbClr val="D5D6E3"/>
                      </a:solidFill>
                      <a:prstDash val="solid"/>
                      <a:round/>
                      <a:headEnd type="none" w="med" len="med"/>
                      <a:tailEnd type="none" w="med" len="med"/>
                    </a:lnT>
                    <a:lnB w="9525" cap="flat" cmpd="sng" algn="ctr">
                      <a:solidFill>
                        <a:srgbClr val="D5D6E3"/>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Staff records can drift out of step</a:t>
                      </a:r>
                      <a:endParaRPr lang="en-US" sz="1200" dirty="0"/>
                    </a:p>
                  </a:txBody>
                  <a:tcPr marL="73152" marR="73152" marT="0" marB="0" anchor="ctr">
                    <a:lnL w="9525" cap="flat" cmpd="sng" algn="ctr">
                      <a:solidFill>
                        <a:srgbClr val="D5D6E3"/>
                      </a:solidFill>
                      <a:prstDash val="solid"/>
                      <a:round/>
                      <a:headEnd type="none" w="med" len="med"/>
                      <a:tailEnd type="none" w="med" len="med"/>
                    </a:lnL>
                    <a:lnR w="9525" cap="flat" cmpd="sng" algn="ctr">
                      <a:solidFill>
                        <a:srgbClr val="D5D6E3"/>
                      </a:solidFill>
                      <a:prstDash val="solid"/>
                      <a:round/>
                      <a:headEnd type="none" w="med" len="med"/>
                      <a:tailEnd type="none" w="med" len="med"/>
                    </a:lnR>
                    <a:lnT w="9525" cap="flat" cmpd="sng" algn="ctr">
                      <a:solidFill>
                        <a:srgbClr val="D5D6E3"/>
                      </a:solidFill>
                      <a:prstDash val="solid"/>
                      <a:round/>
                      <a:headEnd type="none" w="med" len="med"/>
                      <a:tailEnd type="none" w="med" len="med"/>
                    </a:lnT>
                    <a:lnB w="9525" cap="flat" cmpd="sng" algn="ctr">
                      <a:solidFill>
                        <a:srgbClr val="D5D6E3"/>
                      </a:solidFill>
                      <a:prstDash val="solid"/>
                      <a:round/>
                      <a:headEnd type="none" w="med" len="med"/>
                      <a:tailEnd type="none" w="med" len="med"/>
                    </a:lnB>
                    <a:solidFill>
                      <a:schemeClr val="bg1"/>
                    </a:solidFill>
                  </a:tcPr>
                </a:tc>
              </a:tr>
              <a:tr h="457200">
                <a:tc>
                  <a:txBody>
                    <a:bodyPr/>
                    <a:lstStyle/>
                    <a:p>
                      <a:pPr indent="0" marL="0">
                        <a:buNone/>
                      </a:pPr>
                      <a:r>
                        <a:rPr lang="en-US" sz="1200" dirty="0">
                          <a:solidFill>
                            <a:schemeClr val="tx1"/>
                          </a:solidFill>
                        </a:rPr>
                        <a:t>UnitE</a:t>
                      </a:r>
                      <a:endParaRPr lang="en-US" sz="1200" dirty="0"/>
                    </a:p>
                  </a:txBody>
                  <a:tcPr marL="73152" marR="73152" marT="0" marB="0" anchor="ctr">
                    <a:lnL w="9525" cap="flat" cmpd="sng" algn="ctr">
                      <a:solidFill>
                        <a:srgbClr val="D5D6E3"/>
                      </a:solidFill>
                      <a:prstDash val="solid"/>
                      <a:round/>
                      <a:headEnd type="none" w="med" len="med"/>
                      <a:tailEnd type="none" w="med" len="med"/>
                    </a:lnL>
                    <a:lnR w="9525" cap="flat" cmpd="sng" algn="ctr">
                      <a:solidFill>
                        <a:srgbClr val="D5D6E3"/>
                      </a:solidFill>
                      <a:prstDash val="solid"/>
                      <a:round/>
                      <a:headEnd type="none" w="med" len="med"/>
                      <a:tailEnd type="none" w="med" len="med"/>
                    </a:lnR>
                    <a:lnT w="9525" cap="flat" cmpd="sng" algn="ctr">
                      <a:solidFill>
                        <a:srgbClr val="D5D6E3"/>
                      </a:solidFill>
                      <a:prstDash val="solid"/>
                      <a:round/>
                      <a:headEnd type="none" w="med" len="med"/>
                      <a:tailEnd type="none" w="med" len="med"/>
                    </a:lnT>
                    <a:lnB w="9525" cap="flat" cmpd="sng" algn="ctr">
                      <a:solidFill>
                        <a:srgbClr val="D5D6E3"/>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Onefile</a:t>
                      </a:r>
                      <a:endParaRPr lang="en-US" sz="1200" dirty="0"/>
                    </a:p>
                  </a:txBody>
                  <a:tcPr marL="73152" marR="73152" marT="0" marB="0" anchor="ctr">
                    <a:lnL w="9525" cap="flat" cmpd="sng" algn="ctr">
                      <a:solidFill>
                        <a:srgbClr val="D5D6E3"/>
                      </a:solidFill>
                      <a:prstDash val="solid"/>
                      <a:round/>
                      <a:headEnd type="none" w="med" len="med"/>
                      <a:tailEnd type="none" w="med" len="med"/>
                    </a:lnL>
                    <a:lnR w="9525" cap="flat" cmpd="sng" algn="ctr">
                      <a:solidFill>
                        <a:srgbClr val="D5D6E3"/>
                      </a:solidFill>
                      <a:prstDash val="solid"/>
                      <a:round/>
                      <a:headEnd type="none" w="med" len="med"/>
                      <a:tailEnd type="none" w="med" len="med"/>
                    </a:lnR>
                    <a:lnT w="9525" cap="flat" cmpd="sng" algn="ctr">
                      <a:solidFill>
                        <a:srgbClr val="D5D6E3"/>
                      </a:solidFill>
                      <a:prstDash val="solid"/>
                      <a:round/>
                      <a:headEnd type="none" w="med" len="med"/>
                      <a:tailEnd type="none" w="med" len="med"/>
                    </a:lnT>
                    <a:lnB w="9525" cap="flat" cmpd="sng" algn="ctr">
                      <a:solidFill>
                        <a:srgbClr val="D5D6E3"/>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Apprenticeship learners</a:t>
                      </a:r>
                      <a:endParaRPr lang="en-US" sz="1200" dirty="0"/>
                    </a:p>
                  </a:txBody>
                  <a:tcPr marL="73152" marR="73152" marT="0" marB="0" anchor="ctr">
                    <a:lnL w="9525" cap="flat" cmpd="sng" algn="ctr">
                      <a:solidFill>
                        <a:srgbClr val="D5D6E3"/>
                      </a:solidFill>
                      <a:prstDash val="solid"/>
                      <a:round/>
                      <a:headEnd type="none" w="med" len="med"/>
                      <a:tailEnd type="none" w="med" len="med"/>
                    </a:lnL>
                    <a:lnR w="9525" cap="flat" cmpd="sng" algn="ctr">
                      <a:solidFill>
                        <a:srgbClr val="D5D6E3"/>
                      </a:solidFill>
                      <a:prstDash val="solid"/>
                      <a:round/>
                      <a:headEnd type="none" w="med" len="med"/>
                      <a:tailEnd type="none" w="med" len="med"/>
                    </a:lnR>
                    <a:lnT w="9525" cap="flat" cmpd="sng" algn="ctr">
                      <a:solidFill>
                        <a:srgbClr val="D5D6E3"/>
                      </a:solidFill>
                      <a:prstDash val="solid"/>
                      <a:round/>
                      <a:headEnd type="none" w="med" len="med"/>
                      <a:tailEnd type="none" w="med" len="med"/>
                    </a:lnT>
                    <a:lnB w="9525" cap="flat" cmpd="sng" algn="ctr">
                      <a:solidFill>
                        <a:srgbClr val="D5D6E3"/>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Two places to update apprentices</a:t>
                      </a:r>
                      <a:endParaRPr lang="en-US" sz="1200" dirty="0"/>
                    </a:p>
                  </a:txBody>
                  <a:tcPr marL="73152" marR="73152" marT="0" marB="0" anchor="ctr">
                    <a:lnL w="9525" cap="flat" cmpd="sng" algn="ctr">
                      <a:solidFill>
                        <a:srgbClr val="D5D6E3"/>
                      </a:solidFill>
                      <a:prstDash val="solid"/>
                      <a:round/>
                      <a:headEnd type="none" w="med" len="med"/>
                      <a:tailEnd type="none" w="med" len="med"/>
                    </a:lnL>
                    <a:lnR w="9525" cap="flat" cmpd="sng" algn="ctr">
                      <a:solidFill>
                        <a:srgbClr val="D5D6E3"/>
                      </a:solidFill>
                      <a:prstDash val="solid"/>
                      <a:round/>
                      <a:headEnd type="none" w="med" len="med"/>
                      <a:tailEnd type="none" w="med" len="med"/>
                    </a:lnR>
                    <a:lnT w="9525" cap="flat" cmpd="sng" algn="ctr">
                      <a:solidFill>
                        <a:srgbClr val="D5D6E3"/>
                      </a:solidFill>
                      <a:prstDash val="solid"/>
                      <a:round/>
                      <a:headEnd type="none" w="med" len="med"/>
                      <a:tailEnd type="none" w="med" len="med"/>
                    </a:lnT>
                    <a:lnB w="9525" cap="flat" cmpd="sng" algn="ctr">
                      <a:solidFill>
                        <a:srgbClr val="D5D6E3"/>
                      </a:solidFill>
                      <a:prstDash val="solid"/>
                      <a:round/>
                      <a:headEnd type="none" w="med" len="med"/>
                      <a:tailEnd type="none" w="med" len="med"/>
                    </a:lnB>
                    <a:solidFill>
                      <a:schemeClr val="bg1"/>
                    </a:solidFill>
                  </a:tcPr>
                </a:tc>
              </a:tr>
              <a:tr h="457200">
                <a:tc>
                  <a:txBody>
                    <a:bodyPr/>
                    <a:lstStyle/>
                    <a:p>
                      <a:pPr indent="0" marL="0">
                        <a:buNone/>
                      </a:pPr>
                      <a:r>
                        <a:rPr lang="en-US" sz="1200" dirty="0">
                          <a:solidFill>
                            <a:schemeClr val="tx1"/>
                          </a:solidFill>
                        </a:rPr>
                        <a:t>Enquirer, UCAS, NAD, universities</a:t>
                      </a:r>
                      <a:endParaRPr lang="en-US" sz="1200" dirty="0"/>
                    </a:p>
                  </a:txBody>
                  <a:tcPr marL="73152" marR="73152" marT="0" marB="0" anchor="ctr">
                    <a:lnL w="9525" cap="flat" cmpd="sng" algn="ctr">
                      <a:solidFill>
                        <a:srgbClr val="D5D6E3"/>
                      </a:solidFill>
                      <a:prstDash val="solid"/>
                      <a:round/>
                      <a:headEnd type="none" w="med" len="med"/>
                      <a:tailEnd type="none" w="med" len="med"/>
                    </a:lnL>
                    <a:lnR w="9525" cap="flat" cmpd="sng" algn="ctr">
                      <a:solidFill>
                        <a:srgbClr val="D5D6E3"/>
                      </a:solidFill>
                      <a:prstDash val="solid"/>
                      <a:round/>
                      <a:headEnd type="none" w="med" len="med"/>
                      <a:tailEnd type="none" w="med" len="med"/>
                    </a:lnR>
                    <a:lnT w="9525" cap="flat" cmpd="sng" algn="ctr">
                      <a:solidFill>
                        <a:srgbClr val="D5D6E3"/>
                      </a:solidFill>
                      <a:prstDash val="solid"/>
                      <a:round/>
                      <a:headEnd type="none" w="med" len="med"/>
                      <a:tailEnd type="none" w="med" len="med"/>
                    </a:lnT>
                    <a:lnB w="9525" cap="flat" cmpd="sng" algn="ctr">
                      <a:solidFill>
                        <a:srgbClr val="D5D6E3"/>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Student Destination Report</a:t>
                      </a:r>
                      <a:endParaRPr lang="en-US" sz="1200" dirty="0"/>
                    </a:p>
                  </a:txBody>
                  <a:tcPr marL="73152" marR="73152" marT="0" marB="0" anchor="ctr">
                    <a:lnL w="9525" cap="flat" cmpd="sng" algn="ctr">
                      <a:solidFill>
                        <a:srgbClr val="D5D6E3"/>
                      </a:solidFill>
                      <a:prstDash val="solid"/>
                      <a:round/>
                      <a:headEnd type="none" w="med" len="med"/>
                      <a:tailEnd type="none" w="med" len="med"/>
                    </a:lnL>
                    <a:lnR w="9525" cap="flat" cmpd="sng" algn="ctr">
                      <a:solidFill>
                        <a:srgbClr val="D5D6E3"/>
                      </a:solidFill>
                      <a:prstDash val="solid"/>
                      <a:round/>
                      <a:headEnd type="none" w="med" len="med"/>
                      <a:tailEnd type="none" w="med" len="med"/>
                    </a:lnR>
                    <a:lnT w="9525" cap="flat" cmpd="sng" algn="ctr">
                      <a:solidFill>
                        <a:srgbClr val="D5D6E3"/>
                      </a:solidFill>
                      <a:prstDash val="solid"/>
                      <a:round/>
                      <a:headEnd type="none" w="med" len="med"/>
                      <a:tailEnd type="none" w="med" len="med"/>
                    </a:lnT>
                    <a:lnB w="9525" cap="flat" cmpd="sng" algn="ctr">
                      <a:solidFill>
                        <a:srgbClr val="D5D6E3"/>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Destinations and results</a:t>
                      </a:r>
                      <a:endParaRPr lang="en-US" sz="1200" dirty="0"/>
                    </a:p>
                  </a:txBody>
                  <a:tcPr marL="73152" marR="73152" marT="0" marB="0" anchor="ctr">
                    <a:lnL w="9525" cap="flat" cmpd="sng" algn="ctr">
                      <a:solidFill>
                        <a:srgbClr val="D5D6E3"/>
                      </a:solidFill>
                      <a:prstDash val="solid"/>
                      <a:round/>
                      <a:headEnd type="none" w="med" len="med"/>
                      <a:tailEnd type="none" w="med" len="med"/>
                    </a:lnL>
                    <a:lnR w="9525" cap="flat" cmpd="sng" algn="ctr">
                      <a:solidFill>
                        <a:srgbClr val="D5D6E3"/>
                      </a:solidFill>
                      <a:prstDash val="solid"/>
                      <a:round/>
                      <a:headEnd type="none" w="med" len="med"/>
                      <a:tailEnd type="none" w="med" len="med"/>
                    </a:lnR>
                    <a:lnT w="9525" cap="flat" cmpd="sng" algn="ctr">
                      <a:solidFill>
                        <a:srgbClr val="D5D6E3"/>
                      </a:solidFill>
                      <a:prstDash val="solid"/>
                      <a:round/>
                      <a:headEnd type="none" w="med" len="med"/>
                      <a:tailEnd type="none" w="med" len="med"/>
                    </a:lnT>
                    <a:lnB w="9525" cap="flat" cmpd="sng" algn="ctr">
                      <a:solidFill>
                        <a:srgbClr val="D5D6E3"/>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Report assembled by hand</a:t>
                      </a:r>
                      <a:endParaRPr lang="en-US" sz="1200" dirty="0"/>
                    </a:p>
                  </a:txBody>
                  <a:tcPr marL="73152" marR="73152" marT="0" marB="0" anchor="ctr">
                    <a:lnL w="9525" cap="flat" cmpd="sng" algn="ctr">
                      <a:solidFill>
                        <a:srgbClr val="D5D6E3"/>
                      </a:solidFill>
                      <a:prstDash val="solid"/>
                      <a:round/>
                      <a:headEnd type="none" w="med" len="med"/>
                      <a:tailEnd type="none" w="med" len="med"/>
                    </a:lnL>
                    <a:lnR w="9525" cap="flat" cmpd="sng" algn="ctr">
                      <a:solidFill>
                        <a:srgbClr val="D5D6E3"/>
                      </a:solidFill>
                      <a:prstDash val="solid"/>
                      <a:round/>
                      <a:headEnd type="none" w="med" len="med"/>
                      <a:tailEnd type="none" w="med" len="med"/>
                    </a:lnR>
                    <a:lnT w="9525" cap="flat" cmpd="sng" algn="ctr">
                      <a:solidFill>
                        <a:srgbClr val="D5D6E3"/>
                      </a:solidFill>
                      <a:prstDash val="solid"/>
                      <a:round/>
                      <a:headEnd type="none" w="med" len="med"/>
                      <a:tailEnd type="none" w="med" len="med"/>
                    </a:lnT>
                    <a:lnB w="9525" cap="flat" cmpd="sng" algn="ctr">
                      <a:solidFill>
                        <a:srgbClr val="D5D6E3"/>
                      </a:solidFill>
                      <a:prstDash val="solid"/>
                      <a:round/>
                      <a:headEnd type="none" w="med" len="med"/>
                      <a:tailEnd type="none" w="med" len="med"/>
                    </a:lnB>
                    <a:solidFill>
                      <a:schemeClr val="bg1"/>
                    </a:solidFill>
                  </a:tcPr>
                </a:tc>
              </a:tr>
              <a:tr h="457200">
                <a:tc>
                  <a:txBody>
                    <a:bodyPr/>
                    <a:lstStyle/>
                    <a:p>
                      <a:pPr indent="0" marL="0">
                        <a:buNone/>
                      </a:pPr>
                      <a:r>
                        <a:rPr lang="en-US" sz="1200" dirty="0">
                          <a:solidFill>
                            <a:schemeClr val="tx1"/>
                          </a:solidFill>
                        </a:rPr>
                        <a:t>SAAS files, Funding Tracker</a:t>
                      </a:r>
                      <a:endParaRPr lang="en-US" sz="1200" dirty="0"/>
                    </a:p>
                  </a:txBody>
                  <a:tcPr marL="73152" marR="73152" marT="0" marB="0" anchor="ctr">
                    <a:lnL w="9525" cap="flat" cmpd="sng" algn="ctr">
                      <a:solidFill>
                        <a:srgbClr val="D5D6E3"/>
                      </a:solidFill>
                      <a:prstDash val="solid"/>
                      <a:round/>
                      <a:headEnd type="none" w="med" len="med"/>
                      <a:tailEnd type="none" w="med" len="med"/>
                    </a:lnL>
                    <a:lnR w="9525" cap="flat" cmpd="sng" algn="ctr">
                      <a:solidFill>
                        <a:srgbClr val="D5D6E3"/>
                      </a:solidFill>
                      <a:prstDash val="solid"/>
                      <a:round/>
                      <a:headEnd type="none" w="med" len="med"/>
                      <a:tailEnd type="none" w="med" len="med"/>
                    </a:lnR>
                    <a:lnT w="9525" cap="flat" cmpd="sng" algn="ctr">
                      <a:solidFill>
                        <a:srgbClr val="D5D6E3"/>
                      </a:solidFill>
                      <a:prstDash val="solid"/>
                      <a:round/>
                      <a:headEnd type="none" w="med" len="med"/>
                      <a:tailEnd type="none" w="med" len="med"/>
                    </a:lnT>
                    <a:lnB w="9525" cap="flat" cmpd="sng" algn="ctr">
                      <a:solidFill>
                        <a:srgbClr val="D5D6E3"/>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Student invoice to university</a:t>
                      </a:r>
                      <a:endParaRPr lang="en-US" sz="1200" dirty="0"/>
                    </a:p>
                  </a:txBody>
                  <a:tcPr marL="73152" marR="73152" marT="0" marB="0" anchor="ctr">
                    <a:lnL w="9525" cap="flat" cmpd="sng" algn="ctr">
                      <a:solidFill>
                        <a:srgbClr val="D5D6E3"/>
                      </a:solidFill>
                      <a:prstDash val="solid"/>
                      <a:round/>
                      <a:headEnd type="none" w="med" len="med"/>
                      <a:tailEnd type="none" w="med" len="med"/>
                    </a:lnL>
                    <a:lnR w="9525" cap="flat" cmpd="sng" algn="ctr">
                      <a:solidFill>
                        <a:srgbClr val="D5D6E3"/>
                      </a:solidFill>
                      <a:prstDash val="solid"/>
                      <a:round/>
                      <a:headEnd type="none" w="med" len="med"/>
                      <a:tailEnd type="none" w="med" len="med"/>
                    </a:lnR>
                    <a:lnT w="9525" cap="flat" cmpd="sng" algn="ctr">
                      <a:solidFill>
                        <a:srgbClr val="D5D6E3"/>
                      </a:solidFill>
                      <a:prstDash val="solid"/>
                      <a:round/>
                      <a:headEnd type="none" w="med" len="med"/>
                      <a:tailEnd type="none" w="med" len="med"/>
                    </a:lnT>
                    <a:lnB w="9525" cap="flat" cmpd="sng" algn="ctr">
                      <a:solidFill>
                        <a:srgbClr val="D5D6E3"/>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Eligibility and funding status</a:t>
                      </a:r>
                      <a:endParaRPr lang="en-US" sz="1200" dirty="0"/>
                    </a:p>
                  </a:txBody>
                  <a:tcPr marL="73152" marR="73152" marT="0" marB="0" anchor="ctr">
                    <a:lnL w="9525" cap="flat" cmpd="sng" algn="ctr">
                      <a:solidFill>
                        <a:srgbClr val="D5D6E3"/>
                      </a:solidFill>
                      <a:prstDash val="solid"/>
                      <a:round/>
                      <a:headEnd type="none" w="med" len="med"/>
                      <a:tailEnd type="none" w="med" len="med"/>
                    </a:lnL>
                    <a:lnR w="9525" cap="flat" cmpd="sng" algn="ctr">
                      <a:solidFill>
                        <a:srgbClr val="D5D6E3"/>
                      </a:solidFill>
                      <a:prstDash val="solid"/>
                      <a:round/>
                      <a:headEnd type="none" w="med" len="med"/>
                      <a:tailEnd type="none" w="med" len="med"/>
                    </a:lnR>
                    <a:lnT w="9525" cap="flat" cmpd="sng" algn="ctr">
                      <a:solidFill>
                        <a:srgbClr val="D5D6E3"/>
                      </a:solidFill>
                      <a:prstDash val="solid"/>
                      <a:round/>
                      <a:headEnd type="none" w="med" len="med"/>
                      <a:tailEnd type="none" w="med" len="med"/>
                    </a:lnT>
                    <a:lnB w="9525" cap="flat" cmpd="sng" algn="ctr">
                      <a:solidFill>
                        <a:srgbClr val="D5D6E3"/>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Billing relies on manual checks</a:t>
                      </a:r>
                      <a:endParaRPr lang="en-US" sz="1200" dirty="0"/>
                    </a:p>
                  </a:txBody>
                  <a:tcPr marL="73152" marR="73152" marT="0" marB="0" anchor="ctr">
                    <a:lnL w="9525" cap="flat" cmpd="sng" algn="ctr">
                      <a:solidFill>
                        <a:srgbClr val="D5D6E3"/>
                      </a:solidFill>
                      <a:prstDash val="solid"/>
                      <a:round/>
                      <a:headEnd type="none" w="med" len="med"/>
                      <a:tailEnd type="none" w="med" len="med"/>
                    </a:lnL>
                    <a:lnR w="9525" cap="flat" cmpd="sng" algn="ctr">
                      <a:solidFill>
                        <a:srgbClr val="D5D6E3"/>
                      </a:solidFill>
                      <a:prstDash val="solid"/>
                      <a:round/>
                      <a:headEnd type="none" w="med" len="med"/>
                      <a:tailEnd type="none" w="med" len="med"/>
                    </a:lnR>
                    <a:lnT w="9525" cap="flat" cmpd="sng" algn="ctr">
                      <a:solidFill>
                        <a:srgbClr val="D5D6E3"/>
                      </a:solidFill>
                      <a:prstDash val="solid"/>
                      <a:round/>
                      <a:headEnd type="none" w="med" len="med"/>
                      <a:tailEnd type="none" w="med" len="med"/>
                    </a:lnT>
                    <a:lnB w="9525" cap="flat" cmpd="sng" algn="ctr">
                      <a:solidFill>
                        <a:srgbClr val="D5D6E3"/>
                      </a:solidFill>
                      <a:prstDash val="solid"/>
                      <a:round/>
                      <a:headEnd type="none" w="med" len="med"/>
                      <a:tailEnd type="none" w="med" len="med"/>
                    </a:lnB>
                    <a:solidFill>
                      <a:schemeClr val="bg1"/>
                    </a:solidFill>
                  </a:tcPr>
                </a:tc>
              </a:tr>
              <a:tr h="457200">
                <a:tc>
                  <a:txBody>
                    <a:bodyPr/>
                    <a:lstStyle/>
                    <a:p>
                      <a:pPr indent="0" marL="0">
                        <a:buNone/>
                      </a:pPr>
                      <a:r>
                        <a:rPr lang="en-US" sz="1200" dirty="0">
                          <a:solidFill>
                            <a:schemeClr val="tx1"/>
                          </a:solidFill>
                        </a:rPr>
                        <a:t>Restaurant (ResDiary), vending (NAYAX)</a:t>
                      </a:r>
                      <a:endParaRPr lang="en-US" sz="1200" dirty="0"/>
                    </a:p>
                  </a:txBody>
                  <a:tcPr marL="73152" marR="73152" marT="0" marB="0" anchor="ctr">
                    <a:lnL w="9525" cap="flat" cmpd="sng" algn="ctr">
                      <a:solidFill>
                        <a:srgbClr val="D5D6E3"/>
                      </a:solidFill>
                      <a:prstDash val="solid"/>
                      <a:round/>
                      <a:headEnd type="none" w="med" len="med"/>
                      <a:tailEnd type="none" w="med" len="med"/>
                    </a:lnL>
                    <a:lnR w="9525" cap="flat" cmpd="sng" algn="ctr">
                      <a:solidFill>
                        <a:srgbClr val="D5D6E3"/>
                      </a:solidFill>
                      <a:prstDash val="solid"/>
                      <a:round/>
                      <a:headEnd type="none" w="med" len="med"/>
                      <a:tailEnd type="none" w="med" len="med"/>
                    </a:lnR>
                    <a:lnT w="9525" cap="flat" cmpd="sng" algn="ctr">
                      <a:solidFill>
                        <a:srgbClr val="D5D6E3"/>
                      </a:solidFill>
                      <a:prstDash val="solid"/>
                      <a:round/>
                      <a:headEnd type="none" w="med" len="med"/>
                      <a:tailEnd type="none" w="med" len="med"/>
                    </a:lnT>
                    <a:lnB w="9525" cap="flat" cmpd="sng" algn="ctr">
                      <a:solidFill>
                        <a:srgbClr val="D5D6E3"/>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Finance</a:t>
                      </a:r>
                      <a:endParaRPr lang="en-US" sz="1200" dirty="0"/>
                    </a:p>
                  </a:txBody>
                  <a:tcPr marL="73152" marR="73152" marT="0" marB="0" anchor="ctr">
                    <a:lnL w="9525" cap="flat" cmpd="sng" algn="ctr">
                      <a:solidFill>
                        <a:srgbClr val="D5D6E3"/>
                      </a:solidFill>
                      <a:prstDash val="solid"/>
                      <a:round/>
                      <a:headEnd type="none" w="med" len="med"/>
                      <a:tailEnd type="none" w="med" len="med"/>
                    </a:lnL>
                    <a:lnR w="9525" cap="flat" cmpd="sng" algn="ctr">
                      <a:solidFill>
                        <a:srgbClr val="D5D6E3"/>
                      </a:solidFill>
                      <a:prstDash val="solid"/>
                      <a:round/>
                      <a:headEnd type="none" w="med" len="med"/>
                      <a:tailEnd type="none" w="med" len="med"/>
                    </a:lnR>
                    <a:lnT w="9525" cap="flat" cmpd="sng" algn="ctr">
                      <a:solidFill>
                        <a:srgbClr val="D5D6E3"/>
                      </a:solidFill>
                      <a:prstDash val="solid"/>
                      <a:round/>
                      <a:headEnd type="none" w="med" len="med"/>
                      <a:tailEnd type="none" w="med" len="med"/>
                    </a:lnT>
                    <a:lnB w="9525" cap="flat" cmpd="sng" algn="ctr">
                      <a:solidFill>
                        <a:srgbClr val="D5D6E3"/>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Monthly transaction reports</a:t>
                      </a:r>
                      <a:endParaRPr lang="en-US" sz="1200" dirty="0"/>
                    </a:p>
                  </a:txBody>
                  <a:tcPr marL="73152" marR="73152" marT="0" marB="0" anchor="ctr">
                    <a:lnL w="9525" cap="flat" cmpd="sng" algn="ctr">
                      <a:solidFill>
                        <a:srgbClr val="D5D6E3"/>
                      </a:solidFill>
                      <a:prstDash val="solid"/>
                      <a:round/>
                      <a:headEnd type="none" w="med" len="med"/>
                      <a:tailEnd type="none" w="med" len="med"/>
                    </a:lnL>
                    <a:lnR w="9525" cap="flat" cmpd="sng" algn="ctr">
                      <a:solidFill>
                        <a:srgbClr val="D5D6E3"/>
                      </a:solidFill>
                      <a:prstDash val="solid"/>
                      <a:round/>
                      <a:headEnd type="none" w="med" len="med"/>
                      <a:tailEnd type="none" w="med" len="med"/>
                    </a:lnR>
                    <a:lnT w="9525" cap="flat" cmpd="sng" algn="ctr">
                      <a:solidFill>
                        <a:srgbClr val="D5D6E3"/>
                      </a:solidFill>
                      <a:prstDash val="solid"/>
                      <a:round/>
                      <a:headEnd type="none" w="med" len="med"/>
                      <a:tailEnd type="none" w="med" len="med"/>
                    </a:lnT>
                    <a:lnB w="9525" cap="flat" cmpd="sng" algn="ctr">
                      <a:solidFill>
                        <a:srgbClr val="D5D6E3"/>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Income reconciled monthly by hand</a:t>
                      </a:r>
                      <a:endParaRPr lang="en-US" sz="1200" dirty="0"/>
                    </a:p>
                  </a:txBody>
                  <a:tcPr marL="73152" marR="73152" marT="0" marB="0" anchor="ctr">
                    <a:lnL w="9525" cap="flat" cmpd="sng" algn="ctr">
                      <a:solidFill>
                        <a:srgbClr val="D5D6E3"/>
                      </a:solidFill>
                      <a:prstDash val="solid"/>
                      <a:round/>
                      <a:headEnd type="none" w="med" len="med"/>
                      <a:tailEnd type="none" w="med" len="med"/>
                    </a:lnL>
                    <a:lnR w="9525" cap="flat" cmpd="sng" algn="ctr">
                      <a:solidFill>
                        <a:srgbClr val="D5D6E3"/>
                      </a:solidFill>
                      <a:prstDash val="solid"/>
                      <a:round/>
                      <a:headEnd type="none" w="med" len="med"/>
                      <a:tailEnd type="none" w="med" len="med"/>
                    </a:lnR>
                    <a:lnT w="9525" cap="flat" cmpd="sng" algn="ctr">
                      <a:solidFill>
                        <a:srgbClr val="D5D6E3"/>
                      </a:solidFill>
                      <a:prstDash val="solid"/>
                      <a:round/>
                      <a:headEnd type="none" w="med" len="med"/>
                      <a:tailEnd type="none" w="med" len="med"/>
                    </a:lnT>
                    <a:lnB w="9525" cap="flat" cmpd="sng" algn="ctr">
                      <a:solidFill>
                        <a:srgbClr val="D5D6E3"/>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F80"/>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indent="0" marL="0">
              <a:buNone/>
            </a:pPr>
            <a:r>
              <a:rPr lang="en-US" sz="3200" b="1" dirty="0">
                <a:solidFill>
                  <a:schemeClr val="tx2"/>
                </a:solidFill>
              </a:rPr>
              <a:t>Four things to take away</a:t>
            </a:r>
            <a:endParaRPr lang="en-US" sz="3200" dirty="0"/>
          </a:p>
        </p:txBody>
      </p:sp>
      <p:sp>
        <p:nvSpPr>
          <p:cNvPr id="3" name="Text 0"/>
          <p:cNvSpPr/>
          <p:nvPr>
            <p:ph idx="101" type="body" hasCustomPrompt="1"/>
          </p:nvPr>
        </p:nvSpPr>
        <p:spPr>
          <a:xfrm>
            <a:off x="548640" y="1005840"/>
            <a:ext cx="11064240" cy="411480"/>
          </a:xfrm>
          <a:prstGeom prst="rect">
            <a:avLst/>
          </a:prstGeom>
          <a:noFill/>
          <a:ln/>
        </p:spPr>
        <p:txBody>
          <a:bodyPr wrap="square" lIns="0" tIns="0" rIns="0" bIns="0" rtlCol="0" anchor="t"/>
          <a:lstStyle/>
          <a:p>
            <a:pPr indent="0" marL="0">
              <a:buNone/>
            </a:pPr>
            <a:r>
              <a:rPr lang="en-US" sz="1500" dirty="0">
                <a:solidFill>
                  <a:schemeClr val="tx1"/>
                </a:solidFill>
              </a:rPr>
              <a:t>What the map tells us about how our data works today</a:t>
            </a:r>
            <a:endParaRPr lang="en-US" sz="1500" dirty="0"/>
          </a:p>
        </p:txBody>
      </p:sp>
      <p:sp>
        <p:nvSpPr>
          <p:cNvPr id="4" name="message card 1"/>
          <p:cNvSpPr/>
          <p:nvPr/>
        </p:nvSpPr>
        <p:spPr>
          <a:xfrm>
            <a:off x="548640" y="1691640"/>
            <a:ext cx="5394960" cy="2011680"/>
          </a:xfrm>
          <a:prstGeom prst="roundRect">
            <a:avLst>
              <a:gd name="adj" fmla="val 4545"/>
            </a:avLst>
          </a:prstGeom>
          <a:solidFill>
            <a:schemeClr val="bg2"/>
          </a:solidFill>
          <a:ln w="12700">
            <a:solidFill>
              <a:schemeClr val="bg2"/>
            </a:solidFill>
            <a:prstDash val="solid"/>
          </a:ln>
        </p:spPr>
      </p:sp>
      <p:sp>
        <p:nvSpPr>
          <p:cNvPr id="5" name="message dot 1"/>
          <p:cNvSpPr/>
          <p:nvPr/>
        </p:nvSpPr>
        <p:spPr>
          <a:xfrm>
            <a:off x="822960" y="1984248"/>
            <a:ext cx="457200" cy="457200"/>
          </a:xfrm>
          <a:prstGeom prst="ellipse">
            <a:avLst/>
          </a:prstGeom>
          <a:solidFill>
            <a:schemeClr val="accent1"/>
          </a:solidFill>
          <a:ln w="12700">
            <a:solidFill>
              <a:schemeClr val="accent1"/>
            </a:solidFill>
            <a:prstDash val="solid"/>
          </a:ln>
        </p:spPr>
      </p:sp>
      <p:sp>
        <p:nvSpPr>
          <p:cNvPr id="6" name="Text 4"/>
          <p:cNvSpPr txBox="1"/>
          <p:nvPr/>
        </p:nvSpPr>
        <p:spPr>
          <a:xfrm>
            <a:off x="822960" y="1984248"/>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7" name="Text 5"/>
          <p:cNvSpPr txBox="1"/>
          <p:nvPr/>
        </p:nvSpPr>
        <p:spPr>
          <a:xfrm>
            <a:off x="1463040" y="1965960"/>
            <a:ext cx="4297680" cy="502920"/>
          </a:xfrm>
          <a:prstGeom prst="rect">
            <a:avLst/>
          </a:prstGeom>
          <a:noFill/>
          <a:ln/>
        </p:spPr>
        <p:txBody>
          <a:bodyPr wrap="square" lIns="0" tIns="0" rIns="0" bIns="0" rtlCol="0" anchor="ctr"/>
          <a:lstStyle/>
          <a:p>
            <a:pPr indent="0" marL="0">
              <a:buNone/>
            </a:pPr>
            <a:r>
              <a:rPr lang="en-US" sz="1800" b="1" dirty="0">
                <a:solidFill>
                  <a:schemeClr val="tx2"/>
                </a:solidFill>
              </a:rPr>
              <a:t>UnitE is the backbone</a:t>
            </a:r>
            <a:endParaRPr lang="en-US" sz="1800" dirty="0"/>
          </a:p>
        </p:txBody>
      </p:sp>
      <p:sp>
        <p:nvSpPr>
          <p:cNvPr id="8" name="Text 6"/>
          <p:cNvSpPr txBox="1"/>
          <p:nvPr/>
        </p:nvSpPr>
        <p:spPr>
          <a:xfrm>
            <a:off x="1463040" y="2560320"/>
            <a:ext cx="4297680" cy="1005840"/>
          </a:xfrm>
          <a:prstGeom prst="rect">
            <a:avLst/>
          </a:prstGeom>
          <a:noFill/>
          <a:ln/>
        </p:spPr>
        <p:txBody>
          <a:bodyPr wrap="square" lIns="0" tIns="0" rIns="0" bIns="0" rtlCol="0" anchor="t"/>
          <a:lstStyle/>
          <a:p>
            <a:pPr indent="0" marL="0">
              <a:buNone/>
            </a:pPr>
            <a:r>
              <a:rPr lang="en-US" sz="1400" dirty="0">
                <a:solidFill>
                  <a:schemeClr val="tx1"/>
                </a:solidFill>
              </a:rPr>
              <a:t>Nearly every student system syncs with UnitE. Keeping it accurate keeps everything downstream accurate.</a:t>
            </a:r>
            <a:endParaRPr lang="en-US" sz="1400" dirty="0"/>
          </a:p>
        </p:txBody>
      </p:sp>
      <p:sp>
        <p:nvSpPr>
          <p:cNvPr id="9" name="message card 2"/>
          <p:cNvSpPr/>
          <p:nvPr/>
        </p:nvSpPr>
        <p:spPr>
          <a:xfrm>
            <a:off x="6217920" y="1691640"/>
            <a:ext cx="5394960" cy="2011680"/>
          </a:xfrm>
          <a:prstGeom prst="roundRect">
            <a:avLst>
              <a:gd name="adj" fmla="val 4545"/>
            </a:avLst>
          </a:prstGeom>
          <a:solidFill>
            <a:schemeClr val="bg2"/>
          </a:solidFill>
          <a:ln w="12700">
            <a:solidFill>
              <a:schemeClr val="bg2"/>
            </a:solidFill>
            <a:prstDash val="solid"/>
          </a:ln>
        </p:spPr>
      </p:sp>
      <p:sp>
        <p:nvSpPr>
          <p:cNvPr id="10" name="message dot 2"/>
          <p:cNvSpPr/>
          <p:nvPr/>
        </p:nvSpPr>
        <p:spPr>
          <a:xfrm>
            <a:off x="6492240" y="1984248"/>
            <a:ext cx="457200" cy="457200"/>
          </a:xfrm>
          <a:prstGeom prst="ellipse">
            <a:avLst/>
          </a:prstGeom>
          <a:solidFill>
            <a:schemeClr val="accent3"/>
          </a:solidFill>
          <a:ln w="12700">
            <a:solidFill>
              <a:schemeClr val="accent3"/>
            </a:solidFill>
            <a:prstDash val="solid"/>
          </a:ln>
        </p:spPr>
      </p:sp>
      <p:sp>
        <p:nvSpPr>
          <p:cNvPr id="11" name="Text 9"/>
          <p:cNvSpPr txBox="1"/>
          <p:nvPr/>
        </p:nvSpPr>
        <p:spPr>
          <a:xfrm>
            <a:off x="6492240" y="1984248"/>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12" name="Text 10"/>
          <p:cNvSpPr txBox="1"/>
          <p:nvPr/>
        </p:nvSpPr>
        <p:spPr>
          <a:xfrm>
            <a:off x="7132320" y="1965960"/>
            <a:ext cx="4297680" cy="502920"/>
          </a:xfrm>
          <a:prstGeom prst="rect">
            <a:avLst/>
          </a:prstGeom>
          <a:noFill/>
          <a:ln/>
        </p:spPr>
        <p:txBody>
          <a:bodyPr wrap="square" lIns="0" tIns="0" rIns="0" bIns="0" rtlCol="0" anchor="ctr"/>
          <a:lstStyle/>
          <a:p>
            <a:pPr indent="0" marL="0">
              <a:buNone/>
            </a:pPr>
            <a:r>
              <a:rPr lang="en-US" sz="1800" b="1" dirty="0">
                <a:solidFill>
                  <a:schemeClr val="tx2"/>
                </a:solidFill>
              </a:rPr>
              <a:t>Data flows out well, but not back in</a:t>
            </a:r>
            <a:endParaRPr lang="en-US" sz="1800" dirty="0"/>
          </a:p>
        </p:txBody>
      </p:sp>
      <p:sp>
        <p:nvSpPr>
          <p:cNvPr id="13" name="Text 11"/>
          <p:cNvSpPr txBox="1"/>
          <p:nvPr/>
        </p:nvSpPr>
        <p:spPr>
          <a:xfrm>
            <a:off x="7132320" y="2560320"/>
            <a:ext cx="4297680" cy="1005840"/>
          </a:xfrm>
          <a:prstGeom prst="rect">
            <a:avLst/>
          </a:prstGeom>
          <a:noFill/>
          <a:ln/>
        </p:spPr>
        <p:txBody>
          <a:bodyPr wrap="square" lIns="0" tIns="0" rIns="0" bIns="0" rtlCol="0" anchor="t"/>
          <a:lstStyle/>
          <a:p>
            <a:pPr indent="0" marL="0">
              <a:buNone/>
            </a:pPr>
            <a:r>
              <a:rPr lang="en-US" sz="1400" dirty="0">
                <a:solidFill>
                  <a:schemeClr val="tx1"/>
                </a:solidFill>
              </a:rPr>
              <a:t>UnitE sends data out automatically. Most return routes into UnitE are still manual.</a:t>
            </a:r>
            <a:endParaRPr lang="en-US" sz="1400" dirty="0"/>
          </a:p>
        </p:txBody>
      </p:sp>
      <p:sp>
        <p:nvSpPr>
          <p:cNvPr id="14" name="message card 3"/>
          <p:cNvSpPr/>
          <p:nvPr/>
        </p:nvSpPr>
        <p:spPr>
          <a:xfrm>
            <a:off x="548640" y="3977640"/>
            <a:ext cx="5394960" cy="2011680"/>
          </a:xfrm>
          <a:prstGeom prst="roundRect">
            <a:avLst>
              <a:gd name="adj" fmla="val 4545"/>
            </a:avLst>
          </a:prstGeom>
          <a:solidFill>
            <a:schemeClr val="bg2"/>
          </a:solidFill>
          <a:ln w="12700">
            <a:solidFill>
              <a:schemeClr val="bg2"/>
            </a:solidFill>
            <a:prstDash val="solid"/>
          </a:ln>
        </p:spPr>
      </p:sp>
      <p:sp>
        <p:nvSpPr>
          <p:cNvPr id="15" name="message dot 3"/>
          <p:cNvSpPr/>
          <p:nvPr/>
        </p:nvSpPr>
        <p:spPr>
          <a:xfrm>
            <a:off x="822960" y="4270248"/>
            <a:ext cx="457200" cy="457200"/>
          </a:xfrm>
          <a:prstGeom prst="ellipse">
            <a:avLst/>
          </a:prstGeom>
          <a:solidFill>
            <a:schemeClr val="accent4"/>
          </a:solidFill>
          <a:ln w="12700">
            <a:solidFill>
              <a:schemeClr val="accent4"/>
            </a:solidFill>
            <a:prstDash val="solid"/>
          </a:ln>
        </p:spPr>
      </p:sp>
      <p:sp>
        <p:nvSpPr>
          <p:cNvPr id="16" name="Text 14"/>
          <p:cNvSpPr txBox="1"/>
          <p:nvPr/>
        </p:nvSpPr>
        <p:spPr>
          <a:xfrm>
            <a:off x="822960" y="4270248"/>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17" name="Text 15"/>
          <p:cNvSpPr txBox="1"/>
          <p:nvPr/>
        </p:nvSpPr>
        <p:spPr>
          <a:xfrm>
            <a:off x="1463040" y="4251960"/>
            <a:ext cx="4297680" cy="502920"/>
          </a:xfrm>
          <a:prstGeom prst="rect">
            <a:avLst/>
          </a:prstGeom>
          <a:noFill/>
          <a:ln/>
        </p:spPr>
        <p:txBody>
          <a:bodyPr wrap="square" lIns="0" tIns="0" rIns="0" bIns="0" rtlCol="0" anchor="ctr"/>
          <a:lstStyle/>
          <a:p>
            <a:pPr indent="0" marL="0">
              <a:buNone/>
            </a:pPr>
            <a:r>
              <a:rPr lang="en-US" sz="1800" b="1" dirty="0">
                <a:solidFill>
                  <a:schemeClr val="tx2"/>
                </a:solidFill>
              </a:rPr>
              <a:t>Reporting already has one front door</a:t>
            </a:r>
            <a:endParaRPr lang="en-US" sz="1800" dirty="0"/>
          </a:p>
        </p:txBody>
      </p:sp>
      <p:sp>
        <p:nvSpPr>
          <p:cNvPr id="18" name="Text 16"/>
          <p:cNvSpPr txBox="1"/>
          <p:nvPr/>
        </p:nvSpPr>
        <p:spPr>
          <a:xfrm>
            <a:off x="1463040" y="4846320"/>
            <a:ext cx="4297680" cy="1005840"/>
          </a:xfrm>
          <a:prstGeom prst="rect">
            <a:avLst/>
          </a:prstGeom>
          <a:noFill/>
          <a:ln/>
        </p:spPr>
        <p:txBody>
          <a:bodyPr wrap="square" lIns="0" tIns="0" rIns="0" bIns="0" rtlCol="0" anchor="t"/>
          <a:lstStyle/>
          <a:p>
            <a:pPr indent="0" marL="0">
              <a:buNone/>
            </a:pPr>
            <a:r>
              <a:rPr lang="en-US" sz="1400" dirty="0">
                <a:solidFill>
                  <a:schemeClr val="tx1"/>
                </a:solidFill>
              </a:rPr>
              <a:t>Five core systems feed Power BI through one SQL Server connector. A few side routes still bypass it.</a:t>
            </a:r>
            <a:endParaRPr lang="en-US" sz="1400" dirty="0"/>
          </a:p>
        </p:txBody>
      </p:sp>
      <p:sp>
        <p:nvSpPr>
          <p:cNvPr id="19" name="message card 4"/>
          <p:cNvSpPr/>
          <p:nvPr/>
        </p:nvSpPr>
        <p:spPr>
          <a:xfrm>
            <a:off x="6217920" y="3977640"/>
            <a:ext cx="5394960" cy="2011680"/>
          </a:xfrm>
          <a:prstGeom prst="roundRect">
            <a:avLst>
              <a:gd name="adj" fmla="val 4545"/>
            </a:avLst>
          </a:prstGeom>
          <a:solidFill>
            <a:schemeClr val="bg2"/>
          </a:solidFill>
          <a:ln w="12700">
            <a:solidFill>
              <a:schemeClr val="bg2"/>
            </a:solidFill>
            <a:prstDash val="solid"/>
          </a:ln>
        </p:spPr>
      </p:sp>
      <p:sp>
        <p:nvSpPr>
          <p:cNvPr id="20" name="message dot 4"/>
          <p:cNvSpPr/>
          <p:nvPr/>
        </p:nvSpPr>
        <p:spPr>
          <a:xfrm>
            <a:off x="6492240" y="4270248"/>
            <a:ext cx="457200" cy="457200"/>
          </a:xfrm>
          <a:prstGeom prst="ellipse">
            <a:avLst/>
          </a:prstGeom>
          <a:solidFill>
            <a:schemeClr val="accent2"/>
          </a:solidFill>
          <a:ln w="12700">
            <a:solidFill>
              <a:schemeClr val="accent2"/>
            </a:solidFill>
            <a:prstDash val="solid"/>
          </a:ln>
        </p:spPr>
      </p:sp>
      <p:sp>
        <p:nvSpPr>
          <p:cNvPr id="21" name="Text 19"/>
          <p:cNvSpPr txBox="1"/>
          <p:nvPr/>
        </p:nvSpPr>
        <p:spPr>
          <a:xfrm>
            <a:off x="6492240" y="4270248"/>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4</a:t>
            </a:r>
            <a:endParaRPr lang="en-US" sz="1500" dirty="0"/>
          </a:p>
        </p:txBody>
      </p:sp>
      <p:sp>
        <p:nvSpPr>
          <p:cNvPr id="22" name="Text 20"/>
          <p:cNvSpPr txBox="1"/>
          <p:nvPr/>
        </p:nvSpPr>
        <p:spPr>
          <a:xfrm>
            <a:off x="7132320" y="4251960"/>
            <a:ext cx="4297680" cy="502920"/>
          </a:xfrm>
          <a:prstGeom prst="rect">
            <a:avLst/>
          </a:prstGeom>
          <a:noFill/>
          <a:ln/>
        </p:spPr>
        <p:txBody>
          <a:bodyPr wrap="square" lIns="0" tIns="0" rIns="0" bIns="0" rtlCol="0" anchor="ctr"/>
          <a:lstStyle/>
          <a:p>
            <a:pPr indent="0" marL="0">
              <a:buNone/>
            </a:pPr>
            <a:r>
              <a:rPr lang="en-US" sz="1800" b="1" dirty="0">
                <a:solidFill>
                  <a:schemeClr val="tx2"/>
                </a:solidFill>
              </a:rPr>
              <a:t>The wider estate is large</a:t>
            </a:r>
            <a:endParaRPr lang="en-US" sz="1800" dirty="0"/>
          </a:p>
        </p:txBody>
      </p:sp>
      <p:sp>
        <p:nvSpPr>
          <p:cNvPr id="23" name="Text 21"/>
          <p:cNvSpPr txBox="1"/>
          <p:nvPr/>
        </p:nvSpPr>
        <p:spPr>
          <a:xfrm>
            <a:off x="7132320" y="4846320"/>
            <a:ext cx="4297680" cy="1005840"/>
          </a:xfrm>
          <a:prstGeom prst="rect">
            <a:avLst/>
          </a:prstGeom>
          <a:noFill/>
          <a:ln/>
        </p:spPr>
        <p:txBody>
          <a:bodyPr wrap="square" lIns="0" tIns="0" rIns="0" bIns="0" rtlCol="0" anchor="t"/>
          <a:lstStyle/>
          <a:p>
            <a:pPr indent="0" marL="0">
              <a:buNone/>
            </a:pPr>
            <a:r>
              <a:rPr lang="en-US" sz="1400" dirty="0">
                <a:solidFill>
                  <a:schemeClr val="tx1"/>
                </a:solidFill>
              </a:rPr>
              <a:t>209 systems across 12 areas. Many sit outside the student system and are not yet connected.</a:t>
            </a:r>
            <a:endParaRPr lang="en-US" sz="14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F80"/>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indent="0" marL="0">
              <a:buNone/>
            </a:pPr>
            <a:r>
              <a:rPr lang="en-US" sz="3200" b="1" dirty="0">
                <a:solidFill>
                  <a:schemeClr val="tx2"/>
                </a:solidFill>
              </a:rPr>
              <a:t>Proposed next steps</a:t>
            </a:r>
            <a:endParaRPr lang="en-US" sz="3200" dirty="0"/>
          </a:p>
        </p:txBody>
      </p:sp>
      <p:sp>
        <p:nvSpPr>
          <p:cNvPr id="3" name="Text 0"/>
          <p:cNvSpPr/>
          <p:nvPr>
            <p:ph idx="101" type="body" hasCustomPrompt="1"/>
          </p:nvPr>
        </p:nvSpPr>
        <p:spPr>
          <a:xfrm>
            <a:off x="548640" y="1005840"/>
            <a:ext cx="11064240" cy="411480"/>
          </a:xfrm>
          <a:prstGeom prst="rect">
            <a:avLst/>
          </a:prstGeom>
          <a:noFill/>
          <a:ln/>
        </p:spPr>
        <p:txBody>
          <a:bodyPr wrap="square" lIns="0" tIns="0" rIns="0" bIns="0" rtlCol="0" anchor="t"/>
          <a:lstStyle/>
          <a:p>
            <a:pPr indent="0" marL="0">
              <a:buNone/>
            </a:pPr>
            <a:r>
              <a:rPr lang="en-US" sz="1500" dirty="0">
                <a:solidFill>
                  <a:schemeClr val="tx1"/>
                </a:solidFill>
              </a:rPr>
              <a:t>For discussion with Sarah, Lyndsay and Lesley</a:t>
            </a:r>
            <a:endParaRPr lang="en-US" sz="1500" dirty="0"/>
          </a:p>
        </p:txBody>
      </p:sp>
      <p:sp>
        <p:nvSpPr>
          <p:cNvPr id="4" name="step dot 1"/>
          <p:cNvSpPr/>
          <p:nvPr/>
        </p:nvSpPr>
        <p:spPr>
          <a:xfrm>
            <a:off x="1527048" y="1783080"/>
            <a:ext cx="640080" cy="640080"/>
          </a:xfrm>
          <a:prstGeom prst="ellipse">
            <a:avLst/>
          </a:prstGeom>
          <a:solidFill>
            <a:schemeClr val="accent1"/>
          </a:solidFill>
          <a:ln w="12700">
            <a:solidFill>
              <a:schemeClr val="accent1"/>
            </a:solidFill>
            <a:prstDash val="solid"/>
          </a:ln>
        </p:spPr>
      </p:sp>
      <p:sp>
        <p:nvSpPr>
          <p:cNvPr id="5" name="Text 3"/>
          <p:cNvSpPr txBox="1"/>
          <p:nvPr/>
        </p:nvSpPr>
        <p:spPr>
          <a:xfrm>
            <a:off x="1527048" y="1783080"/>
            <a:ext cx="640080" cy="640080"/>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6" name="Shape 4"/>
          <p:cNvSpPr/>
          <p:nvPr/>
        </p:nvSpPr>
        <p:spPr>
          <a:xfrm>
            <a:off x="2240280" y="2103120"/>
            <a:ext cx="2176272" cy="0"/>
          </a:xfrm>
          <a:prstGeom prst="line">
            <a:avLst/>
          </a:prstGeom>
          <a:noFill/>
          <a:ln w="25400">
            <a:solidFill>
              <a:schemeClr val="accent5"/>
            </a:solidFill>
            <a:prstDash val="solid"/>
          </a:ln>
        </p:spPr>
      </p:sp>
      <p:sp>
        <p:nvSpPr>
          <p:cNvPr id="7" name="step card 1"/>
          <p:cNvSpPr/>
          <p:nvPr/>
        </p:nvSpPr>
        <p:spPr>
          <a:xfrm>
            <a:off x="548640" y="2651760"/>
            <a:ext cx="2606040" cy="1920240"/>
          </a:xfrm>
          <a:prstGeom prst="roundRect">
            <a:avLst>
              <a:gd name="adj" fmla="val 4762"/>
            </a:avLst>
          </a:prstGeom>
          <a:solidFill>
            <a:schemeClr val="bg2"/>
          </a:solidFill>
          <a:ln w="12700">
            <a:solidFill>
              <a:schemeClr val="bg2"/>
            </a:solidFill>
            <a:prstDash val="solid"/>
          </a:ln>
        </p:spPr>
      </p:sp>
      <p:sp>
        <p:nvSpPr>
          <p:cNvPr id="8" name="Text 6"/>
          <p:cNvSpPr txBox="1"/>
          <p:nvPr/>
        </p:nvSpPr>
        <p:spPr>
          <a:xfrm>
            <a:off x="640080" y="2788920"/>
            <a:ext cx="2423160" cy="411480"/>
          </a:xfrm>
          <a:prstGeom prst="rect">
            <a:avLst/>
          </a:prstGeom>
          <a:noFill/>
          <a:ln/>
        </p:spPr>
        <p:txBody>
          <a:bodyPr wrap="square" lIns="0" tIns="0" rIns="0" bIns="0" rtlCol="0" anchor="ctr"/>
          <a:lstStyle/>
          <a:p>
            <a:pPr algn="ctr" indent="0" marL="0">
              <a:buNone/>
            </a:pPr>
            <a:r>
              <a:rPr lang="en-US" sz="1600" b="1" dirty="0">
                <a:solidFill>
                  <a:schemeClr val="tx2"/>
                </a:solidFill>
              </a:rPr>
              <a:t>Validate</a:t>
            </a:r>
            <a:endParaRPr lang="en-US" sz="1600" dirty="0"/>
          </a:p>
        </p:txBody>
      </p:sp>
      <p:sp>
        <p:nvSpPr>
          <p:cNvPr id="9" name="Text 7"/>
          <p:cNvSpPr txBox="1"/>
          <p:nvPr/>
        </p:nvSpPr>
        <p:spPr>
          <a:xfrm>
            <a:off x="731520" y="3246120"/>
            <a:ext cx="2240280" cy="1234440"/>
          </a:xfrm>
          <a:prstGeom prst="rect">
            <a:avLst/>
          </a:prstGeom>
          <a:noFill/>
          <a:ln/>
        </p:spPr>
        <p:txBody>
          <a:bodyPr wrap="square" lIns="0" tIns="0" rIns="0" bIns="0" rtlCol="0" anchor="t"/>
          <a:lstStyle/>
          <a:p>
            <a:pPr algn="ctr" indent="0" marL="0">
              <a:buNone/>
            </a:pPr>
            <a:r>
              <a:rPr lang="en-US" sz="1300" dirty="0">
                <a:solidFill>
                  <a:schemeClr val="tx1"/>
                </a:solidFill>
              </a:rPr>
              <a:t>Walk each system owner through their part of the map and confirm the connections.</a:t>
            </a:r>
            <a:endParaRPr lang="en-US" sz="1300" dirty="0"/>
          </a:p>
        </p:txBody>
      </p:sp>
      <p:sp>
        <p:nvSpPr>
          <p:cNvPr id="10" name="step dot 2"/>
          <p:cNvSpPr/>
          <p:nvPr/>
        </p:nvSpPr>
        <p:spPr>
          <a:xfrm>
            <a:off x="4343400" y="1783080"/>
            <a:ext cx="640080" cy="640080"/>
          </a:xfrm>
          <a:prstGeom prst="ellipse">
            <a:avLst/>
          </a:prstGeom>
          <a:solidFill>
            <a:schemeClr val="accent1"/>
          </a:solidFill>
          <a:ln w="12700">
            <a:solidFill>
              <a:schemeClr val="accent1"/>
            </a:solidFill>
            <a:prstDash val="solid"/>
          </a:ln>
        </p:spPr>
      </p:sp>
      <p:sp>
        <p:nvSpPr>
          <p:cNvPr id="11" name="Text 9"/>
          <p:cNvSpPr txBox="1"/>
          <p:nvPr/>
        </p:nvSpPr>
        <p:spPr>
          <a:xfrm>
            <a:off x="4343400" y="1783080"/>
            <a:ext cx="640080" cy="640080"/>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12" name="Shape 10"/>
          <p:cNvSpPr/>
          <p:nvPr/>
        </p:nvSpPr>
        <p:spPr>
          <a:xfrm>
            <a:off x="5056632" y="2103120"/>
            <a:ext cx="2176272" cy="0"/>
          </a:xfrm>
          <a:prstGeom prst="line">
            <a:avLst/>
          </a:prstGeom>
          <a:noFill/>
          <a:ln w="25400">
            <a:solidFill>
              <a:schemeClr val="accent5"/>
            </a:solidFill>
            <a:prstDash val="solid"/>
          </a:ln>
        </p:spPr>
      </p:sp>
      <p:sp>
        <p:nvSpPr>
          <p:cNvPr id="13" name="step card 2"/>
          <p:cNvSpPr/>
          <p:nvPr/>
        </p:nvSpPr>
        <p:spPr>
          <a:xfrm>
            <a:off x="3364992" y="2651760"/>
            <a:ext cx="2606040" cy="1920240"/>
          </a:xfrm>
          <a:prstGeom prst="roundRect">
            <a:avLst>
              <a:gd name="adj" fmla="val 4762"/>
            </a:avLst>
          </a:prstGeom>
          <a:solidFill>
            <a:schemeClr val="bg2"/>
          </a:solidFill>
          <a:ln w="12700">
            <a:solidFill>
              <a:schemeClr val="bg2"/>
            </a:solidFill>
            <a:prstDash val="solid"/>
          </a:ln>
        </p:spPr>
      </p:sp>
      <p:sp>
        <p:nvSpPr>
          <p:cNvPr id="14" name="Text 12"/>
          <p:cNvSpPr txBox="1"/>
          <p:nvPr/>
        </p:nvSpPr>
        <p:spPr>
          <a:xfrm>
            <a:off x="3456432" y="2788920"/>
            <a:ext cx="2423160" cy="411480"/>
          </a:xfrm>
          <a:prstGeom prst="rect">
            <a:avLst/>
          </a:prstGeom>
          <a:noFill/>
          <a:ln/>
        </p:spPr>
        <p:txBody>
          <a:bodyPr wrap="square" lIns="0" tIns="0" rIns="0" bIns="0" rtlCol="0" anchor="ctr"/>
          <a:lstStyle/>
          <a:p>
            <a:pPr algn="ctr" indent="0" marL="0">
              <a:buNone/>
            </a:pPr>
            <a:r>
              <a:rPr lang="en-US" sz="1600" b="1" dirty="0">
                <a:solidFill>
                  <a:schemeClr val="tx2"/>
                </a:solidFill>
              </a:rPr>
              <a:t>Confirm manual steps</a:t>
            </a:r>
            <a:endParaRPr lang="en-US" sz="1600" dirty="0"/>
          </a:p>
        </p:txBody>
      </p:sp>
      <p:sp>
        <p:nvSpPr>
          <p:cNvPr id="15" name="Text 13"/>
          <p:cNvSpPr txBox="1"/>
          <p:nvPr/>
        </p:nvSpPr>
        <p:spPr>
          <a:xfrm>
            <a:off x="3547872" y="3246120"/>
            <a:ext cx="2240280" cy="1234440"/>
          </a:xfrm>
          <a:prstGeom prst="rect">
            <a:avLst/>
          </a:prstGeom>
          <a:noFill/>
          <a:ln/>
        </p:spPr>
        <p:txBody>
          <a:bodyPr wrap="square" lIns="0" tIns="0" rIns="0" bIns="0" rtlCol="0" anchor="t"/>
          <a:lstStyle/>
          <a:p>
            <a:pPr algn="ctr" indent="0" marL="0">
              <a:buNone/>
            </a:pPr>
            <a:r>
              <a:rPr lang="en-US" sz="1300" dirty="0">
                <a:solidFill>
                  <a:schemeClr val="tx1"/>
                </a:solidFill>
              </a:rPr>
              <a:t>Check open items, e.g. the HR starter form with Gillian and the weekly manual Moodle upload.</a:t>
            </a:r>
            <a:endParaRPr lang="en-US" sz="1300" dirty="0"/>
          </a:p>
        </p:txBody>
      </p:sp>
      <p:sp>
        <p:nvSpPr>
          <p:cNvPr id="16" name="step dot 3"/>
          <p:cNvSpPr/>
          <p:nvPr/>
        </p:nvSpPr>
        <p:spPr>
          <a:xfrm>
            <a:off x="7159752" y="1783080"/>
            <a:ext cx="640080" cy="640080"/>
          </a:xfrm>
          <a:prstGeom prst="ellipse">
            <a:avLst/>
          </a:prstGeom>
          <a:solidFill>
            <a:schemeClr val="accent1"/>
          </a:solidFill>
          <a:ln w="12700">
            <a:solidFill>
              <a:schemeClr val="accent1"/>
            </a:solidFill>
            <a:prstDash val="solid"/>
          </a:ln>
        </p:spPr>
      </p:sp>
      <p:sp>
        <p:nvSpPr>
          <p:cNvPr id="17" name="Text 15"/>
          <p:cNvSpPr txBox="1"/>
          <p:nvPr/>
        </p:nvSpPr>
        <p:spPr>
          <a:xfrm>
            <a:off x="7159752" y="1783080"/>
            <a:ext cx="640080" cy="640080"/>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18" name="Shape 16"/>
          <p:cNvSpPr/>
          <p:nvPr/>
        </p:nvSpPr>
        <p:spPr>
          <a:xfrm>
            <a:off x="7872984" y="2103120"/>
            <a:ext cx="2176272" cy="0"/>
          </a:xfrm>
          <a:prstGeom prst="line">
            <a:avLst/>
          </a:prstGeom>
          <a:noFill/>
          <a:ln w="25400">
            <a:solidFill>
              <a:schemeClr val="accent5"/>
            </a:solidFill>
            <a:prstDash val="solid"/>
          </a:ln>
        </p:spPr>
      </p:sp>
      <p:sp>
        <p:nvSpPr>
          <p:cNvPr id="19" name="step card 3"/>
          <p:cNvSpPr/>
          <p:nvPr/>
        </p:nvSpPr>
        <p:spPr>
          <a:xfrm>
            <a:off x="6181344" y="2651760"/>
            <a:ext cx="2606040" cy="1920240"/>
          </a:xfrm>
          <a:prstGeom prst="roundRect">
            <a:avLst>
              <a:gd name="adj" fmla="val 4762"/>
            </a:avLst>
          </a:prstGeom>
          <a:solidFill>
            <a:schemeClr val="bg2"/>
          </a:solidFill>
          <a:ln w="12700">
            <a:solidFill>
              <a:schemeClr val="bg2"/>
            </a:solidFill>
            <a:prstDash val="solid"/>
          </a:ln>
        </p:spPr>
      </p:sp>
      <p:sp>
        <p:nvSpPr>
          <p:cNvPr id="20" name="Text 18"/>
          <p:cNvSpPr txBox="1"/>
          <p:nvPr/>
        </p:nvSpPr>
        <p:spPr>
          <a:xfrm>
            <a:off x="6272784" y="2788920"/>
            <a:ext cx="2423160" cy="411480"/>
          </a:xfrm>
          <a:prstGeom prst="rect">
            <a:avLst/>
          </a:prstGeom>
          <a:noFill/>
          <a:ln/>
        </p:spPr>
        <p:txBody>
          <a:bodyPr wrap="square" lIns="0" tIns="0" rIns="0" bIns="0" rtlCol="0" anchor="ctr"/>
          <a:lstStyle/>
          <a:p>
            <a:pPr algn="ctr" indent="0" marL="0">
              <a:buNone/>
            </a:pPr>
            <a:r>
              <a:rPr lang="en-US" sz="1600" b="1" dirty="0">
                <a:solidFill>
                  <a:schemeClr val="tx2"/>
                </a:solidFill>
              </a:rPr>
              <a:t>Prioritise</a:t>
            </a:r>
            <a:endParaRPr lang="en-US" sz="1600" dirty="0"/>
          </a:p>
        </p:txBody>
      </p:sp>
      <p:sp>
        <p:nvSpPr>
          <p:cNvPr id="21" name="Text 19"/>
          <p:cNvSpPr txBox="1"/>
          <p:nvPr/>
        </p:nvSpPr>
        <p:spPr>
          <a:xfrm>
            <a:off x="6364224" y="3246120"/>
            <a:ext cx="2240280" cy="1234440"/>
          </a:xfrm>
          <a:prstGeom prst="rect">
            <a:avLst/>
          </a:prstGeom>
          <a:noFill/>
          <a:ln/>
        </p:spPr>
        <p:txBody>
          <a:bodyPr wrap="square" lIns="0" tIns="0" rIns="0" bIns="0" rtlCol="0" anchor="t"/>
          <a:lstStyle/>
          <a:p>
            <a:pPr algn="ctr" indent="0" marL="0">
              <a:buNone/>
            </a:pPr>
            <a:r>
              <a:rPr lang="en-US" sz="1300" dirty="0">
                <a:solidFill>
                  <a:schemeClr val="tx1"/>
                </a:solidFill>
              </a:rPr>
              <a:t>Score each manual hand-off on time spent and data risk; pick the top three.</a:t>
            </a:r>
            <a:endParaRPr lang="en-US" sz="1300" dirty="0"/>
          </a:p>
        </p:txBody>
      </p:sp>
      <p:sp>
        <p:nvSpPr>
          <p:cNvPr id="22" name="step dot 4"/>
          <p:cNvSpPr/>
          <p:nvPr/>
        </p:nvSpPr>
        <p:spPr>
          <a:xfrm>
            <a:off x="9976104" y="1783080"/>
            <a:ext cx="640080" cy="640080"/>
          </a:xfrm>
          <a:prstGeom prst="ellipse">
            <a:avLst/>
          </a:prstGeom>
          <a:solidFill>
            <a:schemeClr val="accent1"/>
          </a:solidFill>
          <a:ln w="12700">
            <a:solidFill>
              <a:schemeClr val="accent1"/>
            </a:solidFill>
            <a:prstDash val="solid"/>
          </a:ln>
        </p:spPr>
      </p:sp>
      <p:sp>
        <p:nvSpPr>
          <p:cNvPr id="23" name="Text 21"/>
          <p:cNvSpPr txBox="1"/>
          <p:nvPr/>
        </p:nvSpPr>
        <p:spPr>
          <a:xfrm>
            <a:off x="9976104" y="1783080"/>
            <a:ext cx="640080" cy="640080"/>
          </a:xfrm>
          <a:prstGeom prst="rect">
            <a:avLst/>
          </a:prstGeom>
          <a:noFill/>
          <a:ln/>
        </p:spPr>
        <p:txBody>
          <a:bodyPr wrap="square" lIns="0" tIns="0" rIns="0" bIns="0" rtlCol="0" anchor="ctr"/>
          <a:lstStyle/>
          <a:p>
            <a:pPr algn="ctr" indent="0" marL="0">
              <a:buNone/>
            </a:pPr>
            <a:r>
              <a:rPr lang="en-US" sz="2000" b="1" dirty="0">
                <a:solidFill>
                  <a:schemeClr val="bg1"/>
                </a:solidFill>
              </a:rPr>
              <a:t>4</a:t>
            </a:r>
            <a:endParaRPr lang="en-US" sz="2000" dirty="0"/>
          </a:p>
        </p:txBody>
      </p:sp>
      <p:sp>
        <p:nvSpPr>
          <p:cNvPr id="24" name="step card 4"/>
          <p:cNvSpPr/>
          <p:nvPr/>
        </p:nvSpPr>
        <p:spPr>
          <a:xfrm>
            <a:off x="8997696" y="2651760"/>
            <a:ext cx="2606040" cy="1920240"/>
          </a:xfrm>
          <a:prstGeom prst="roundRect">
            <a:avLst>
              <a:gd name="adj" fmla="val 4762"/>
            </a:avLst>
          </a:prstGeom>
          <a:solidFill>
            <a:schemeClr val="bg2"/>
          </a:solidFill>
          <a:ln w="12700">
            <a:solidFill>
              <a:schemeClr val="bg2"/>
            </a:solidFill>
            <a:prstDash val="solid"/>
          </a:ln>
        </p:spPr>
      </p:sp>
      <p:sp>
        <p:nvSpPr>
          <p:cNvPr id="25" name="Text 23"/>
          <p:cNvSpPr txBox="1"/>
          <p:nvPr/>
        </p:nvSpPr>
        <p:spPr>
          <a:xfrm>
            <a:off x="9089136" y="2788920"/>
            <a:ext cx="2423160" cy="411480"/>
          </a:xfrm>
          <a:prstGeom prst="rect">
            <a:avLst/>
          </a:prstGeom>
          <a:noFill/>
          <a:ln/>
        </p:spPr>
        <p:txBody>
          <a:bodyPr wrap="square" lIns="0" tIns="0" rIns="0" bIns="0" rtlCol="0" anchor="ctr"/>
          <a:lstStyle/>
          <a:p>
            <a:pPr algn="ctr" indent="0" marL="0">
              <a:buNone/>
            </a:pPr>
            <a:r>
              <a:rPr lang="en-US" sz="1600" b="1" dirty="0">
                <a:solidFill>
                  <a:schemeClr val="tx2"/>
                </a:solidFill>
              </a:rPr>
              <a:t>Extend reporting</a:t>
            </a:r>
            <a:endParaRPr lang="en-US" sz="1600" dirty="0"/>
          </a:p>
        </p:txBody>
      </p:sp>
      <p:sp>
        <p:nvSpPr>
          <p:cNvPr id="26" name="Text 24"/>
          <p:cNvSpPr txBox="1"/>
          <p:nvPr/>
        </p:nvSpPr>
        <p:spPr>
          <a:xfrm>
            <a:off x="9180576" y="3246120"/>
            <a:ext cx="2240280" cy="1234440"/>
          </a:xfrm>
          <a:prstGeom prst="rect">
            <a:avLst/>
          </a:prstGeom>
          <a:noFill/>
          <a:ln/>
        </p:spPr>
        <p:txBody>
          <a:bodyPr wrap="square" lIns="0" tIns="0" rIns="0" bIns="0" rtlCol="0" anchor="t"/>
          <a:lstStyle/>
          <a:p>
            <a:pPr algn="ctr" indent="0" marL="0">
              <a:buNone/>
            </a:pPr>
            <a:r>
              <a:rPr lang="en-US" sz="1300" dirty="0">
                <a:solidFill>
                  <a:schemeClr val="tx1"/>
                </a:solidFill>
              </a:rPr>
              <a:t>Bring side routes onto the SQL Server connector and agree the next Power BI feeds.</a:t>
            </a:r>
            <a:endParaRPr lang="en-US" sz="1300" dirty="0"/>
          </a:p>
        </p:txBody>
      </p:sp>
      <p:sp>
        <p:nvSpPr>
          <p:cNvPr id="27" name="ask box"/>
          <p:cNvSpPr/>
          <p:nvPr/>
        </p:nvSpPr>
        <p:spPr>
          <a:xfrm>
            <a:off x="548640" y="4937760"/>
            <a:ext cx="11064240" cy="1188720"/>
          </a:xfrm>
          <a:prstGeom prst="roundRect">
            <a:avLst>
              <a:gd name="adj" fmla="val 7692"/>
            </a:avLst>
          </a:prstGeom>
          <a:solidFill>
            <a:schemeClr val="tx2"/>
          </a:solidFill>
          <a:ln w="12700">
            <a:solidFill>
              <a:schemeClr val="tx2"/>
            </a:solidFill>
            <a:prstDash val="solid"/>
          </a:ln>
        </p:spPr>
      </p:sp>
      <p:sp>
        <p:nvSpPr>
          <p:cNvPr id="28" name="Text 26"/>
          <p:cNvSpPr txBox="1"/>
          <p:nvPr/>
        </p:nvSpPr>
        <p:spPr>
          <a:xfrm>
            <a:off x="822960" y="4937760"/>
            <a:ext cx="10515600" cy="1188720"/>
          </a:xfrm>
          <a:prstGeom prst="rect">
            <a:avLst/>
          </a:prstGeom>
          <a:noFill/>
          <a:ln/>
        </p:spPr>
        <p:txBody>
          <a:bodyPr wrap="square" lIns="0" tIns="0" rIns="0" bIns="0" rtlCol="0" anchor="ctr"/>
          <a:lstStyle/>
          <a:p>
            <a:pPr indent="0" marL="0">
              <a:buNone/>
            </a:pPr>
            <a:r>
              <a:rPr lang="en-US" sz="1600" b="1" dirty="0">
                <a:solidFill>
                  <a:schemeClr val="bg1"/>
                </a:solidFill>
              </a:rPr>
              <a:t>What I need from you</a:t>
            </a:r>
            <a:endParaRPr lang="en-US" sz="1400" dirty="0"/>
          </a:p>
          <a:p>
            <a:pPr indent="0" marL="0">
              <a:buNone/>
            </a:pPr>
            <a:r>
              <a:rPr lang="en-US" sz="1400" dirty="0">
                <a:solidFill>
                  <a:schemeClr val="bg1"/>
                </a:solidFill>
              </a:rPr>
              <a:t>Agreement that this four-layer view is the version we share, and a steer on which manual hand-offs to look at first.</a:t>
            </a:r>
            <a:endParaRPr lang="en-US" sz="14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F80"/>
                </a:solidFill>
              </a:defRPr>
            </a:lvl1pPr>
          </a:lstStyle>
          <a:p>
            <a:pPr algn="r"/>
            <a:fld id="{F7021451-1387-4CA6-816F-3879F97B5CBC}" type="slidenum">
              <a:rPr b="0" lang="en-US"/>
              <a:t>10</a:t>
            </a:fld>
            <a:endParaRPr lang="en-US"/>
          </a:p>
        </p:txBody>
      </p:sp>
    </p:spTree>
  </p:cSld>
  <p:clrMapOvr>
    <a:masterClrMapping/>
  </p:clrMapOvr>
</p:sld>
</file>

<file path=ppt/theme/theme1.xml><?xml version="1.0" encoding="utf-8"?>
<a:theme xmlns:a="http://schemas.openxmlformats.org/drawingml/2006/main" name="FVC Data Architecture">
  <a:themeElements>
    <a:clrScheme name="FVC Data Architecture">
      <a:dk1>
        <a:srgbClr val="1F2233"/>
      </a:dk1>
      <a:lt1>
        <a:srgbClr val="FFFFFF"/>
      </a:lt1>
      <a:dk2>
        <a:srgbClr val="2B2770"/>
      </a:dk2>
      <a:lt2>
        <a:srgbClr val="F3F3FB"/>
      </a:lt2>
      <a:accent1>
        <a:srgbClr val="5B57E8"/>
      </a:accent1>
      <a:accent2>
        <a:srgbClr val="1F9D6A"/>
      </a:accent2>
      <a:accent3>
        <a:srgbClr val="E8912D"/>
      </a:accent3>
      <a:accent4>
        <a:srgbClr val="3A414A"/>
      </a:accent4>
      <a:accent5>
        <a:srgbClr val="DEDEFF"/>
      </a:accent5>
      <a:accent6>
        <a:srgbClr val="C3F0D6"/>
      </a:accent6>
      <a:hlink>
        <a:srgbClr val="5B57E8"/>
      </a:hlink>
      <a:folHlink>
        <a:srgbClr val="2B2770"/>
      </a:folHlink>
    </a:clrScheme>
    <a:fontScheme name="FVC Data Architectur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Student Data Architecture</dc:title>
  <dc:subject>PptxGenJS Presentation</dc:subject>
  <dc:creator>Thanaporn Wattanamanon</dc:creator>
  <cp:lastModifiedBy>Thanaporn Wattanamanon</cp:lastModifiedBy>
  <cp:revision>1</cp:revision>
  <dcterms:created xsi:type="dcterms:W3CDTF">2026-10-02T07:32:25Z</dcterms:created>
  <dcterms:modified xsi:type="dcterms:W3CDTF">2026-10-02T07:32:25Z</dcterms:modified>
</cp:coreProperties>
</file>