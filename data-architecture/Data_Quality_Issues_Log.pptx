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high-priority issues all affect the conversion numbers directly.
1. The same data is keyed into several systems, so Power BI can receive two versions of one number. This may explain why RA5 shows 37.9% for YCCJ/AL when our own calculation gives 31.0% or 54.5%.
2. There are seven manual hand-offs on the recruitment path. The Enquirer to UnitE step sits exactly between applications and enrolments.
3. UnitE sends data out automatically but gets it back by hand, and nothing says which system wins.
4. Commercial students and apprentices may be missing from college totals, because Dante, Onefile, JTL and Dataserve are not connected to UnitE or the SQL connector.
The medium-priority issues are about feeds that bypass the connector, partial bursary data, the lack of status history, and student systems we have not yet mapped.
The single most useful next step is to agree one system of record for each key data item, as part of Lesley and Kevin's single source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228600"/>
            <a:ext cx="11430000" cy="502920"/>
          </a:xfrm>
          <a:prstGeom prst="rect">
            <a:avLst/>
          </a:prstGeom>
          <a:noFill/>
          <a:ln/>
        </p:spPr>
        <p:txBody>
          <a:bodyPr wrap="square" lIns="0" tIns="0" rIns="0" bIns="0" rtlCol="0" anchor="ctr"/>
          <a:lstStyle/>
          <a:p>
            <a:pPr indent="0" marL="0">
              <a:buNone/>
            </a:pPr>
            <a:r>
              <a:rPr lang="en-US" sz="2600" b="1" dirty="0">
                <a:solidFill>
                  <a:srgbClr val="A3206E"/>
                </a:solidFill>
              </a:rPr>
              <a:t>Data quality issues log: student journey to Power BI</a:t>
            </a:r>
            <a:endParaRPr lang="en-US" sz="2600" dirty="0"/>
          </a:p>
        </p:txBody>
      </p:sp>
      <p:sp>
        <p:nvSpPr>
          <p:cNvPr id="3" name="Text 1"/>
          <p:cNvSpPr txBox="1"/>
          <p:nvPr/>
        </p:nvSpPr>
        <p:spPr>
          <a:xfrm>
            <a:off x="365760" y="749808"/>
            <a:ext cx="11430000" cy="274320"/>
          </a:xfrm>
          <a:prstGeom prst="rect">
            <a:avLst/>
          </a:prstGeom>
          <a:noFill/>
          <a:ln/>
        </p:spPr>
        <p:txBody>
          <a:bodyPr wrap="square" lIns="0" tIns="0" rIns="0" bIns="0" rtlCol="0" anchor="ctr"/>
          <a:lstStyle/>
          <a:p>
            <a:pPr indent="0" marL="0">
              <a:buNone/>
            </a:pPr>
            <a:r>
              <a:rPr lang="en-US" sz="1300" dirty="0">
                <a:solidFill>
                  <a:srgbClr val="1F2233"/>
                </a:solidFill>
              </a:rPr>
              <a:t>From the updated Lucid data architecture map: 8 issues, 4 high priority</a:t>
            </a:r>
            <a:endParaRPr lang="en-US" sz="1300" dirty="0"/>
          </a:p>
        </p:txBody>
      </p:sp>
      <p:graphicFrame>
        <p:nvGraphicFramePr>
          <p:cNvPr id="2" name="issues log"/>
          <p:cNvGraphicFramePr>
            <a:graphicFrameLocks noGrp="1"/>
          </p:cNvGraphicFramePr>
          <p:nvPr>
            <p:extLst>
              <p:ext uri="{D42A27DB-BD31-4B8C-83A1-F6EECF244321}">
                <p14:modId xmlns:p14="http://schemas.microsoft.com/office/powerpoint/2010/main" val="1579011935"/>
              </p:ext>
            </p:extLst>
          </p:nvPr>
        </p:nvGraphicFramePr>
        <p:xfrm>
          <a:off x="365760" y="1143000"/>
          <a:ext cx="11457432" cy="914400"/>
        </p:xfrm>
        <a:graphic>
          <a:graphicData uri="http://schemas.openxmlformats.org/drawingml/2006/table">
            <a:tbl>
              <a:tblPr/>
              <a:tblGrid>
                <a:gridCol w="347472"/>
                <a:gridCol w="1920240"/>
                <a:gridCol w="3429000"/>
                <a:gridCol w="2606040"/>
                <a:gridCol w="2331720"/>
                <a:gridCol w="82296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2B235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Issue</a:t>
                      </a:r>
                      <a:endParaRPr lang="en-US" sz="10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2B235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the map shows</a:t>
                      </a:r>
                      <a:endParaRPr lang="en-US" sz="10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2B235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Effect on BI</a:t>
                      </a:r>
                      <a:endParaRPr lang="en-US" sz="10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2B235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Next step (who)</a:t>
                      </a:r>
                      <a:endParaRPr lang="en-US" sz="10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2B235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Priority</a:t>
                      </a:r>
                      <a:endParaRPr lang="en-US" sz="10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2B2350"/>
                    </a:solidFill>
                  </a:tcPr>
                </a:tc>
              </a:tr>
              <a:tr h="621792">
                <a:tc>
                  <a:txBody>
                    <a:bodyPr/>
                    <a:lstStyle/>
                    <a:p>
                      <a:pPr algn="ctr" indent="0" marL="0">
                        <a:buNone/>
                      </a:pPr>
                      <a:r>
                        <a:rPr lang="en-US" sz="950" b="1" dirty="0">
                          <a:solidFill>
                            <a:srgbClr val="A3206E"/>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50" b="1" dirty="0">
                          <a:solidFill>
                            <a:srgbClr val="2B2350"/>
                          </a:solidFill>
                          <a:latin typeface="Calibri" pitchFamily="34" charset="0"/>
                          <a:ea typeface="Calibri" pitchFamily="34" charset="-122"/>
                          <a:cs typeface="Calibri" pitchFamily="34" charset="-120"/>
                        </a:rPr>
                        <a:t>Same data keyed into several systems</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ASN typed into Enquirer, FVC Portal and TripleS. Application status and interview detail typed into both Enquirer and UnitE</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Two versions of one number reach Power BI. May explain the RA5 gap (37.9% vs 31.0% / 54.5%)</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Agree one system of record per data item (Lesley, Kevin)</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C1A5C"/>
                          </a:solidFill>
                          <a:latin typeface="Calibri" pitchFamily="34" charset="0"/>
                          <a:ea typeface="Calibri" pitchFamily="34" charset="-122"/>
                          <a:cs typeface="Calibri" pitchFamily="34" charset="-120"/>
                        </a:rPr>
                        <a:t>High</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6D6E6"/>
                    </a:solidFill>
                  </a:tcPr>
                </a:tc>
              </a:tr>
              <a:tr h="621792">
                <a:tc>
                  <a:txBody>
                    <a:bodyPr/>
                    <a:lstStyle/>
                    <a:p>
                      <a:pPr algn="ctr" indent="0" marL="0">
                        <a:buNone/>
                      </a:pPr>
                      <a:r>
                        <a:rPr lang="en-US" sz="950" b="1" dirty="0">
                          <a:solidFill>
                            <a:srgbClr val="A3206E"/>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50" b="1" dirty="0">
                          <a:solidFill>
                            <a:srgbClr val="2B2350"/>
                          </a:solidFill>
                          <a:latin typeface="Calibri" pitchFamily="34" charset="0"/>
                          <a:ea typeface="Calibri" pitchFamily="34" charset="-122"/>
                          <a:cs typeface="Calibri" pitchFamily="34" charset="-120"/>
                        </a:rPr>
                        <a:t>Manual steps on the recruitment path</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7 manual hand-offs, including Enquirer → UnitE, plus 6 manual input points</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Delays, typing errors and missing records between applications and enrolments</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Monthly count check: Enquirer vs UnitE vs RA5, starting with YCCJ/AL</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algn="ctr" indent="0" marL="0">
                        <a:buNone/>
                      </a:pPr>
                      <a:r>
                        <a:rPr lang="en-US" sz="950" b="1" dirty="0">
                          <a:solidFill>
                            <a:srgbClr val="8C1A5C"/>
                          </a:solidFill>
                          <a:latin typeface="Calibri" pitchFamily="34" charset="0"/>
                          <a:ea typeface="Calibri" pitchFamily="34" charset="-122"/>
                          <a:cs typeface="Calibri" pitchFamily="34" charset="-120"/>
                        </a:rPr>
                        <a:t>High</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6D6E6"/>
                    </a:solidFill>
                  </a:tcPr>
                </a:tc>
              </a:tr>
              <a:tr h="621792">
                <a:tc>
                  <a:txBody>
                    <a:bodyPr/>
                    <a:lstStyle/>
                    <a:p>
                      <a:pPr algn="ctr" indent="0" marL="0">
                        <a:buNone/>
                      </a:pPr>
                      <a:r>
                        <a:rPr lang="en-US" sz="950" b="1" dirty="0">
                          <a:solidFill>
                            <a:srgbClr val="A3206E"/>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50" b="1" dirty="0">
                          <a:solidFill>
                            <a:srgbClr val="2B2350"/>
                          </a:solidFill>
                          <a:latin typeface="Calibri" pitchFamily="34" charset="0"/>
                          <a:ea typeface="Calibri" pitchFamily="34" charset="-122"/>
                          <a:cs typeface="Calibri" pitchFamily="34" charset="-120"/>
                        </a:rPr>
                        <a:t>Two-way loops around UnitE</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UnitE sends data out automatically; Enquirer, Bursary, Student Portal and FVC Portal send it back by hand</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No rule for which system wins. Power BI reads both UnitE and Enquirer</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Covered by the system-of-record agreement (Lesley, Kevin)</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C1A5C"/>
                          </a:solidFill>
                          <a:latin typeface="Calibri" pitchFamily="34" charset="0"/>
                          <a:ea typeface="Calibri" pitchFamily="34" charset="-122"/>
                          <a:cs typeface="Calibri" pitchFamily="34" charset="-120"/>
                        </a:rPr>
                        <a:t>High</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6D6E6"/>
                    </a:solidFill>
                  </a:tcPr>
                </a:tc>
              </a:tr>
              <a:tr h="621792">
                <a:tc>
                  <a:txBody>
                    <a:bodyPr/>
                    <a:lstStyle/>
                    <a:p>
                      <a:pPr algn="ctr" indent="0" marL="0">
                        <a:buNone/>
                      </a:pPr>
                      <a:r>
                        <a:rPr lang="en-US" sz="950" b="1" dirty="0">
                          <a:solidFill>
                            <a:srgbClr val="A3206E"/>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50" b="1" dirty="0">
                          <a:solidFill>
                            <a:srgbClr val="2B2350"/>
                          </a:solidFill>
                          <a:latin typeface="Calibri" pitchFamily="34" charset="0"/>
                          <a:ea typeface="Calibri" pitchFamily="34" charset="-122"/>
                          <a:cs typeface="Calibri" pitchFamily="34" charset="-120"/>
                        </a:rPr>
                        <a:t>Students missing from UnitE or BI</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Dante "not on Unit-E" and not on the connector. Onefile, JTL and Dataserve unconnected. Celcat not on the connector</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Totals may quietly leave out commercial students and apprentices</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Ask Kevin which systems can join the SQL connector</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algn="ctr" indent="0" marL="0">
                        <a:buNone/>
                      </a:pPr>
                      <a:r>
                        <a:rPr lang="en-US" sz="950" b="1" dirty="0">
                          <a:solidFill>
                            <a:srgbClr val="8C1A5C"/>
                          </a:solidFill>
                          <a:latin typeface="Calibri" pitchFamily="34" charset="0"/>
                          <a:ea typeface="Calibri" pitchFamily="34" charset="-122"/>
                          <a:cs typeface="Calibri" pitchFamily="34" charset="-120"/>
                        </a:rPr>
                        <a:t>High</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6D6E6"/>
                    </a:solidFill>
                  </a:tcPr>
                </a:tc>
              </a:tr>
              <a:tr h="621792">
                <a:tc>
                  <a:txBody>
                    <a:bodyPr/>
                    <a:lstStyle/>
                    <a:p>
                      <a:pPr algn="ctr" indent="0" marL="0">
                        <a:buNone/>
                      </a:pPr>
                      <a:r>
                        <a:rPr lang="en-US" sz="950" b="1" dirty="0">
                          <a:solidFill>
                            <a:srgbClr val="A3206E"/>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50" b="1" dirty="0">
                          <a:solidFill>
                            <a:srgbClr val="2B2350"/>
                          </a:solidFill>
                          <a:latin typeface="Calibri" pitchFamily="34" charset="0"/>
                          <a:ea typeface="Calibri" pitchFamily="34" charset="-122"/>
                          <a:cs typeface="Calibri" pitchFamily="34" charset="-120"/>
                        </a:rPr>
                        <a:t>Feeds that bypass the connector</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Complaints and UNIDESK feed Power BI directly; MS Access by hand. RA5's semantic model source unconfirmed</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Different refresh timing and definitions; no central checks</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Kevin to confirm RA5's source; route feeds through the connector</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4B0F"/>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CEBD3"/>
                    </a:solidFill>
                  </a:tcPr>
                </a:tc>
              </a:tr>
              <a:tr h="621792">
                <a:tc>
                  <a:txBody>
                    <a:bodyPr/>
                    <a:lstStyle/>
                    <a:p>
                      <a:pPr algn="ctr" indent="0" marL="0">
                        <a:buNone/>
                      </a:pPr>
                      <a:r>
                        <a:rPr lang="en-US" sz="950" b="1" dirty="0">
                          <a:solidFill>
                            <a:srgbClr val="A3206E"/>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50" b="1" dirty="0">
                          <a:solidFill>
                            <a:srgbClr val="2B2350"/>
                          </a:solidFill>
                          <a:latin typeface="Calibri" pitchFamily="34" charset="0"/>
                          <a:ea typeface="Calibri" pitchFamily="34" charset="-122"/>
                          <a:cs typeface="Calibri" pitchFamily="34" charset="-120"/>
                        </a:rPr>
                        <a:t>Incomplete or unverified bursary feeds</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"Can see only ready to outstanding award, not process evidence"; status marked "Finance need to check"</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Bursary pipeline in Power BI is only partly visible</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Confirm with Finance which Bursary data is complete</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algn="ctr" indent="0" marL="0">
                        <a:buNone/>
                      </a:pPr>
                      <a:r>
                        <a:rPr lang="en-US" sz="950" b="1" dirty="0">
                          <a:solidFill>
                            <a:srgbClr val="8A4B0F"/>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CEBD3"/>
                    </a:solidFill>
                  </a:tcPr>
                </a:tc>
              </a:tr>
              <a:tr h="621792">
                <a:tc>
                  <a:txBody>
                    <a:bodyPr/>
                    <a:lstStyle/>
                    <a:p>
                      <a:pPr algn="ctr" indent="0" marL="0">
                        <a:buNone/>
                      </a:pPr>
                      <a:r>
                        <a:rPr lang="en-US" sz="950" b="1" dirty="0">
                          <a:solidFill>
                            <a:srgbClr val="A3206E"/>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50" b="1" dirty="0">
                          <a:solidFill>
                            <a:srgbClr val="2B2350"/>
                          </a:solidFill>
                          <a:latin typeface="Calibri" pitchFamily="34" charset="0"/>
                          <a:ea typeface="Calibri" pitchFamily="34" charset="-122"/>
                          <a:cs typeface="Calibri" pitchFamily="34" charset="-120"/>
                        </a:rPr>
                        <a:t>No status history</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Enquirer keeps only each application's current status</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Past offer counts cannot be rebuilt; 3-year trends understate offers</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Start weekly status snapshots now (Lesley)</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4B0F"/>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CEBD3"/>
                    </a:solidFill>
                  </a:tcPr>
                </a:tc>
              </a:tr>
              <a:tr h="621792">
                <a:tc>
                  <a:txBody>
                    <a:bodyPr/>
                    <a:lstStyle/>
                    <a:p>
                      <a:pPr algn="ctr" indent="0" marL="0">
                        <a:buNone/>
                      </a:pPr>
                      <a:r>
                        <a:rPr lang="en-US" sz="950" b="1" dirty="0">
                          <a:solidFill>
                            <a:srgbClr val="A3206E"/>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50" b="1" dirty="0">
                          <a:solidFill>
                            <a:srgbClr val="2B2350"/>
                          </a:solidFill>
                          <a:latin typeface="Calibri" pitchFamily="34" charset="0"/>
                          <a:ea typeface="Calibri" pitchFamily="34" charset="-122"/>
                          <a:cs typeface="Calibri" pitchFamily="34" charset="-120"/>
                        </a:rPr>
                        <a:t>Student systems outside the mapped flows</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7 systems in the "Don't know" group, including Theorise and CaseNotes; open "Check with" notes; bank details sent to Finance by hand</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ASN picture may be incomplete; sensitive data sits outside the managed flow</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50" dirty="0">
                          <a:solidFill>
                            <a:srgbClr val="1F2233"/>
                          </a:solidFill>
                          <a:latin typeface="Calibri" pitchFamily="34" charset="0"/>
                          <a:ea typeface="Calibri" pitchFamily="34" charset="-122"/>
                          <a:cs typeface="Calibri" pitchFamily="34" charset="-120"/>
                        </a:rPr>
                        <a:t>Close open notes, Theorise and CaseNotes first</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algn="ctr" indent="0" marL="0">
                        <a:buNone/>
                      </a:pPr>
                      <a:r>
                        <a:rPr lang="en-US" sz="950" b="1" dirty="0">
                          <a:solidFill>
                            <a:srgbClr val="8A4B0F"/>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CEBD3"/>
                    </a:solidFill>
                  </a:tcPr>
                </a:tc>
              </a:tr>
            </a:tbl>
          </a:graphicData>
        </a:graphic>
      </p:graphicFrame>
      <p:sp>
        <p:nvSpPr>
          <p:cNvPr id="5" name="Text 2"/>
          <p:cNvSpPr txBox="1"/>
          <p:nvPr/>
        </p:nvSpPr>
        <p:spPr>
          <a:xfrm>
            <a:off x="365760" y="6492240"/>
            <a:ext cx="11430000" cy="228600"/>
          </a:xfrm>
          <a:prstGeom prst="rect">
            <a:avLst/>
          </a:prstGeom>
          <a:noFill/>
          <a:ln/>
        </p:spPr>
        <p:txBody>
          <a:bodyPr wrap="square" lIns="0" tIns="0" rIns="0" bIns="0" rtlCol="0" anchor="ctr"/>
          <a:lstStyle/>
          <a:p>
            <a:pPr indent="0" marL="0">
              <a:buNone/>
            </a:pPr>
            <a:r>
              <a:rPr lang="en-US" sz="900" i="1" dirty="0">
                <a:solidFill>
                  <a:srgbClr val="6B6F80"/>
                </a:solidFill>
              </a:rPr>
              <a:t>Source: System Architecture working file (Lucid), checked 6 Oct 2026. Line labels were matched to lines by position on the page; confirm any that look wrong.</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quality issues log</dc:title>
  <dc:subject>PptxGenJS Presentation</dc:subject>
  <dc:creator>PptxGenJS</dc:creator>
  <cp:lastModifiedBy>PptxGenJS</cp:lastModifiedBy>
  <cp:revision>1</cp:revision>
  <dcterms:created xsi:type="dcterms:W3CDTF">2026-10-06T13:50:46Z</dcterms:created>
  <dcterms:modified xsi:type="dcterms:W3CDTF">2026-10-06T13:50:46Z</dcterms:modified>
</cp:coreProperties>
</file>