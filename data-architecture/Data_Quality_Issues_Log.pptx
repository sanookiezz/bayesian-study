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feeds into UnitE from Enquirer, Bursary, the Student Portal, FVC Portal and iTrent now run automatically through UnitE's data warehouse. That removes most manual hand-offs, so "manual input and load timing" drops to medium priority.
The three high-priority issues:
1. The same data is still held in several systems. UnitE is the master, but Power BI also reads Enquirer, TripleS and Bursary directly through the SQL connector, so two versions of one number can reach a report. This may explain why RA5 shows 37.9% for YCCJ/AL when our own calculation gives 31.0% or 54.5%.
2. The warehouse load rules are not documented. How A/B sections are grouped and which statuses count as an offer are decided inside UnitE, so report pages can count differently (343 against about 422 offers) and nobody can explain why.
3. Commercial students and apprentices may be missing from college totals, because Dante, Onefile, JTL and Dataserve are not connected to UnitE or the SQL connector.
Possible causes (in italics) are my reading of the map and meeting notes; confirm them with each system owner.
The most useful next step is to get the warehouse load rules from Kevin and agree one system of record for each key data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28600"/>
            <a:ext cx="11430000" cy="502920"/>
          </a:xfrm>
          <a:prstGeom prst="rect">
            <a:avLst/>
          </a:prstGeom>
          <a:noFill/>
          <a:ln/>
        </p:spPr>
        <p:txBody>
          <a:bodyPr wrap="square" lIns="0" tIns="0" rIns="0" bIns="0" rtlCol="0" anchor="ctr"/>
          <a:lstStyle/>
          <a:p>
            <a:pPr indent="0" marL="0">
              <a:buNone/>
            </a:pPr>
            <a:r>
              <a:rPr lang="en-US" sz="2600" b="1" dirty="0">
                <a:solidFill>
                  <a:srgbClr val="A3206E"/>
                </a:solidFill>
              </a:rPr>
              <a:t>Data quality issues log: student journey to Power BI</a:t>
            </a:r>
            <a:endParaRPr lang="en-US" sz="2600" dirty="0"/>
          </a:p>
        </p:txBody>
      </p:sp>
      <p:sp>
        <p:nvSpPr>
          <p:cNvPr id="3" name="Text 1"/>
          <p:cNvSpPr txBox="1"/>
          <p:nvPr/>
        </p:nvSpPr>
        <p:spPr>
          <a:xfrm>
            <a:off x="365760" y="749808"/>
            <a:ext cx="11430000" cy="274320"/>
          </a:xfrm>
          <a:prstGeom prst="rect">
            <a:avLst/>
          </a:prstGeom>
          <a:noFill/>
          <a:ln/>
        </p:spPr>
        <p:txBody>
          <a:bodyPr wrap="square" lIns="0" tIns="0" rIns="0" bIns="0" rtlCol="0" anchor="ctr"/>
          <a:lstStyle/>
          <a:p>
            <a:pPr indent="0" marL="0">
              <a:buNone/>
            </a:pPr>
            <a:r>
              <a:rPr lang="en-US" sz="1300" dirty="0">
                <a:solidFill>
                  <a:srgbClr val="1F2233"/>
                </a:solidFill>
              </a:rPr>
              <a:t>From the updated Lucid data architecture map: 8 issues, 3 high priority (updated: feeds into UnitE now run through its data warehouse)</a:t>
            </a:r>
            <a:endParaRPr lang="en-US" sz="1300" dirty="0"/>
          </a:p>
        </p:txBody>
      </p:sp>
      <p:graphicFrame>
        <p:nvGraphicFramePr>
          <p:cNvPr id="2" name="issues log"/>
          <p:cNvGraphicFramePr>
            <a:graphicFrameLocks noGrp="1"/>
          </p:cNvGraphicFramePr>
          <p:nvPr>
            <p:extLst>
              <p:ext uri="{D42A27DB-BD31-4B8C-83A1-F6EECF244321}">
                <p14:modId xmlns:p14="http://schemas.microsoft.com/office/powerpoint/2010/main" val="1579011935"/>
              </p:ext>
            </p:extLst>
          </p:nvPr>
        </p:nvGraphicFramePr>
        <p:xfrm>
          <a:off x="365760" y="1143000"/>
          <a:ext cx="11457432" cy="914400"/>
        </p:xfrm>
        <a:graphic>
          <a:graphicData uri="http://schemas.openxmlformats.org/drawingml/2006/table">
            <a:tbl>
              <a:tblPr/>
              <a:tblGrid>
                <a:gridCol w="301752"/>
                <a:gridCol w="1463040"/>
                <a:gridCol w="2606040"/>
                <a:gridCol w="2423160"/>
                <a:gridCol w="2057400"/>
                <a:gridCol w="1920240"/>
                <a:gridCol w="68580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2B23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Issue</a:t>
                      </a:r>
                      <a:endParaRPr lang="en-US" sz="105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2B23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the map shows</a:t>
                      </a:r>
                      <a:endParaRPr lang="en-US" sz="105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2B23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Possible cause</a:t>
                      </a:r>
                      <a:endParaRPr lang="en-US" sz="105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2B23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Effect on BI</a:t>
                      </a:r>
                      <a:endParaRPr lang="en-US" sz="105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2B23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Next step (who)</a:t>
                      </a:r>
                      <a:endParaRPr lang="en-US" sz="105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2B23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Priority</a:t>
                      </a:r>
                      <a:endParaRPr lang="en-US" sz="105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2B2350"/>
                    </a:solidFill>
                  </a:tcPr>
                </a:tc>
              </a:tr>
              <a:tr h="621792">
                <a:tc>
                  <a:txBody>
                    <a:bodyPr/>
                    <a:lstStyle/>
                    <a:p>
                      <a:pPr algn="ctr" indent="0" marL="0">
                        <a:buNone/>
                      </a:pPr>
                      <a:r>
                        <a:rPr lang="en-US" sz="900" b="1" dirty="0">
                          <a:solidFill>
                            <a:srgbClr val="A3206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b="1" dirty="0">
                          <a:solidFill>
                            <a:srgbClr val="2B2350"/>
                          </a:solidFill>
                          <a:latin typeface="Calibri" pitchFamily="34" charset="0"/>
                          <a:ea typeface="Calibri" pitchFamily="34" charset="-122"/>
                          <a:cs typeface="Calibri" pitchFamily="34" charset="-120"/>
                        </a:rPr>
                        <a:t>Same data held in several systems</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ASN typed into Enquirer, FVC Portal and TripleS. UnitE is the master, but Enquirer, TripleS and Bursary also feed the SQL connector directly</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i="1" dirty="0">
                          <a:solidFill>
                            <a:srgbClr val="1F2233"/>
                          </a:solidFill>
                          <a:latin typeface="Calibri" pitchFamily="34" charset="0"/>
                          <a:ea typeface="Calibri" pitchFamily="34" charset="-122"/>
                          <a:cs typeface="Calibri" pitchFamily="34" charset="-120"/>
                        </a:rPr>
                        <a:t>Each team works in its own system; Power BI reads both UnitE and the source systems, so no single version wins</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Two versions of one number reach Power BI; may explain the RA5 gap (37.9% vs 31.0% / 54.5%)</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UnitE (via its warehouse) is master; check conflicts with direct SQL feeds (Kevin)</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C1A5C"/>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6D6E6"/>
                    </a:solidFill>
                  </a:tcPr>
                </a:tc>
              </a:tr>
              <a:tr h="621792">
                <a:tc>
                  <a:txBody>
                    <a:bodyPr/>
                    <a:lstStyle/>
                    <a:p>
                      <a:pPr algn="ctr" indent="0" marL="0">
                        <a:buNone/>
                      </a:pPr>
                      <a:r>
                        <a:rPr lang="en-US" sz="900" b="1" dirty="0">
                          <a:solidFill>
                            <a:srgbClr val="A3206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b="1" dirty="0">
                          <a:solidFill>
                            <a:srgbClr val="2B2350"/>
                          </a:solidFill>
                          <a:latin typeface="Calibri" pitchFamily="34" charset="0"/>
                          <a:ea typeface="Calibri" pitchFamily="34" charset="-122"/>
                          <a:cs typeface="Calibri" pitchFamily="34" charset="-120"/>
                        </a:rPr>
                        <a:t>UnitE warehouse rules not documented</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All feeds into UnitE now run through UnitE's data warehouse (Enquirer, Bursary, Student Portal, FVC Portal, iTrent)</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i="1" dirty="0">
                          <a:solidFill>
                            <a:srgbClr val="1F2233"/>
                          </a:solidFill>
                          <a:latin typeface="Calibri" pitchFamily="34" charset="0"/>
                          <a:ea typeface="Calibri" pitchFamily="34" charset="-122"/>
                          <a:cs typeface="Calibri" pitchFamily="34" charset="-120"/>
                        </a:rPr>
                        <a:t>Load rules (A/B grouping, which statuses count as an offer, duplicates) sit inside UnitE and are not shared</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Report pages can count differently (343 vs ~422 offers) and nobody can explain why</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Ask Kevin for the warehouse load rules and schedule; add them to the definitions sheet</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algn="ctr" indent="0" marL="0">
                        <a:buNone/>
                      </a:pPr>
                      <a:r>
                        <a:rPr lang="en-US" sz="900" b="1" dirty="0">
                          <a:solidFill>
                            <a:srgbClr val="8C1A5C"/>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6D6E6"/>
                    </a:solidFill>
                  </a:tcPr>
                </a:tc>
              </a:tr>
              <a:tr h="621792">
                <a:tc>
                  <a:txBody>
                    <a:bodyPr/>
                    <a:lstStyle/>
                    <a:p>
                      <a:pPr algn="ctr" indent="0" marL="0">
                        <a:buNone/>
                      </a:pPr>
                      <a:r>
                        <a:rPr lang="en-US" sz="900" b="1" dirty="0">
                          <a:solidFill>
                            <a:srgbClr val="A3206E"/>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b="1" dirty="0">
                          <a:solidFill>
                            <a:srgbClr val="2B2350"/>
                          </a:solidFill>
                          <a:latin typeface="Calibri" pitchFamily="34" charset="0"/>
                          <a:ea typeface="Calibri" pitchFamily="34" charset="-122"/>
                          <a:cs typeface="Calibri" pitchFamily="34" charset="-120"/>
                        </a:rPr>
                        <a:t>Students missing from UnitE or BI</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Dante "not on Unit-E" and not on the connector. Onefile, JTL and Dataserve unconnected. Celcat not on the connector</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i="1" dirty="0">
                          <a:solidFill>
                            <a:srgbClr val="1F2233"/>
                          </a:solidFill>
                          <a:latin typeface="Calibri" pitchFamily="34" charset="0"/>
                          <a:ea typeface="Calibri" pitchFamily="34" charset="-122"/>
                          <a:cs typeface="Calibri" pitchFamily="34" charset="-120"/>
                        </a:rPr>
                        <a:t>Commercial and apprenticeship courses run on separate systems with their own processes; BI was built around UnitE and Enquirer</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Totals may quietly leave out commercial students and apprentices</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Ask Kevin which systems can join the UnitE warehouse or SQL connector</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C1A5C"/>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6D6E6"/>
                    </a:solidFill>
                  </a:tcPr>
                </a:tc>
              </a:tr>
              <a:tr h="621792">
                <a:tc>
                  <a:txBody>
                    <a:bodyPr/>
                    <a:lstStyle/>
                    <a:p>
                      <a:pPr algn="ctr" indent="0" marL="0">
                        <a:buNone/>
                      </a:pPr>
                      <a:r>
                        <a:rPr lang="en-US" sz="900" b="1" dirty="0">
                          <a:solidFill>
                            <a:srgbClr val="A3206E"/>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b="1" dirty="0">
                          <a:solidFill>
                            <a:srgbClr val="2B2350"/>
                          </a:solidFill>
                          <a:latin typeface="Calibri" pitchFamily="34" charset="0"/>
                          <a:ea typeface="Calibri" pitchFamily="34" charset="-122"/>
                          <a:cs typeface="Calibri" pitchFamily="34" charset="-120"/>
                        </a:rPr>
                        <a:t>Manual input and load timing</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2 manual hand-offs remain (Online Service → Enquirer, Dante → Enquirer) plus 7 manual input points</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i="1" dirty="0">
                          <a:solidFill>
                            <a:srgbClr val="1F2233"/>
                          </a:solidFill>
                          <a:latin typeface="Calibri" pitchFamily="34" charset="0"/>
                          <a:ea typeface="Calibri" pitchFamily="34" charset="-122"/>
                          <a:cs typeface="Calibri" pitchFamily="34" charset="-120"/>
                        </a:rPr>
                        <a:t>The warehouse automates loads into UnitE, but applications and staff-entered details are still keyed by hand</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Typing errors at entry flow everywhere; pages refreshed at different times disagree (YCCJ/AL (B): 14 vs 17)</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Confirm load timing and failure alerts (Kevin); monthly count check, starting with YCCJ/AL</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algn="ctr" indent="0" marL="0">
                        <a:buNone/>
                      </a:pPr>
                      <a:r>
                        <a:rPr lang="en-US" sz="900" b="1" dirty="0">
                          <a:solidFill>
                            <a:srgbClr val="8A4B0F"/>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CEBD3"/>
                    </a:solidFill>
                  </a:tcPr>
                </a:tc>
              </a:tr>
              <a:tr h="621792">
                <a:tc>
                  <a:txBody>
                    <a:bodyPr/>
                    <a:lstStyle/>
                    <a:p>
                      <a:pPr algn="ctr" indent="0" marL="0">
                        <a:buNone/>
                      </a:pPr>
                      <a:r>
                        <a:rPr lang="en-US" sz="900" b="1" dirty="0">
                          <a:solidFill>
                            <a:srgbClr val="A3206E"/>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b="1" dirty="0">
                          <a:solidFill>
                            <a:srgbClr val="2B2350"/>
                          </a:solidFill>
                          <a:latin typeface="Calibri" pitchFamily="34" charset="0"/>
                          <a:ea typeface="Calibri" pitchFamily="34" charset="-122"/>
                          <a:cs typeface="Calibri" pitchFamily="34" charset="-120"/>
                        </a:rPr>
                        <a:t>Feeds that bypass the connector</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Complaints and UNIDESK feed Power BI directly; MS Access by hand. RA5's semantic model source unconfirmed</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i="1" dirty="0">
                          <a:solidFill>
                            <a:srgbClr val="1F2233"/>
                          </a:solidFill>
                          <a:latin typeface="Calibri" pitchFamily="34" charset="0"/>
                          <a:ea typeface="Calibri" pitchFamily="34" charset="-122"/>
                          <a:cs typeface="Calibri" pitchFamily="34" charset="-120"/>
                        </a:rPr>
                        <a:t>Teams built quick reports for their own needs; no shared rule on how data must reach Power BI</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Different refresh timing and definitions; no central checks</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Kevin to confirm RA5's source; route feeds through the connector</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A4B0F"/>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CEBD3"/>
                    </a:solidFill>
                  </a:tcPr>
                </a:tc>
              </a:tr>
              <a:tr h="621792">
                <a:tc>
                  <a:txBody>
                    <a:bodyPr/>
                    <a:lstStyle/>
                    <a:p>
                      <a:pPr algn="ctr" indent="0" marL="0">
                        <a:buNone/>
                      </a:pPr>
                      <a:r>
                        <a:rPr lang="en-US" sz="900" b="1" dirty="0">
                          <a:solidFill>
                            <a:srgbClr val="A3206E"/>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b="1" dirty="0">
                          <a:solidFill>
                            <a:srgbClr val="2B2350"/>
                          </a:solidFill>
                          <a:latin typeface="Calibri" pitchFamily="34" charset="0"/>
                          <a:ea typeface="Calibri" pitchFamily="34" charset="-122"/>
                          <a:cs typeface="Calibri" pitchFamily="34" charset="-120"/>
                        </a:rPr>
                        <a:t>Incomplete or unverified bursary feeds</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"Can see only ready to outstanding award, not process evidence"; status marked "Finance need to check"</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i="1" dirty="0">
                          <a:solidFill>
                            <a:srgbClr val="1F2233"/>
                          </a:solidFill>
                          <a:latin typeface="Calibri" pitchFamily="34" charset="0"/>
                          <a:ea typeface="Calibri" pitchFamily="34" charset="-122"/>
                          <a:cs typeface="Calibri" pitchFamily="34" charset="-120"/>
                        </a:rPr>
                        <a:t>Evidence checks happen outside the Bursary system, and Finance confirms status separately</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Bursary pipeline in Power BI is only partly visible</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Confirm with Finance which Bursary data is complete</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algn="ctr" indent="0" marL="0">
                        <a:buNone/>
                      </a:pPr>
                      <a:r>
                        <a:rPr lang="en-US" sz="900" b="1" dirty="0">
                          <a:solidFill>
                            <a:srgbClr val="8A4B0F"/>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CEBD3"/>
                    </a:solidFill>
                  </a:tcPr>
                </a:tc>
              </a:tr>
              <a:tr h="621792">
                <a:tc>
                  <a:txBody>
                    <a:bodyPr/>
                    <a:lstStyle/>
                    <a:p>
                      <a:pPr algn="ctr" indent="0" marL="0">
                        <a:buNone/>
                      </a:pPr>
                      <a:r>
                        <a:rPr lang="en-US" sz="900" b="1" dirty="0">
                          <a:solidFill>
                            <a:srgbClr val="A3206E"/>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b="1" dirty="0">
                          <a:solidFill>
                            <a:srgbClr val="2B2350"/>
                          </a:solidFill>
                          <a:latin typeface="Calibri" pitchFamily="34" charset="0"/>
                          <a:ea typeface="Calibri" pitchFamily="34" charset="-122"/>
                          <a:cs typeface="Calibri" pitchFamily="34" charset="-120"/>
                        </a:rPr>
                        <a:t>No status history</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Enquirer keeps only each application's current status</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i="1" dirty="0">
                          <a:solidFill>
                            <a:srgbClr val="1F2233"/>
                          </a:solidFill>
                          <a:latin typeface="Calibri" pitchFamily="34" charset="0"/>
                          <a:ea typeface="Calibri" pitchFamily="34" charset="-122"/>
                          <a:cs typeface="Calibri" pitchFamily="34" charset="-120"/>
                        </a:rPr>
                        <a:t>Each status change overwrites the last one; no snapshot or audit table was set up</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Past offer counts cannot be rebuilt; 3-year trends understate offers</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Check if the UnitE warehouse keeps history; if not, start weekly snapshots (Lesley)</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A4B0F"/>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CEBD3"/>
                    </a:solidFill>
                  </a:tcPr>
                </a:tc>
              </a:tr>
              <a:tr h="621792">
                <a:tc>
                  <a:txBody>
                    <a:bodyPr/>
                    <a:lstStyle/>
                    <a:p>
                      <a:pPr algn="ctr" indent="0" marL="0">
                        <a:buNone/>
                      </a:pPr>
                      <a:r>
                        <a:rPr lang="en-US" sz="900" b="1" dirty="0">
                          <a:solidFill>
                            <a:srgbClr val="A3206E"/>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b="1" dirty="0">
                          <a:solidFill>
                            <a:srgbClr val="2B2350"/>
                          </a:solidFill>
                          <a:latin typeface="Calibri" pitchFamily="34" charset="0"/>
                          <a:ea typeface="Calibri" pitchFamily="34" charset="-122"/>
                          <a:cs typeface="Calibri" pitchFamily="34" charset="-120"/>
                        </a:rPr>
                        <a:t>Student systems outside the mapped flows</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7 systems in the "Don't know" group, incl. Theorise and CaseNotes; open "Check with" notes; bank details sent to Finance by hand</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i="1" dirty="0">
                          <a:solidFill>
                            <a:srgbClr val="1F2233"/>
                          </a:solidFill>
                          <a:latin typeface="Calibri" pitchFamily="34" charset="0"/>
                          <a:ea typeface="Calibri" pitchFamily="34" charset="-122"/>
                          <a:cs typeface="Calibri" pitchFamily="34" charset="-120"/>
                        </a:rPr>
                        <a:t>Systems bought by individual teams without a central register; some owners have left</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ASN picture may be incomplete; sensitive data sits outside the managed flow</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indent="0" marL="0">
                        <a:buNone/>
                      </a:pPr>
                      <a:r>
                        <a:rPr lang="en-US" sz="900" dirty="0">
                          <a:solidFill>
                            <a:srgbClr val="1F2233"/>
                          </a:solidFill>
                          <a:latin typeface="Calibri" pitchFamily="34" charset="0"/>
                          <a:ea typeface="Calibri" pitchFamily="34" charset="-122"/>
                          <a:cs typeface="Calibri" pitchFamily="34" charset="-120"/>
                        </a:rPr>
                        <a:t>Close open notes, Theorise and CaseNotes first</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7F5FA"/>
                    </a:solidFill>
                  </a:tcPr>
                </a:tc>
                <a:tc>
                  <a:txBody>
                    <a:bodyPr/>
                    <a:lstStyle/>
                    <a:p>
                      <a:pPr algn="ctr" indent="0" marL="0">
                        <a:buNone/>
                      </a:pPr>
                      <a:r>
                        <a:rPr lang="en-US" sz="900" b="1" dirty="0">
                          <a:solidFill>
                            <a:srgbClr val="8A4B0F"/>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54864" marR="54864" marT="27432" marB="27432"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CEBD3"/>
                    </a:solidFill>
                  </a:tcPr>
                </a:tc>
              </a:tr>
            </a:tbl>
          </a:graphicData>
        </a:graphic>
      </p:graphicFrame>
      <p:sp>
        <p:nvSpPr>
          <p:cNvPr id="5" name="Text 2"/>
          <p:cNvSpPr txBox="1"/>
          <p:nvPr/>
        </p:nvSpPr>
        <p:spPr>
          <a:xfrm>
            <a:off x="365760" y="6492240"/>
            <a:ext cx="11430000" cy="228600"/>
          </a:xfrm>
          <a:prstGeom prst="rect">
            <a:avLst/>
          </a:prstGeom>
          <a:noFill/>
          <a:ln/>
        </p:spPr>
        <p:txBody>
          <a:bodyPr wrap="square" lIns="0" tIns="0" rIns="0" bIns="0" rtlCol="0" anchor="ctr"/>
          <a:lstStyle/>
          <a:p>
            <a:pPr indent="0" marL="0">
              <a:buNone/>
            </a:pPr>
            <a:r>
              <a:rPr lang="en-US" sz="900" i="1" dirty="0">
                <a:solidFill>
                  <a:srgbClr val="6B6F80"/>
                </a:solidFill>
              </a:rPr>
              <a:t>Source: System Architecture working file (Lucid), updated 6 Oct 2026. Causes are likely explanations to confirm with system owners. Line labels were matched to lines by position on the page.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quality issues log</dc:title>
  <dc:subject>PptxGenJS Presentation</dc:subject>
  <dc:creator>PptxGenJS</dc:creator>
  <cp:lastModifiedBy>PptxGenJS</cp:lastModifiedBy>
  <cp:revision>1</cp:revision>
  <dcterms:created xsi:type="dcterms:W3CDTF">2026-10-06T14:56:41Z</dcterms:created>
  <dcterms:modified xsi:type="dcterms:W3CDTF">2026-10-06T14:56:41Z</dcterms:modified>
</cp:coreProperties>
</file>