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b996ca08-0fe8-a868-352f-cea4322fe63d}">
          <p14:sldIdLst>
            <p14:sldId id="256"/>
            <p14:sldId id="257"/>
            <p14:sldId id="258"/>
          </p14:sldIdLst>
        </p14:section>
        <p14:section name="Data" id="{c2f982d0-7b45-8d6a-20d4-dbe35db19a57}">
          <p14:sldIdLst>
            <p14:sldId id="259"/>
            <p14:sldId id="260"/>
          </p14:sldIdLst>
        </p14:section>
        <p14:section name="Findings" id="{df4dd4c8-fda2-52be-fe3c-98b4a9b11625}">
          <p14:sldIdLst>
            <p14:sldId id="261"/>
            <p14:sldId id="262"/>
            <p14:sldId id="263"/>
          </p14:sldIdLst>
        </p14:section>
        <p14:section name="Plan" id="{b8ce8deb-4264-6d87-1212-35c1b5b0f2cd}">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Offers ÷ total applications</c:v>
                </c:pt>
              </c:strCache>
            </c:strRef>
          </c:tx>
          <c:spPr>
            <a:solidFill>
              <a:srgbClr val="B9B7F5"/>
            </a:solidFill>
            <a:effectLst/>
          </c:spPr>
          <c:invertIfNegative val="0"/>
          <c:dLbls>
            <c:numFmt formatCode="0.0&quot;%&quot;" sourceLinked="0"/>
            <c:txPr>
              <a:bodyPr/>
              <a:lstStyle/>
              <a:p>
                <a:pPr>
                  <a:defRPr b="0" i="0" strike="noStrike" sz="1200" u="none">
                    <a:solidFill>
                      <a:srgbClr val="1F2233"/>
                    </a:solidFill>
                    <a:latin typeface="+mn-lt"/>
                  </a:defRPr>
                </a:pPr>
              </a:p>
            </c:txPr>
            <c:showLegendKey val="0"/>
            <c:showVal val="1"/>
            <c:showCatName val="0"/>
            <c:showSerName val="0"/>
            <c:showPercent val="0"/>
            <c:showBubbleSize val="0"/>
            <c:showLeaderLines val="0"/>
          </c:dLbls>
          <c:cat>
            <c:multiLvlStrRef>
              <c:f>Sheet1!$A$2:$A$3</c:f>
              <c:multiLvlStrCache>
                <c:ptCount val="2"/>
                <c:lvl>
                  <c:pt idx="0">
                    <c:v>YCCJ/AL</c:v>
                  </c:pt>
                  <c:pt idx="1">
                    <c:v>YCCMT/AL</c:v>
                  </c:pt>
                </c:lvl>
              </c:multiLvlStrCache>
            </c:multiLvlStrRef>
          </c:cat>
          <c:val>
            <c:numRef>
              <c:f>Sheet1!$B$2:$B$3</c:f>
              <c:numCache>
                <c:formatCode>General</c:formatCode>
                <c:ptCount val="2"/>
                <c:pt idx="0">
                  <c:v>31</c:v>
                </c:pt>
                <c:pt idx="1">
                  <c:v>17.2</c:v>
                </c:pt>
              </c:numCache>
            </c:numRef>
          </c:val>
        </c:ser>
        <c:ser>
          <c:idx val="1"/>
          <c:order val="1"/>
          <c:tx>
            <c:strRef>
              <c:f>Sheet1!$C$1</c:f>
              <c:strCache>
                <c:ptCount val="1"/>
                <c:pt idx="0">
                  <c:v>Offers ÷ live applications</c:v>
                </c:pt>
              </c:strCache>
            </c:strRef>
          </c:tx>
          <c:spPr>
            <a:solidFill>
              <a:srgbClr val="5B57E8"/>
            </a:solidFill>
            <a:effectLst/>
          </c:spPr>
          <c:invertIfNegative val="0"/>
          <c:dLbls>
            <c:numFmt formatCode="0.0&quot;%&quot;" sourceLinked="0"/>
            <c:txPr>
              <a:bodyPr/>
              <a:lstStyle/>
              <a:p>
                <a:pPr>
                  <a:defRPr b="0" i="0" strike="noStrike" sz="1200" u="none">
                    <a:solidFill>
                      <a:srgbClr val="1F2233"/>
                    </a:solidFill>
                    <a:latin typeface="+mn-lt"/>
                  </a:defRPr>
                </a:pPr>
              </a:p>
            </c:txPr>
            <c:showLegendKey val="0"/>
            <c:showVal val="1"/>
            <c:showCatName val="0"/>
            <c:showSerName val="0"/>
            <c:showPercent val="0"/>
            <c:showBubbleSize val="0"/>
            <c:showLeaderLines val="0"/>
          </c:dLbls>
          <c:cat>
            <c:multiLvlStrRef>
              <c:f>Sheet1!$A$2:$A$3</c:f>
              <c:multiLvlStrCache>
                <c:ptCount val="2"/>
                <c:lvl>
                  <c:pt idx="0">
                    <c:v>YCCJ/AL</c:v>
                  </c:pt>
                  <c:pt idx="1">
                    <c:v>YCCMT/AL</c:v>
                  </c:pt>
                </c:lvl>
              </c:multiLvlStrCache>
            </c:multiLvlStrRef>
          </c:cat>
          <c:val>
            <c:numRef>
              <c:f>Sheet1!$C$2:$C$3</c:f>
              <c:numCache>
                <c:formatCode>General</c:formatCode>
                <c:ptCount val="2"/>
                <c:pt idx="0">
                  <c:v>54.5</c:v>
                </c:pt>
                <c:pt idx="1">
                  <c:v>24.2</c:v>
                </c:pt>
              </c:numCache>
            </c:numRef>
          </c:val>
        </c:ser>
        <c:ser>
          <c:idx val="2"/>
          <c:order val="2"/>
          <c:tx>
            <c:strRef>
              <c:f>Sheet1!$D$1</c:f>
              <c:strCache>
                <c:ptCount val="1"/>
                <c:pt idx="0">
                  <c:v>RA5 Conversion page</c:v>
                </c:pt>
              </c:strCache>
            </c:strRef>
          </c:tx>
          <c:spPr>
            <a:solidFill>
              <a:srgbClr val="E8912D"/>
            </a:solidFill>
            <a:effectLst/>
          </c:spPr>
          <c:invertIfNegative val="0"/>
          <c:dLbls>
            <c:numFmt formatCode="0.0&quot;%&quot;" sourceLinked="0"/>
            <c:txPr>
              <a:bodyPr/>
              <a:lstStyle/>
              <a:p>
                <a:pPr>
                  <a:defRPr b="0" i="0" strike="noStrike" sz="1200" u="none">
                    <a:solidFill>
                      <a:srgbClr val="1F2233"/>
                    </a:solidFill>
                    <a:latin typeface="+mn-lt"/>
                  </a:defRPr>
                </a:pPr>
              </a:p>
            </c:txPr>
            <c:showLegendKey val="0"/>
            <c:showVal val="1"/>
            <c:showCatName val="0"/>
            <c:showSerName val="0"/>
            <c:showPercent val="0"/>
            <c:showBubbleSize val="0"/>
            <c:showLeaderLines val="0"/>
          </c:dLbls>
          <c:cat>
            <c:multiLvlStrRef>
              <c:f>Sheet1!$A$2:$A$3</c:f>
              <c:multiLvlStrCache>
                <c:ptCount val="2"/>
                <c:lvl>
                  <c:pt idx="0">
                    <c:v>YCCJ/AL</c:v>
                  </c:pt>
                  <c:pt idx="1">
                    <c:v>YCCMT/AL</c:v>
                  </c:pt>
                </c:lvl>
              </c:multiLvlStrCache>
            </c:multiLvlStrRef>
          </c:cat>
          <c:val>
            <c:numRef>
              <c:f>Sheet1!$D$2:$D$3</c:f>
              <c:numCache>
                <c:formatCode>General</c:formatCode>
                <c:ptCount val="2"/>
                <c:pt idx="0">
                  <c:v>37.9</c:v>
                </c:pt>
                <c:pt idx="1">
                  <c:v>21.8</c:v>
                </c:pt>
              </c:numCache>
            </c:numRef>
          </c:val>
        </c:ser>
        <c:dLbls>
          <c:numFmt formatCode="0.0&quot;%&quot;" sourceLinked="0"/>
          <c:txPr>
            <a:bodyPr/>
            <a:lstStyle/>
            <a:p>
              <a:pPr>
                <a:defRPr b="0" i="0" strike="noStrike" sz="1200" u="none">
                  <a:solidFill>
                    <a:srgbClr val="1F22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233"/>
                </a:solidFill>
                <a:latin typeface="+mn-lt"/>
              </a:defRPr>
            </a:pPr>
            <a:endParaRPr lang="en-US"/>
          </a:p>
        </c:txPr>
        <c:crossAx val="2094734552"/>
        <c:crosses val="autoZero"/>
        <c:auto val="1"/>
        <c:lblAlgn val="ctr"/>
        <c:noMultiLvlLbl val="1"/>
      </c:catAx>
      <c:valAx>
        <c:axId val="2094734552"/>
        <c:scaling>
          <c:orientation val="minMax"/>
          <c:max val="6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2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brings together two pieces of work: the course conversion baseline Sarah asked for, and the data architecture map Darren assigned. The map explains where the conversion numbers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CTF is the College Transformation Framework, Sarah's three-year plan. This work supports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link between the two pieces of work. The data map shows that conversion numbers travel from curriculum planning and Enquirer through UnitE and the SQL Server connector into Power BI. The amber boxes are the points where the numbers can change or be lost along the way. Whether the RA5 semantic model reads from the SQL Server connector still needs confirming with Kevin.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Lyndsay confirmed we should measure enrolment at the credit claim point, about 6 weeks, not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YCCJ/AL: 36 offers, 116 total applications, 66 live. YCCMT/AL: 15 offers, 87 total, 62 live. A later screenshot showed YCCJ/AL at 40.0% under different filter settings, so filters need recording with every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75% in the example is illustrative only, to show how the calculation works. Real rates come from the 3-year data. The baseline will not stay fixed: courses rise and fall in popularity, so show the trend as well as the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10881360" cy="1828800"/>
          </a:xfrm>
          <a:prstGeom prst="rect">
            <a:avLst/>
          </a:prstGeom>
          <a:noFill/>
          <a:ln/>
        </p:spPr>
        <p:txBody>
          <a:bodyPr wrap="square" rtlCol="0"/>
          <a:lstStyle>
            <a:lvl1pPr indent="0" marL="0">
              <a:buNone/>
              <a:defRPr lang="en-US" sz="4200" b="1" dirty="0">
                <a:solidFill>
                  <a:schemeClr val="bg1"/>
                </a:solidFill>
              </a:defRPr>
            </a:lvl1pPr>
          </a:lstStyle>
          <a:p>
            <a:pPr indent="0" marL="0">
              <a:buNone/>
            </a:pPr>
            <a:endParaRPr lang="en-US" sz="4200" dirty="0"/>
          </a:p>
        </p:txBody>
      </p:sp>
      <p:sp>
        <p:nvSpPr>
          <p:cNvPr id="3" name="Text 0"/>
          <p:cNvSpPr/>
          <p:nvPr>
            <p:ph idx="101" type="body" hasCustomPrompt="1"/>
          </p:nvPr>
        </p:nvSpPr>
        <p:spPr>
          <a:xfrm>
            <a:off x="640080" y="3566160"/>
            <a:ext cx="10881360" cy="137160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rtlCol="0"/>
          <a:lstStyle>
            <a:lvl1pPr indent="0" marL="0">
              <a:buNone/>
              <a:defRPr lang="en-US" sz="1500" dirty="0">
                <a:solidFill>
                  <a:schemeClr val="tx1"/>
                </a:solidFill>
              </a:defRPr>
            </a:lvl1pPr>
          </a:lstStyle>
          <a:p>
            <a:pPr indent="0" marL="0">
              <a:buNone/>
            </a:pPr>
            <a:endParaRPr lang="en-US" sz="1500" dirty="0"/>
          </a:p>
        </p:txBody>
      </p:sp>
      <p:sp>
        <p:nvSpPr>
          <p:cNvPr id="4"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F80"/>
                </a:solidFill>
              </a:rPr>
              <a:t>Course Conversion Baseline  |  Forth Valley College</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10881360" cy="1828800"/>
          </a:xfrm>
          <a:prstGeom prst="rect">
            <a:avLst/>
          </a:prstGeom>
          <a:noFill/>
          <a:ln/>
        </p:spPr>
        <p:txBody>
          <a:bodyPr wrap="square" lIns="0" tIns="0" rIns="0" bIns="0" rtlCol="0" anchor="b"/>
          <a:lstStyle/>
          <a:p>
            <a:pPr indent="0" marL="0">
              <a:buNone/>
            </a:pPr>
            <a:r>
              <a:rPr lang="en-US" sz="4200" b="1" dirty="0">
                <a:solidFill>
                  <a:schemeClr val="bg1"/>
                </a:solidFill>
              </a:rPr>
              <a:t>Course Conversion Baseline and Data Architecture</a:t>
            </a:r>
            <a:endParaRPr lang="en-US" sz="4200" dirty="0"/>
          </a:p>
        </p:txBody>
      </p:sp>
      <p:sp>
        <p:nvSpPr>
          <p:cNvPr id="3" name="Text 0"/>
          <p:cNvSpPr/>
          <p:nvPr>
            <p:ph idx="101" type="body" hasCustomPrompt="1"/>
          </p:nvPr>
        </p:nvSpPr>
        <p:spPr>
          <a:xfrm>
            <a:off x="640080" y="3566160"/>
            <a:ext cx="10881360" cy="1371600"/>
          </a:xfrm>
          <a:prstGeom prst="rect">
            <a:avLst/>
          </a:prstGeom>
          <a:noFill/>
          <a:ln/>
        </p:spPr>
        <p:txBody>
          <a:bodyPr wrap="square" lIns="0" tIns="0" rIns="0" bIns="0" rtlCol="0" anchor="t"/>
          <a:lstStyle/>
          <a:p>
            <a:pPr indent="0" marL="0">
              <a:buNone/>
            </a:pPr>
            <a:r>
              <a:rPr lang="en-US" sz="2000" dirty="0">
                <a:solidFill>
                  <a:schemeClr val="accent5"/>
                </a:solidFill>
              </a:rPr>
              <a:t>Summary of the meeting with Sarah, Lyndsay and Lesley, linked to the student data map and first findings from the RA5 report</a:t>
            </a:r>
            <a:endParaRPr lang="en-US" sz="2000" dirty="0"/>
          </a:p>
        </p:txBody>
      </p:sp>
      <p:sp>
        <p:nvSpPr>
          <p:cNvPr id="4" name="Text 2"/>
          <p:cNvSpPr txBox="1"/>
          <p:nvPr/>
        </p:nvSpPr>
        <p:spPr>
          <a:xfrm>
            <a:off x="640080" y="5852160"/>
            <a:ext cx="7315200" cy="365760"/>
          </a:xfrm>
          <a:prstGeom prst="rect">
            <a:avLst/>
          </a:prstGeom>
          <a:noFill/>
          <a:ln/>
        </p:spPr>
        <p:txBody>
          <a:bodyPr wrap="square" lIns="0" tIns="0" rIns="0" bIns="0" rtlCol="0" anchor="ctr"/>
          <a:lstStyle/>
          <a:p>
            <a:pPr indent="0" marL="0">
              <a:buNone/>
            </a:pPr>
            <a:r>
              <a:rPr lang="en-US" sz="1400" dirty="0">
                <a:solidFill>
                  <a:schemeClr val="bg1"/>
                </a:solidFill>
              </a:rPr>
              <a:t>Thanaporn (Sanook) Wattanamanon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Why this matters</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"It's ultimately about financial sustainability and reducing the workload and using the data we have."  (Sarah)</a:t>
            </a:r>
            <a:endParaRPr lang="en-US" sz="1500" dirty="0"/>
          </a:p>
        </p:txBody>
      </p:sp>
      <p:sp>
        <p:nvSpPr>
          <p:cNvPr id="4" name="stat 1"/>
          <p:cNvSpPr/>
          <p:nvPr/>
        </p:nvSpPr>
        <p:spPr>
          <a:xfrm>
            <a:off x="548640" y="1691640"/>
            <a:ext cx="3520440" cy="2011680"/>
          </a:xfrm>
          <a:prstGeom prst="roundRect">
            <a:avLst>
              <a:gd name="adj" fmla="val 3636"/>
            </a:avLst>
          </a:prstGeom>
          <a:solidFill>
            <a:schemeClr val="bg2"/>
          </a:solidFill>
          <a:ln w="12700">
            <a:solidFill>
              <a:schemeClr val="bg2"/>
            </a:solidFill>
            <a:prstDash val="solid"/>
          </a:ln>
        </p:spPr>
      </p:sp>
      <p:sp>
        <p:nvSpPr>
          <p:cNvPr id="5" name="Text 3"/>
          <p:cNvSpPr txBox="1"/>
          <p:nvPr/>
        </p:nvSpPr>
        <p:spPr>
          <a:xfrm>
            <a:off x="548640" y="1783080"/>
            <a:ext cx="3520440" cy="1097280"/>
          </a:xfrm>
          <a:prstGeom prst="rect">
            <a:avLst/>
          </a:prstGeom>
          <a:noFill/>
          <a:ln/>
        </p:spPr>
        <p:txBody>
          <a:bodyPr wrap="square" lIns="0" tIns="0" rIns="0" bIns="0" rtlCol="0" anchor="ctr"/>
          <a:lstStyle/>
          <a:p>
            <a:pPr algn="ctr" indent="0" marL="0">
              <a:buNone/>
            </a:pPr>
            <a:r>
              <a:rPr lang="en-US" sz="5400" b="1" dirty="0">
                <a:solidFill>
                  <a:schemeClr val="accent1"/>
                </a:solidFill>
              </a:rPr>
              <a:t>79,000</a:t>
            </a:r>
            <a:endParaRPr lang="en-US" sz="5400" dirty="0"/>
          </a:p>
        </p:txBody>
      </p:sp>
      <p:sp>
        <p:nvSpPr>
          <p:cNvPr id="6" name="Text 4"/>
          <p:cNvSpPr txBox="1"/>
          <p:nvPr/>
        </p:nvSpPr>
        <p:spPr>
          <a:xfrm>
            <a:off x="822960" y="2880360"/>
            <a:ext cx="2971800" cy="685800"/>
          </a:xfrm>
          <a:prstGeom prst="rect">
            <a:avLst/>
          </a:prstGeom>
          <a:noFill/>
          <a:ln/>
        </p:spPr>
        <p:txBody>
          <a:bodyPr wrap="square" lIns="0" tIns="0" rIns="0" bIns="0" rtlCol="0" anchor="t"/>
          <a:lstStyle/>
          <a:p>
            <a:pPr algn="ctr" indent="0" marL="0">
              <a:buNone/>
            </a:pPr>
            <a:r>
              <a:rPr lang="en-US" sz="1400" dirty="0">
                <a:solidFill>
                  <a:schemeClr val="tx1"/>
                </a:solidFill>
              </a:rPr>
              <a:t>credits the college must deliver each year</a:t>
            </a:r>
            <a:endParaRPr lang="en-US" sz="1400" dirty="0"/>
          </a:p>
        </p:txBody>
      </p:sp>
      <p:sp>
        <p:nvSpPr>
          <p:cNvPr id="7" name="stat 2"/>
          <p:cNvSpPr/>
          <p:nvPr/>
        </p:nvSpPr>
        <p:spPr>
          <a:xfrm>
            <a:off x="4297680" y="1691640"/>
            <a:ext cx="3520440" cy="2011680"/>
          </a:xfrm>
          <a:prstGeom prst="roundRect">
            <a:avLst>
              <a:gd name="adj" fmla="val 3636"/>
            </a:avLst>
          </a:prstGeom>
          <a:solidFill>
            <a:schemeClr val="bg2"/>
          </a:solidFill>
          <a:ln w="12700">
            <a:solidFill>
              <a:schemeClr val="bg2"/>
            </a:solidFill>
            <a:prstDash val="solid"/>
          </a:ln>
        </p:spPr>
      </p:sp>
      <p:sp>
        <p:nvSpPr>
          <p:cNvPr id="8" name="Text 6"/>
          <p:cNvSpPr txBox="1"/>
          <p:nvPr/>
        </p:nvSpPr>
        <p:spPr>
          <a:xfrm>
            <a:off x="4297680" y="1783080"/>
            <a:ext cx="3520440" cy="1097280"/>
          </a:xfrm>
          <a:prstGeom prst="rect">
            <a:avLst/>
          </a:prstGeom>
          <a:noFill/>
          <a:ln/>
        </p:spPr>
        <p:txBody>
          <a:bodyPr wrap="square" lIns="0" tIns="0" rIns="0" bIns="0" rtlCol="0" anchor="ctr"/>
          <a:lstStyle/>
          <a:p>
            <a:pPr algn="ctr" indent="0" marL="0">
              <a:buNone/>
            </a:pPr>
            <a:r>
              <a:rPr lang="en-US" sz="5400" b="1" dirty="0">
                <a:solidFill>
                  <a:schemeClr val="accent1"/>
                </a:solidFill>
              </a:rPr>
              <a:t>~45,000</a:t>
            </a:r>
            <a:endParaRPr lang="en-US" sz="5400" dirty="0"/>
          </a:p>
        </p:txBody>
      </p:sp>
      <p:sp>
        <p:nvSpPr>
          <p:cNvPr id="9" name="Text 7"/>
          <p:cNvSpPr txBox="1"/>
          <p:nvPr/>
        </p:nvSpPr>
        <p:spPr>
          <a:xfrm>
            <a:off x="4572000" y="2880360"/>
            <a:ext cx="2971800" cy="685800"/>
          </a:xfrm>
          <a:prstGeom prst="rect">
            <a:avLst/>
          </a:prstGeom>
          <a:noFill/>
          <a:ln/>
        </p:spPr>
        <p:txBody>
          <a:bodyPr wrap="square" lIns="0" tIns="0" rIns="0" bIns="0" rtlCol="0" anchor="t"/>
          <a:lstStyle/>
          <a:p>
            <a:pPr algn="ctr" indent="0" marL="0">
              <a:buNone/>
            </a:pPr>
            <a:r>
              <a:rPr lang="en-US" sz="1400" dirty="0">
                <a:solidFill>
                  <a:schemeClr val="tx1"/>
                </a:solidFill>
              </a:rPr>
              <a:t>of those credits come from full-time courses</a:t>
            </a:r>
            <a:endParaRPr lang="en-US" sz="1400" dirty="0"/>
          </a:p>
        </p:txBody>
      </p:sp>
      <p:sp>
        <p:nvSpPr>
          <p:cNvPr id="10" name="stat 3"/>
          <p:cNvSpPr/>
          <p:nvPr/>
        </p:nvSpPr>
        <p:spPr>
          <a:xfrm>
            <a:off x="8046720" y="1691640"/>
            <a:ext cx="3520440" cy="2011680"/>
          </a:xfrm>
          <a:prstGeom prst="roundRect">
            <a:avLst>
              <a:gd name="adj" fmla="val 3636"/>
            </a:avLst>
          </a:prstGeom>
          <a:solidFill>
            <a:srgbClr val="FDF0DF"/>
          </a:solidFill>
          <a:ln w="12700">
            <a:solidFill>
              <a:srgbClr val="FDF0DF"/>
            </a:solidFill>
            <a:prstDash val="solid"/>
          </a:ln>
        </p:spPr>
      </p:sp>
      <p:sp>
        <p:nvSpPr>
          <p:cNvPr id="11" name="Text 9"/>
          <p:cNvSpPr txBox="1"/>
          <p:nvPr/>
        </p:nvSpPr>
        <p:spPr>
          <a:xfrm>
            <a:off x="8046720" y="1783080"/>
            <a:ext cx="3520440" cy="1097280"/>
          </a:xfrm>
          <a:prstGeom prst="rect">
            <a:avLst/>
          </a:prstGeom>
          <a:noFill/>
          <a:ln/>
        </p:spPr>
        <p:txBody>
          <a:bodyPr wrap="square" lIns="0" tIns="0" rIns="0" bIns="0" rtlCol="0" anchor="ctr"/>
          <a:lstStyle/>
          <a:p>
            <a:pPr algn="ctr" indent="0" marL="0">
              <a:buNone/>
            </a:pPr>
            <a:r>
              <a:rPr lang="en-US" sz="5400" b="1" dirty="0">
                <a:solidFill>
                  <a:schemeClr val="accent3"/>
                </a:solidFill>
              </a:rPr>
              <a:t>10%</a:t>
            </a:r>
            <a:endParaRPr lang="en-US" sz="5400" dirty="0"/>
          </a:p>
        </p:txBody>
      </p:sp>
      <p:sp>
        <p:nvSpPr>
          <p:cNvPr id="12" name="Text 10"/>
          <p:cNvSpPr txBox="1"/>
          <p:nvPr/>
        </p:nvSpPr>
        <p:spPr>
          <a:xfrm>
            <a:off x="8321040" y="2880360"/>
            <a:ext cx="2971800" cy="685800"/>
          </a:xfrm>
          <a:prstGeom prst="rect">
            <a:avLst/>
          </a:prstGeom>
          <a:noFill/>
          <a:ln/>
        </p:spPr>
        <p:txBody>
          <a:bodyPr wrap="square" lIns="0" tIns="0" rIns="0" bIns="0" rtlCol="0" anchor="t"/>
          <a:lstStyle/>
          <a:p>
            <a:pPr algn="ctr" indent="0" marL="0">
              <a:buNone/>
            </a:pPr>
            <a:r>
              <a:rPr lang="en-US" sz="1400" dirty="0">
                <a:solidFill>
                  <a:schemeClr val="tx1"/>
                </a:solidFill>
              </a:rPr>
              <a:t>of credits lost through under-enrolment</a:t>
            </a:r>
            <a:endParaRPr lang="en-US" sz="1400" dirty="0"/>
          </a:p>
        </p:txBody>
      </p:sp>
      <p:sp>
        <p:nvSpPr>
          <p:cNvPr id="13" name="goal 1"/>
          <p:cNvSpPr/>
          <p:nvPr/>
        </p:nvSpPr>
        <p:spPr>
          <a:xfrm>
            <a:off x="548640" y="4023360"/>
            <a:ext cx="5394960" cy="2103120"/>
          </a:xfrm>
          <a:prstGeom prst="roundRect">
            <a:avLst>
              <a:gd name="adj" fmla="val 3478"/>
            </a:avLst>
          </a:prstGeom>
          <a:solidFill>
            <a:schemeClr val="accent5"/>
          </a:solidFill>
          <a:ln w="12700">
            <a:solidFill>
              <a:schemeClr val="accent5"/>
            </a:solidFill>
            <a:prstDash val="solid"/>
          </a:ln>
        </p:spPr>
      </p:sp>
      <p:sp>
        <p:nvSpPr>
          <p:cNvPr id="14" name="dot 1"/>
          <p:cNvSpPr/>
          <p:nvPr/>
        </p:nvSpPr>
        <p:spPr>
          <a:xfrm>
            <a:off x="822960" y="4251960"/>
            <a:ext cx="457200" cy="457200"/>
          </a:xfrm>
          <a:prstGeom prst="ellipse">
            <a:avLst/>
          </a:prstGeom>
          <a:solidFill>
            <a:schemeClr val="tx2"/>
          </a:solidFill>
          <a:ln w="12700">
            <a:solidFill>
              <a:schemeClr val="tx2"/>
            </a:solidFill>
            <a:prstDash val="solid"/>
          </a:ln>
        </p:spPr>
      </p:sp>
      <p:sp>
        <p:nvSpPr>
          <p:cNvPr id="15" name="Text 13"/>
          <p:cNvSpPr txBox="1"/>
          <p:nvPr/>
        </p:nvSpPr>
        <p:spPr>
          <a:xfrm>
            <a:off x="822960" y="4251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4"/>
          <p:cNvSpPr txBox="1"/>
          <p:nvPr/>
        </p:nvSpPr>
        <p:spPr>
          <a:xfrm>
            <a:off x="1463040" y="4224528"/>
            <a:ext cx="4297680" cy="502920"/>
          </a:xfrm>
          <a:prstGeom prst="rect">
            <a:avLst/>
          </a:prstGeom>
          <a:noFill/>
          <a:ln/>
        </p:spPr>
        <p:txBody>
          <a:bodyPr wrap="square" lIns="0" tIns="0" rIns="0" bIns="0" rtlCol="0" anchor="ctr"/>
          <a:lstStyle/>
          <a:p>
            <a:pPr indent="0" marL="0">
              <a:buNone/>
            </a:pPr>
            <a:r>
              <a:rPr lang="en-US" sz="1800" b="1" dirty="0">
                <a:solidFill>
                  <a:schemeClr val="tx2"/>
                </a:solidFill>
              </a:rPr>
              <a:t>Financial sustainability</a:t>
            </a:r>
            <a:endParaRPr lang="en-US" sz="1800" dirty="0"/>
          </a:p>
        </p:txBody>
      </p:sp>
      <p:sp>
        <p:nvSpPr>
          <p:cNvPr id="17" name="Text 15"/>
          <p:cNvSpPr txBox="1"/>
          <p:nvPr/>
        </p:nvSpPr>
        <p:spPr>
          <a:xfrm>
            <a:off x="1463040" y="4800600"/>
            <a:ext cx="4297680" cy="1188720"/>
          </a:xfrm>
          <a:prstGeom prst="rect">
            <a:avLst/>
          </a:prstGeom>
          <a:noFill/>
          <a:ln/>
        </p:spPr>
        <p:txBody>
          <a:bodyPr wrap="square" lIns="0" tIns="0" rIns="0" bIns="0" rtlCol="0" anchor="t"/>
          <a:lstStyle/>
          <a:p>
            <a:pPr indent="0" marL="0">
              <a:buNone/>
            </a:pPr>
            <a:r>
              <a:rPr lang="en-US" sz="1400" dirty="0">
                <a:solidFill>
                  <a:schemeClr val="tx1"/>
                </a:solidFill>
              </a:rPr>
              <a:t>Lost credits must be made up through January starts and credit shortfall plans. The aim is 20 students starting a course, not 14.</a:t>
            </a:r>
            <a:endParaRPr lang="en-US" sz="1400" dirty="0"/>
          </a:p>
        </p:txBody>
      </p:sp>
      <p:sp>
        <p:nvSpPr>
          <p:cNvPr id="18" name="goal 2"/>
          <p:cNvSpPr/>
          <p:nvPr/>
        </p:nvSpPr>
        <p:spPr>
          <a:xfrm>
            <a:off x="6217920" y="4023360"/>
            <a:ext cx="5394960" cy="2103120"/>
          </a:xfrm>
          <a:prstGeom prst="roundRect">
            <a:avLst>
              <a:gd name="adj" fmla="val 3478"/>
            </a:avLst>
          </a:prstGeom>
          <a:solidFill>
            <a:schemeClr val="accent5"/>
          </a:solidFill>
          <a:ln w="12700">
            <a:solidFill>
              <a:schemeClr val="accent5"/>
            </a:solidFill>
            <a:prstDash val="solid"/>
          </a:ln>
        </p:spPr>
      </p:sp>
      <p:sp>
        <p:nvSpPr>
          <p:cNvPr id="19" name="dot 2"/>
          <p:cNvSpPr/>
          <p:nvPr/>
        </p:nvSpPr>
        <p:spPr>
          <a:xfrm>
            <a:off x="6492240" y="4251960"/>
            <a:ext cx="457200" cy="457200"/>
          </a:xfrm>
          <a:prstGeom prst="ellipse">
            <a:avLst/>
          </a:prstGeom>
          <a:solidFill>
            <a:schemeClr val="tx2"/>
          </a:solidFill>
          <a:ln w="12700">
            <a:solidFill>
              <a:schemeClr val="tx2"/>
            </a:solidFill>
            <a:prstDash val="solid"/>
          </a:ln>
        </p:spPr>
      </p:sp>
      <p:sp>
        <p:nvSpPr>
          <p:cNvPr id="20" name="Text 18"/>
          <p:cNvSpPr txBox="1"/>
          <p:nvPr/>
        </p:nvSpPr>
        <p:spPr>
          <a:xfrm>
            <a:off x="6492240" y="4251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9"/>
          <p:cNvSpPr txBox="1"/>
          <p:nvPr/>
        </p:nvSpPr>
        <p:spPr>
          <a:xfrm>
            <a:off x="7132320" y="4224528"/>
            <a:ext cx="4297680" cy="502920"/>
          </a:xfrm>
          <a:prstGeom prst="rect">
            <a:avLst/>
          </a:prstGeom>
          <a:noFill/>
          <a:ln/>
        </p:spPr>
        <p:txBody>
          <a:bodyPr wrap="square" lIns="0" tIns="0" rIns="0" bIns="0" rtlCol="0" anchor="ctr"/>
          <a:lstStyle/>
          <a:p>
            <a:pPr indent="0" marL="0">
              <a:buNone/>
            </a:pPr>
            <a:r>
              <a:rPr lang="en-US" sz="1800" b="1" dirty="0">
                <a:solidFill>
                  <a:schemeClr val="tx2"/>
                </a:solidFill>
              </a:rPr>
              <a:t>Less manual workload</a:t>
            </a:r>
            <a:endParaRPr lang="en-US" sz="1800" dirty="0"/>
          </a:p>
        </p:txBody>
      </p:sp>
      <p:sp>
        <p:nvSpPr>
          <p:cNvPr id="22" name="Text 20"/>
          <p:cNvSpPr txBox="1"/>
          <p:nvPr/>
        </p:nvSpPr>
        <p:spPr>
          <a:xfrm>
            <a:off x="7132320" y="4800600"/>
            <a:ext cx="4297680" cy="1188720"/>
          </a:xfrm>
          <a:prstGeom prst="rect">
            <a:avLst/>
          </a:prstGeom>
          <a:noFill/>
          <a:ln/>
        </p:spPr>
        <p:txBody>
          <a:bodyPr wrap="square" lIns="0" tIns="0" rIns="0" bIns="0" rtlCol="0" anchor="t"/>
          <a:lstStyle/>
          <a:p>
            <a:pPr indent="0" marL="0">
              <a:buNone/>
            </a:pPr>
            <a:r>
              <a:rPr lang="en-US" sz="1400" dirty="0">
                <a:solidFill>
                  <a:schemeClr val="tx1"/>
                </a:solidFill>
              </a:rPr>
              <a:t>Recruitment is "very onerous… all very manual". Student admin keep opening and closing applications and sending waiting-list offers.</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One rule for every course does not fit</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Every course aims for 200% applications and 120% offers, but courses convert very differently</a:t>
            </a:r>
            <a:endParaRPr lang="en-US" sz="1500" dirty="0"/>
          </a:p>
        </p:txBody>
      </p:sp>
      <p:sp>
        <p:nvSpPr>
          <p:cNvPr id="4" name="rule"/>
          <p:cNvSpPr/>
          <p:nvPr/>
        </p:nvSpPr>
        <p:spPr>
          <a:xfrm>
            <a:off x="548640" y="1691640"/>
            <a:ext cx="5394960" cy="2377440"/>
          </a:xfrm>
          <a:prstGeom prst="roundRect">
            <a:avLst>
              <a:gd name="adj" fmla="val 3077"/>
            </a:avLst>
          </a:prstGeom>
          <a:solidFill>
            <a:schemeClr val="bg2"/>
          </a:solidFill>
          <a:ln w="12700">
            <a:solidFill>
              <a:schemeClr val="bg2"/>
            </a:solidFill>
            <a:prstDash val="solid"/>
          </a:ln>
        </p:spPr>
      </p:sp>
      <p:sp>
        <p:nvSpPr>
          <p:cNvPr id="5" name="Text 3"/>
          <p:cNvSpPr txBox="1"/>
          <p:nvPr/>
        </p:nvSpPr>
        <p:spPr>
          <a:xfrm>
            <a:off x="822960" y="1828800"/>
            <a:ext cx="4846320" cy="411480"/>
          </a:xfrm>
          <a:prstGeom prst="rect">
            <a:avLst/>
          </a:prstGeom>
          <a:noFill/>
          <a:ln/>
        </p:spPr>
        <p:txBody>
          <a:bodyPr wrap="square" lIns="0" tIns="0" rIns="0" bIns="0" rtlCol="0" anchor="ctr"/>
          <a:lstStyle/>
          <a:p>
            <a:pPr indent="0" marL="0">
              <a:buNone/>
            </a:pPr>
            <a:r>
              <a:rPr lang="en-US" sz="1700" b="1" dirty="0">
                <a:solidFill>
                  <a:schemeClr val="tx2"/>
                </a:solidFill>
              </a:rPr>
              <a:t>Today's blanket rule (20 places)</a:t>
            </a:r>
            <a:endParaRPr lang="en-US" sz="1700" dirty="0"/>
          </a:p>
        </p:txBody>
      </p:sp>
      <p:sp>
        <p:nvSpPr>
          <p:cNvPr id="6" name="Text 4"/>
          <p:cNvSpPr txBox="1"/>
          <p:nvPr/>
        </p:nvSpPr>
        <p:spPr>
          <a:xfrm>
            <a:off x="822960" y="2377440"/>
            <a:ext cx="1463040" cy="822960"/>
          </a:xfrm>
          <a:prstGeom prst="rect">
            <a:avLst/>
          </a:prstGeom>
          <a:noFill/>
          <a:ln/>
        </p:spPr>
        <p:txBody>
          <a:bodyPr wrap="square" lIns="0" tIns="0" rIns="0" bIns="0" rtlCol="0" anchor="ctr"/>
          <a:lstStyle/>
          <a:p>
            <a:pPr algn="ctr" indent="0" marL="0">
              <a:buNone/>
            </a:pPr>
            <a:r>
              <a:rPr lang="en-US" sz="4000" b="1" dirty="0">
                <a:solidFill>
                  <a:schemeClr val="accent1"/>
                </a:solidFill>
              </a:rPr>
              <a:t>40</a:t>
            </a:r>
            <a:endParaRPr lang="en-US" sz="4000" dirty="0"/>
          </a:p>
        </p:txBody>
      </p:sp>
      <p:sp>
        <p:nvSpPr>
          <p:cNvPr id="7" name="Text 5"/>
          <p:cNvSpPr txBox="1"/>
          <p:nvPr/>
        </p:nvSpPr>
        <p:spPr>
          <a:xfrm>
            <a:off x="822960" y="3200400"/>
            <a:ext cx="1463040" cy="640080"/>
          </a:xfrm>
          <a:prstGeom prst="rect">
            <a:avLst/>
          </a:prstGeom>
          <a:noFill/>
          <a:ln/>
        </p:spPr>
        <p:txBody>
          <a:bodyPr wrap="square" lIns="0" tIns="0" rIns="0" bIns="0" rtlCol="0" anchor="t"/>
          <a:lstStyle/>
          <a:p>
            <a:pPr algn="ctr" indent="0" marL="0">
              <a:buNone/>
            </a:pPr>
            <a:r>
              <a:rPr lang="en-US" sz="1300" dirty="0">
                <a:solidFill>
                  <a:schemeClr val="tx1"/>
                </a:solidFill>
              </a:rPr>
              <a:t>applications</a:t>
            </a:r>
            <a:endParaRPr lang="en-US" sz="1300" dirty="0"/>
          </a:p>
        </p:txBody>
      </p:sp>
      <p:sp>
        <p:nvSpPr>
          <p:cNvPr id="8" name="Text 6"/>
          <p:cNvSpPr txBox="1"/>
          <p:nvPr/>
        </p:nvSpPr>
        <p:spPr>
          <a:xfrm>
            <a:off x="2468880" y="2377440"/>
            <a:ext cx="1463040" cy="822960"/>
          </a:xfrm>
          <a:prstGeom prst="rect">
            <a:avLst/>
          </a:prstGeom>
          <a:noFill/>
          <a:ln/>
        </p:spPr>
        <p:txBody>
          <a:bodyPr wrap="square" lIns="0" tIns="0" rIns="0" bIns="0" rtlCol="0" anchor="ctr"/>
          <a:lstStyle/>
          <a:p>
            <a:pPr algn="ctr" indent="0" marL="0">
              <a:buNone/>
            </a:pPr>
            <a:r>
              <a:rPr lang="en-US" sz="4000" b="1" dirty="0">
                <a:solidFill>
                  <a:schemeClr val="accent1"/>
                </a:solidFill>
              </a:rPr>
              <a:t>24</a:t>
            </a:r>
            <a:endParaRPr lang="en-US" sz="4000" dirty="0"/>
          </a:p>
        </p:txBody>
      </p:sp>
      <p:sp>
        <p:nvSpPr>
          <p:cNvPr id="9" name="Text 7"/>
          <p:cNvSpPr txBox="1"/>
          <p:nvPr/>
        </p:nvSpPr>
        <p:spPr>
          <a:xfrm>
            <a:off x="2468880" y="3200400"/>
            <a:ext cx="1463040" cy="640080"/>
          </a:xfrm>
          <a:prstGeom prst="rect">
            <a:avLst/>
          </a:prstGeom>
          <a:noFill/>
          <a:ln/>
        </p:spPr>
        <p:txBody>
          <a:bodyPr wrap="square" lIns="0" tIns="0" rIns="0" bIns="0" rtlCol="0" anchor="t"/>
          <a:lstStyle/>
          <a:p>
            <a:pPr algn="ctr" indent="0" marL="0">
              <a:buNone/>
            </a:pPr>
            <a:r>
              <a:rPr lang="en-US" sz="1300" dirty="0">
                <a:solidFill>
                  <a:schemeClr val="tx1"/>
                </a:solidFill>
              </a:rPr>
              <a:t>offers</a:t>
            </a:r>
            <a:endParaRPr lang="en-US" sz="1300" dirty="0"/>
          </a:p>
        </p:txBody>
      </p:sp>
      <p:sp>
        <p:nvSpPr>
          <p:cNvPr id="10" name="Text 8"/>
          <p:cNvSpPr txBox="1"/>
          <p:nvPr/>
        </p:nvSpPr>
        <p:spPr>
          <a:xfrm>
            <a:off x="4114800" y="2377440"/>
            <a:ext cx="1463040" cy="822960"/>
          </a:xfrm>
          <a:prstGeom prst="rect">
            <a:avLst/>
          </a:prstGeom>
          <a:noFill/>
          <a:ln/>
        </p:spPr>
        <p:txBody>
          <a:bodyPr wrap="square" lIns="0" tIns="0" rIns="0" bIns="0" rtlCol="0" anchor="ctr"/>
          <a:lstStyle/>
          <a:p>
            <a:pPr algn="ctr" indent="0" marL="0">
              <a:buNone/>
            </a:pPr>
            <a:r>
              <a:rPr lang="en-US" sz="4000" b="1" dirty="0">
                <a:solidFill>
                  <a:schemeClr val="accent1"/>
                </a:solidFill>
              </a:rPr>
              <a:t>20</a:t>
            </a:r>
            <a:endParaRPr lang="en-US" sz="4000" dirty="0"/>
          </a:p>
        </p:txBody>
      </p:sp>
      <p:sp>
        <p:nvSpPr>
          <p:cNvPr id="11" name="Text 9"/>
          <p:cNvSpPr txBox="1"/>
          <p:nvPr/>
        </p:nvSpPr>
        <p:spPr>
          <a:xfrm>
            <a:off x="4114800" y="3200400"/>
            <a:ext cx="1463040" cy="640080"/>
          </a:xfrm>
          <a:prstGeom prst="rect">
            <a:avLst/>
          </a:prstGeom>
          <a:noFill/>
          <a:ln/>
        </p:spPr>
        <p:txBody>
          <a:bodyPr wrap="square" lIns="0" tIns="0" rIns="0" bIns="0" rtlCol="0" anchor="t"/>
          <a:lstStyle/>
          <a:p>
            <a:pPr algn="ctr" indent="0" marL="0">
              <a:buNone/>
            </a:pPr>
            <a:r>
              <a:rPr lang="en-US" sz="1300" dirty="0">
                <a:solidFill>
                  <a:schemeClr val="tx1"/>
                </a:solidFill>
              </a:rPr>
              <a:t>enrolments expected</a:t>
            </a:r>
            <a:endParaRPr lang="en-US" sz="1300" dirty="0"/>
          </a:p>
        </p:txBody>
      </p:sp>
      <p:sp>
        <p:nvSpPr>
          <p:cNvPr id="12" name="reality"/>
          <p:cNvSpPr/>
          <p:nvPr/>
        </p:nvSpPr>
        <p:spPr>
          <a:xfrm>
            <a:off x="6217920" y="1691640"/>
            <a:ext cx="5394960" cy="2377440"/>
          </a:xfrm>
          <a:prstGeom prst="roundRect">
            <a:avLst>
              <a:gd name="adj" fmla="val 3077"/>
            </a:avLst>
          </a:prstGeom>
          <a:solidFill>
            <a:srgbClr val="FDF0DF"/>
          </a:solidFill>
          <a:ln w="12700">
            <a:solidFill>
              <a:srgbClr val="FDF0DF"/>
            </a:solidFill>
            <a:prstDash val="solid"/>
          </a:ln>
        </p:spPr>
      </p:sp>
      <p:sp>
        <p:nvSpPr>
          <p:cNvPr id="13" name="Text 11"/>
          <p:cNvSpPr txBox="1"/>
          <p:nvPr/>
        </p:nvSpPr>
        <p:spPr>
          <a:xfrm>
            <a:off x="6492240" y="1828800"/>
            <a:ext cx="4846320" cy="411480"/>
          </a:xfrm>
          <a:prstGeom prst="rect">
            <a:avLst/>
          </a:prstGeom>
          <a:noFill/>
          <a:ln/>
        </p:spPr>
        <p:txBody>
          <a:bodyPr wrap="square" lIns="0" tIns="0" rIns="0" bIns="0" rtlCol="0" anchor="ctr"/>
          <a:lstStyle/>
          <a:p>
            <a:pPr indent="0" marL="0">
              <a:buNone/>
            </a:pPr>
            <a:r>
              <a:rPr lang="en-US" sz="1700" b="1" dirty="0">
                <a:solidFill>
                  <a:schemeClr val="tx2"/>
                </a:solidFill>
              </a:rPr>
              <a:t>What actually happens</a:t>
            </a:r>
            <a:endParaRPr lang="en-US" sz="1700" dirty="0"/>
          </a:p>
        </p:txBody>
      </p:sp>
      <p:sp>
        <p:nvSpPr>
          <p:cNvPr id="14" name="Text 12"/>
          <p:cNvSpPr txBox="1"/>
          <p:nvPr/>
        </p:nvSpPr>
        <p:spPr>
          <a:xfrm>
            <a:off x="6492240" y="2331720"/>
            <a:ext cx="48920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"We put out 24 offers and sometimes 12 people can turn up."</a:t>
            </a:r>
            <a:endParaRPr lang="en-US" sz="1400" dirty="0"/>
          </a:p>
          <a:p>
            <a:pPr marL="342900" indent="-342900">
              <a:spcAft>
                <a:spcPts val="600"/>
              </a:spcAft>
              <a:buSzPct val="100000"/>
              <a:buChar char="•"/>
            </a:pPr>
            <a:r>
              <a:rPr lang="en-US" sz="1400" dirty="0">
                <a:solidFill>
                  <a:schemeClr val="tx1"/>
                </a:solidFill>
              </a:rPr>
              <a:t>Construction: 14 places, 16–17 offers, 9 people turned up.</a:t>
            </a:r>
            <a:endParaRPr lang="en-US" sz="1400" dirty="0"/>
          </a:p>
          <a:p>
            <a:pPr marL="342900" indent="-342900">
              <a:spcAft>
                <a:spcPts val="600"/>
              </a:spcAft>
              <a:buSzPct val="100000"/>
              <a:buChar char="•"/>
            </a:pPr>
            <a:r>
              <a:rPr lang="en-US" sz="1400" dirty="0">
                <a:solidFill>
                  <a:schemeClr val="tx1"/>
                </a:solidFill>
              </a:rPr>
              <a:t>Lecturers add waiting-list offers to people unlikely to come.</a:t>
            </a:r>
            <a:endParaRPr lang="en-US" sz="1400" dirty="0"/>
          </a:p>
        </p:txBody>
      </p:sp>
      <p:sp>
        <p:nvSpPr>
          <p:cNvPr id="15" name="now"/>
          <p:cNvSpPr/>
          <p:nvPr/>
        </p:nvSpPr>
        <p:spPr>
          <a:xfrm>
            <a:off x="548640" y="4343400"/>
            <a:ext cx="7589520" cy="1783080"/>
          </a:xfrm>
          <a:prstGeom prst="roundRect">
            <a:avLst>
              <a:gd name="adj" fmla="val 4103"/>
            </a:avLst>
          </a:prstGeom>
          <a:solidFill>
            <a:schemeClr val="accent6"/>
          </a:solidFill>
          <a:ln w="12700">
            <a:solidFill>
              <a:schemeClr val="accent6"/>
            </a:solidFill>
            <a:prstDash val="solid"/>
          </a:ln>
        </p:spPr>
      </p:sp>
      <p:sp>
        <p:nvSpPr>
          <p:cNvPr id="16" name="Text 14"/>
          <p:cNvSpPr txBox="1"/>
          <p:nvPr/>
        </p:nvSpPr>
        <p:spPr>
          <a:xfrm>
            <a:off x="822960" y="4434840"/>
            <a:ext cx="7132320" cy="1600200"/>
          </a:xfrm>
          <a:prstGeom prst="rect">
            <a:avLst/>
          </a:prstGeom>
          <a:noFill/>
          <a:ln/>
        </p:spPr>
        <p:txBody>
          <a:bodyPr wrap="square" lIns="0" tIns="0" rIns="0" bIns="0" rtlCol="0" anchor="ctr"/>
          <a:lstStyle/>
          <a:p>
            <a:pPr indent="0" marL="0">
              <a:buNone/>
            </a:pPr>
            <a:r>
              <a:rPr lang="en-US" sz="1700" b="1" dirty="0">
                <a:solidFill>
                  <a:schemeClr val="tx2"/>
                </a:solidFill>
              </a:rPr>
              <a:t>What Sarah wants now</a:t>
            </a:r>
            <a:endParaRPr lang="en-US" sz="1700" dirty="0"/>
          </a:p>
          <a:p>
            <a:pPr indent="0" marL="0">
              <a:buNone/>
            </a:pPr>
            <a:r>
              <a:rPr lang="en-US" sz="1400" dirty="0">
                <a:solidFill>
                  <a:schemeClr val="tx1"/>
                </a:solidFill>
              </a:rPr>
              <a:t>An Excel baseline: every course with its own conversion rates, target applications and target offers, so we have the best chance of full enrolment on day one.</a:t>
            </a:r>
            <a:endParaRPr lang="en-US" sz="1700" dirty="0"/>
          </a:p>
        </p:txBody>
      </p:sp>
      <p:sp>
        <p:nvSpPr>
          <p:cNvPr id="17" name="later"/>
          <p:cNvSpPr/>
          <p:nvPr/>
        </p:nvSpPr>
        <p:spPr>
          <a:xfrm>
            <a:off x="8412480" y="4343400"/>
            <a:ext cx="3200400" cy="1783080"/>
          </a:xfrm>
          <a:prstGeom prst="roundRect">
            <a:avLst>
              <a:gd name="adj" fmla="val 4103"/>
            </a:avLst>
          </a:prstGeom>
          <a:solidFill>
            <a:schemeClr val="bg2"/>
          </a:solidFill>
          <a:ln w="12700">
            <a:solidFill>
              <a:schemeClr val="bg2"/>
            </a:solidFill>
            <a:prstDash val="solid"/>
          </a:ln>
        </p:spPr>
      </p:sp>
      <p:sp>
        <p:nvSpPr>
          <p:cNvPr id="18" name="Text 16"/>
          <p:cNvSpPr txBox="1"/>
          <p:nvPr/>
        </p:nvSpPr>
        <p:spPr>
          <a:xfrm>
            <a:off x="8641080" y="4434840"/>
            <a:ext cx="2788920" cy="1600200"/>
          </a:xfrm>
          <a:prstGeom prst="rect">
            <a:avLst/>
          </a:prstGeom>
          <a:noFill/>
          <a:ln/>
        </p:spPr>
        <p:txBody>
          <a:bodyPr wrap="square" lIns="0" tIns="0" rIns="0" bIns="0" rtlCol="0" anchor="ctr"/>
          <a:lstStyle/>
          <a:p>
            <a:pPr indent="0" marL="0">
              <a:buNone/>
            </a:pPr>
            <a:r>
              <a:rPr lang="en-US" sz="1700" b="1" dirty="0">
                <a:solidFill>
                  <a:schemeClr val="tx2"/>
                </a:solidFill>
              </a:rPr>
              <a:t>Not yet</a:t>
            </a:r>
            <a:endParaRPr lang="en-US" sz="1700" dirty="0"/>
          </a:p>
          <a:p>
            <a:pPr indent="0" marL="0">
              <a:buNone/>
            </a:pPr>
            <a:r>
              <a:rPr lang="en-US" sz="1400" dirty="0">
                <a:solidFill>
                  <a:schemeClr val="tx1"/>
                </a:solidFill>
              </a:rPr>
              <a:t>Automating targets in Enquirer or UnitE: "way, way, way down the line".</a:t>
            </a:r>
            <a:endParaRPr lang="en-US" sz="17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Where the conversion numbers come from</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The recruitment path through our systems, taken from the data architecture map</a:t>
            </a:r>
            <a:endParaRPr lang="en-US" sz="1500" dirty="0"/>
          </a:p>
        </p:txBody>
      </p:sp>
      <p:sp>
        <p:nvSpPr>
          <p:cNvPr id="4" name="path Curriculum planning"/>
          <p:cNvSpPr/>
          <p:nvPr/>
        </p:nvSpPr>
        <p:spPr>
          <a:xfrm>
            <a:off x="548640" y="1828800"/>
            <a:ext cx="1691640" cy="1600200"/>
          </a:xfrm>
          <a:prstGeom prst="roundRect">
            <a:avLst>
              <a:gd name="adj" fmla="val 4571"/>
            </a:avLst>
          </a:prstGeom>
          <a:solidFill>
            <a:schemeClr val="bg2"/>
          </a:solidFill>
          <a:ln w="19050">
            <a:solidFill>
              <a:schemeClr val="bg2"/>
            </a:solidFill>
            <a:prstDash val="solid"/>
          </a:ln>
        </p:spPr>
      </p:sp>
      <p:sp>
        <p:nvSpPr>
          <p:cNvPr id="5" name="path Curriculum planning text"/>
          <p:cNvSpPr txBox="1"/>
          <p:nvPr/>
        </p:nvSpPr>
        <p:spPr>
          <a:xfrm>
            <a:off x="594360" y="1828800"/>
            <a:ext cx="1600200" cy="1600200"/>
          </a:xfrm>
          <a:prstGeom prst="rect">
            <a:avLst/>
          </a:prstGeom>
          <a:noFill/>
          <a:ln/>
        </p:spPr>
        <p:txBody>
          <a:bodyPr wrap="square" lIns="25400" tIns="25400" rIns="25400" bIns="25400" rtlCol="0" anchor="ctr"/>
          <a:lstStyle/>
          <a:p>
            <a:pPr algn="ctr" indent="0" marL="0">
              <a:buNone/>
            </a:pPr>
            <a:r>
              <a:rPr lang="en-US" sz="1400" b="1" dirty="0">
                <a:solidFill>
                  <a:schemeClr val="tx1"/>
                </a:solidFill>
              </a:rPr>
              <a:t>Curriculum planning</a:t>
            </a:r>
            <a:endParaRPr lang="en-US" sz="1400" dirty="0"/>
          </a:p>
          <a:p>
            <a:pPr algn="ctr" indent="0" marL="0">
              <a:buNone/>
            </a:pPr>
            <a:r>
              <a:rPr lang="en-US" sz="1100" dirty="0">
                <a:solidFill>
                  <a:schemeClr val="tx1"/>
                </a:solidFill>
              </a:rPr>
              <a:t>Target enrolments per course</a:t>
            </a:r>
            <a:endParaRPr lang="en-US" sz="1400" dirty="0"/>
          </a:p>
        </p:txBody>
      </p:sp>
      <p:sp>
        <p:nvSpPr>
          <p:cNvPr id="6" name="Shape 4"/>
          <p:cNvSpPr/>
          <p:nvPr/>
        </p:nvSpPr>
        <p:spPr>
          <a:xfrm>
            <a:off x="2258568" y="2628900"/>
            <a:ext cx="146304" cy="914"/>
          </a:xfrm>
          <a:prstGeom prst="line">
            <a:avLst/>
          </a:prstGeom>
          <a:noFill/>
          <a:ln w="22225">
            <a:solidFill>
              <a:schemeClr val="tx2"/>
            </a:solidFill>
            <a:prstDash val="solid"/>
            <a:tailEnd type="triangle"/>
          </a:ln>
        </p:spPr>
      </p:sp>
      <p:sp>
        <p:nvSpPr>
          <p:cNvPr id="7" name="path Enquirer"/>
          <p:cNvSpPr/>
          <p:nvPr/>
        </p:nvSpPr>
        <p:spPr>
          <a:xfrm>
            <a:off x="2423160" y="1828800"/>
            <a:ext cx="1691640" cy="1600200"/>
          </a:xfrm>
          <a:prstGeom prst="roundRect">
            <a:avLst>
              <a:gd name="adj" fmla="val 4571"/>
            </a:avLst>
          </a:prstGeom>
          <a:solidFill>
            <a:schemeClr val="accent5"/>
          </a:solidFill>
          <a:ln w="19050">
            <a:solidFill>
              <a:schemeClr val="accent5"/>
            </a:solidFill>
            <a:prstDash val="solid"/>
          </a:ln>
        </p:spPr>
      </p:sp>
      <p:sp>
        <p:nvSpPr>
          <p:cNvPr id="8" name="path Enquirer text"/>
          <p:cNvSpPr txBox="1"/>
          <p:nvPr/>
        </p:nvSpPr>
        <p:spPr>
          <a:xfrm>
            <a:off x="2468880" y="1828800"/>
            <a:ext cx="1600200" cy="1600200"/>
          </a:xfrm>
          <a:prstGeom prst="rect">
            <a:avLst/>
          </a:prstGeom>
          <a:noFill/>
          <a:ln/>
        </p:spPr>
        <p:txBody>
          <a:bodyPr wrap="square" lIns="25400" tIns="25400" rIns="25400" bIns="25400" rtlCol="0" anchor="ctr"/>
          <a:lstStyle/>
          <a:p>
            <a:pPr algn="ctr" indent="0" marL="0">
              <a:buNone/>
            </a:pPr>
            <a:r>
              <a:rPr lang="en-US" sz="1400" b="1" dirty="0">
                <a:solidFill>
                  <a:schemeClr val="tx1"/>
                </a:solidFill>
              </a:rPr>
              <a:t>Enquirer</a:t>
            </a:r>
            <a:endParaRPr lang="en-US" sz="1400" dirty="0"/>
          </a:p>
          <a:p>
            <a:pPr algn="ctr" indent="0" marL="0">
              <a:buNone/>
            </a:pPr>
            <a:r>
              <a:rPr lang="en-US" sz="1100" dirty="0">
                <a:solidFill>
                  <a:schemeClr val="tx1"/>
                </a:solidFill>
              </a:rPr>
              <a:t>Applications, statuses, offers, curriculum planning</a:t>
            </a:r>
            <a:endParaRPr lang="en-US" sz="1400" dirty="0"/>
          </a:p>
        </p:txBody>
      </p:sp>
      <p:sp>
        <p:nvSpPr>
          <p:cNvPr id="9" name="Shape 7"/>
          <p:cNvSpPr/>
          <p:nvPr/>
        </p:nvSpPr>
        <p:spPr>
          <a:xfrm>
            <a:off x="4133088" y="2628900"/>
            <a:ext cx="146304" cy="914"/>
          </a:xfrm>
          <a:prstGeom prst="line">
            <a:avLst/>
          </a:prstGeom>
          <a:noFill/>
          <a:ln w="22225">
            <a:solidFill>
              <a:schemeClr val="tx2"/>
            </a:solidFill>
            <a:prstDash val="solid"/>
            <a:tailEnd type="triangle"/>
          </a:ln>
        </p:spPr>
      </p:sp>
      <p:sp>
        <p:nvSpPr>
          <p:cNvPr id="10" name="path UnitE"/>
          <p:cNvSpPr/>
          <p:nvPr/>
        </p:nvSpPr>
        <p:spPr>
          <a:xfrm>
            <a:off x="4297680" y="1828800"/>
            <a:ext cx="1691640" cy="1600200"/>
          </a:xfrm>
          <a:prstGeom prst="roundRect">
            <a:avLst>
              <a:gd name="adj" fmla="val 4571"/>
            </a:avLst>
          </a:prstGeom>
          <a:solidFill>
            <a:schemeClr val="accent1"/>
          </a:solidFill>
          <a:ln w="19050">
            <a:solidFill>
              <a:schemeClr val="accent1"/>
            </a:solidFill>
            <a:prstDash val="solid"/>
          </a:ln>
        </p:spPr>
      </p:sp>
      <p:sp>
        <p:nvSpPr>
          <p:cNvPr id="11" name="path UnitE text"/>
          <p:cNvSpPr txBox="1"/>
          <p:nvPr/>
        </p:nvSpPr>
        <p:spPr>
          <a:xfrm>
            <a:off x="4343400" y="1828800"/>
            <a:ext cx="1600200" cy="160020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UnitE</a:t>
            </a:r>
            <a:endParaRPr lang="en-US" sz="1400" dirty="0"/>
          </a:p>
          <a:p>
            <a:pPr algn="ctr" indent="0" marL="0">
              <a:buNone/>
            </a:pPr>
            <a:r>
              <a:rPr lang="en-US" sz="1100" dirty="0">
                <a:solidFill>
                  <a:schemeClr val="bg1"/>
                </a:solidFill>
              </a:rPr>
              <a:t>Student, application, enrolment, course</a:t>
            </a:r>
            <a:endParaRPr lang="en-US" sz="1400" dirty="0"/>
          </a:p>
        </p:txBody>
      </p:sp>
      <p:sp>
        <p:nvSpPr>
          <p:cNvPr id="12" name="Shape 10"/>
          <p:cNvSpPr/>
          <p:nvPr/>
        </p:nvSpPr>
        <p:spPr>
          <a:xfrm>
            <a:off x="6007608" y="2628900"/>
            <a:ext cx="146304" cy="914"/>
          </a:xfrm>
          <a:prstGeom prst="line">
            <a:avLst/>
          </a:prstGeom>
          <a:noFill/>
          <a:ln w="22225">
            <a:solidFill>
              <a:schemeClr val="tx2"/>
            </a:solidFill>
            <a:prstDash val="solid"/>
            <a:tailEnd type="triangle"/>
          </a:ln>
        </p:spPr>
      </p:sp>
      <p:sp>
        <p:nvSpPr>
          <p:cNvPr id="13" name="path SQL Server connector"/>
          <p:cNvSpPr/>
          <p:nvPr/>
        </p:nvSpPr>
        <p:spPr>
          <a:xfrm>
            <a:off x="6172200" y="1828800"/>
            <a:ext cx="1691640" cy="1600200"/>
          </a:xfrm>
          <a:prstGeom prst="roundRect">
            <a:avLst>
              <a:gd name="adj" fmla="val 4571"/>
            </a:avLst>
          </a:prstGeom>
          <a:solidFill>
            <a:schemeClr val="accent4"/>
          </a:solidFill>
          <a:ln w="19050">
            <a:solidFill>
              <a:schemeClr val="accent4"/>
            </a:solidFill>
            <a:prstDash val="solid"/>
          </a:ln>
        </p:spPr>
      </p:sp>
      <p:sp>
        <p:nvSpPr>
          <p:cNvPr id="14" name="path SQL Server connector text"/>
          <p:cNvSpPr txBox="1"/>
          <p:nvPr/>
        </p:nvSpPr>
        <p:spPr>
          <a:xfrm>
            <a:off x="6217920" y="1828800"/>
            <a:ext cx="1600200" cy="1600200"/>
          </a:xfrm>
          <a:prstGeom prst="rect">
            <a:avLst/>
          </a:prstGeom>
          <a:noFill/>
          <a:ln/>
        </p:spPr>
        <p:txBody>
          <a:bodyPr wrap="square" lIns="25400" tIns="25400" rIns="25400" bIns="25400" rtlCol="0" anchor="ctr"/>
          <a:lstStyle/>
          <a:p>
            <a:pPr algn="ctr" indent="0" marL="0">
              <a:buNone/>
            </a:pPr>
            <a:r>
              <a:rPr lang="en-US" sz="1400" b="1" dirty="0">
                <a:solidFill>
                  <a:schemeClr val="bg1"/>
                </a:solidFill>
              </a:rPr>
              <a:t>SQL Server connector</a:t>
            </a:r>
            <a:endParaRPr lang="en-US" sz="1400" dirty="0"/>
          </a:p>
          <a:p>
            <a:pPr algn="ctr" indent="0" marL="0">
              <a:buNone/>
            </a:pPr>
            <a:r>
              <a:rPr lang="en-US" sz="1100" dirty="0">
                <a:solidFill>
                  <a:schemeClr val="bg1"/>
                </a:solidFill>
              </a:rPr>
              <a:t>Feeds from UnitE, Enquirer, TripleS, Bursary, iTrent</a:t>
            </a:r>
            <a:endParaRPr lang="en-US" sz="1400" dirty="0"/>
          </a:p>
        </p:txBody>
      </p:sp>
      <p:sp>
        <p:nvSpPr>
          <p:cNvPr id="15" name="Shape 13"/>
          <p:cNvSpPr/>
          <p:nvPr/>
        </p:nvSpPr>
        <p:spPr>
          <a:xfrm>
            <a:off x="7882128" y="2628900"/>
            <a:ext cx="146304" cy="914"/>
          </a:xfrm>
          <a:prstGeom prst="line">
            <a:avLst/>
          </a:prstGeom>
          <a:noFill/>
          <a:ln w="22225">
            <a:solidFill>
              <a:schemeClr val="tx2"/>
            </a:solidFill>
            <a:prstDash val="solid"/>
            <a:tailEnd type="triangle"/>
          </a:ln>
        </p:spPr>
      </p:sp>
      <p:sp>
        <p:nvSpPr>
          <p:cNvPr id="16" name="path Power BI: RA5"/>
          <p:cNvSpPr/>
          <p:nvPr/>
        </p:nvSpPr>
        <p:spPr>
          <a:xfrm>
            <a:off x="8046720" y="1828800"/>
            <a:ext cx="1691640" cy="1600200"/>
          </a:xfrm>
          <a:prstGeom prst="roundRect">
            <a:avLst>
              <a:gd name="adj" fmla="val 4571"/>
            </a:avLst>
          </a:prstGeom>
          <a:solidFill>
            <a:schemeClr val="accent5"/>
          </a:solidFill>
          <a:ln w="19050">
            <a:solidFill>
              <a:schemeClr val="accent5"/>
            </a:solidFill>
            <a:prstDash val="solid"/>
          </a:ln>
        </p:spPr>
      </p:sp>
      <p:sp>
        <p:nvSpPr>
          <p:cNvPr id="17" name="path Power BI: RA5 text"/>
          <p:cNvSpPr txBox="1"/>
          <p:nvPr/>
        </p:nvSpPr>
        <p:spPr>
          <a:xfrm>
            <a:off x="8092440" y="1828800"/>
            <a:ext cx="1600200" cy="1600200"/>
          </a:xfrm>
          <a:prstGeom prst="rect">
            <a:avLst/>
          </a:prstGeom>
          <a:noFill/>
          <a:ln/>
        </p:spPr>
        <p:txBody>
          <a:bodyPr wrap="square" lIns="25400" tIns="25400" rIns="25400" bIns="25400" rtlCol="0" anchor="ctr"/>
          <a:lstStyle/>
          <a:p>
            <a:pPr algn="ctr" indent="0" marL="0">
              <a:buNone/>
            </a:pPr>
            <a:r>
              <a:rPr lang="en-US" sz="1400" b="1" dirty="0">
                <a:solidFill>
                  <a:schemeClr val="tx1"/>
                </a:solidFill>
              </a:rPr>
              <a:t>Power BI: RA5</a:t>
            </a:r>
            <a:endParaRPr lang="en-US" sz="1400" dirty="0"/>
          </a:p>
          <a:p>
            <a:pPr algn="ctr" indent="0" marL="0">
              <a:buNone/>
            </a:pPr>
            <a:r>
              <a:rPr lang="en-US" sz="1100" dirty="0">
                <a:solidFill>
                  <a:schemeClr val="tx1"/>
                </a:solidFill>
              </a:rPr>
              <a:t>Total and live applications, offers, conversion</a:t>
            </a:r>
            <a:endParaRPr lang="en-US" sz="1400" dirty="0"/>
          </a:p>
        </p:txBody>
      </p:sp>
      <p:sp>
        <p:nvSpPr>
          <p:cNvPr id="18" name="Shape 16"/>
          <p:cNvSpPr/>
          <p:nvPr/>
        </p:nvSpPr>
        <p:spPr>
          <a:xfrm>
            <a:off x="9756648" y="2628900"/>
            <a:ext cx="146304" cy="914"/>
          </a:xfrm>
          <a:prstGeom prst="line">
            <a:avLst/>
          </a:prstGeom>
          <a:noFill/>
          <a:ln w="22225">
            <a:solidFill>
              <a:schemeClr val="tx2"/>
            </a:solidFill>
            <a:prstDash val="solid"/>
            <a:tailEnd type="triangle"/>
          </a:ln>
        </p:spPr>
      </p:sp>
      <p:sp>
        <p:nvSpPr>
          <p:cNvPr id="19" name="path Excel baseline"/>
          <p:cNvSpPr/>
          <p:nvPr/>
        </p:nvSpPr>
        <p:spPr>
          <a:xfrm>
            <a:off x="9921240" y="1828800"/>
            <a:ext cx="1691640" cy="1600200"/>
          </a:xfrm>
          <a:prstGeom prst="roundRect">
            <a:avLst>
              <a:gd name="adj" fmla="val 4571"/>
            </a:avLst>
          </a:prstGeom>
          <a:solidFill>
            <a:schemeClr val="accent6"/>
          </a:solidFill>
          <a:ln w="19050">
            <a:solidFill>
              <a:schemeClr val="accent2"/>
            </a:solidFill>
            <a:prstDash val="dash"/>
          </a:ln>
        </p:spPr>
      </p:sp>
      <p:sp>
        <p:nvSpPr>
          <p:cNvPr id="20" name="path Excel baseline text"/>
          <p:cNvSpPr txBox="1"/>
          <p:nvPr/>
        </p:nvSpPr>
        <p:spPr>
          <a:xfrm>
            <a:off x="9966960" y="1828800"/>
            <a:ext cx="1600200" cy="1600200"/>
          </a:xfrm>
          <a:prstGeom prst="rect">
            <a:avLst/>
          </a:prstGeom>
          <a:noFill/>
          <a:ln/>
        </p:spPr>
        <p:txBody>
          <a:bodyPr wrap="square" lIns="25400" tIns="25400" rIns="25400" bIns="25400" rtlCol="0" anchor="ctr"/>
          <a:lstStyle/>
          <a:p>
            <a:pPr algn="ctr" indent="0" marL="0">
              <a:buNone/>
            </a:pPr>
            <a:r>
              <a:rPr lang="en-US" sz="1400" b="1" dirty="0">
                <a:solidFill>
                  <a:schemeClr val="tx1"/>
                </a:solidFill>
              </a:rPr>
              <a:t>Excel baseline</a:t>
            </a:r>
            <a:endParaRPr lang="en-US" sz="1400" dirty="0"/>
          </a:p>
          <a:p>
            <a:pPr algn="ctr" indent="0" marL="0">
              <a:buNone/>
            </a:pPr>
            <a:r>
              <a:rPr lang="en-US" sz="1100" dirty="0">
                <a:solidFill>
                  <a:schemeClr val="tx1"/>
                </a:solidFill>
              </a:rPr>
              <a:t>Course-specific rates and targets (new)</a:t>
            </a:r>
            <a:endParaRPr lang="en-US" sz="1400" dirty="0"/>
          </a:p>
        </p:txBody>
      </p:sp>
      <p:sp>
        <p:nvSpPr>
          <p:cNvPr id="21" name="Text 19"/>
          <p:cNvSpPr txBox="1"/>
          <p:nvPr/>
        </p:nvSpPr>
        <p:spPr>
          <a:xfrm>
            <a:off x="6217920" y="3520440"/>
            <a:ext cx="5394960" cy="320040"/>
          </a:xfrm>
          <a:prstGeom prst="rect">
            <a:avLst/>
          </a:prstGeom>
          <a:noFill/>
          <a:ln/>
        </p:spPr>
        <p:txBody>
          <a:bodyPr wrap="square" lIns="0" tIns="0" rIns="0" bIns="0" rtlCol="0" anchor="ctr"/>
          <a:lstStyle/>
          <a:p>
            <a:pPr algn="r" indent="0" marL="0">
              <a:buNone/>
            </a:pPr>
            <a:r>
              <a:rPr lang="en-US" sz="1200" i="1" dirty="0">
                <a:solidFill>
                  <a:srgbClr val="6B6F80"/>
                </a:solidFill>
              </a:rPr>
              <a:t>Later: course targets go back into Enquirer</a:t>
            </a:r>
            <a:endParaRPr lang="en-US" sz="1200" dirty="0"/>
          </a:p>
        </p:txBody>
      </p:sp>
      <p:sp>
        <p:nvSpPr>
          <p:cNvPr id="22" name="watch 1"/>
          <p:cNvSpPr/>
          <p:nvPr/>
        </p:nvSpPr>
        <p:spPr>
          <a:xfrm>
            <a:off x="548640" y="4069080"/>
            <a:ext cx="3520440" cy="2057400"/>
          </a:xfrm>
          <a:prstGeom prst="roundRect">
            <a:avLst>
              <a:gd name="adj" fmla="val 3556"/>
            </a:avLst>
          </a:prstGeom>
          <a:solidFill>
            <a:srgbClr val="FDF0DF"/>
          </a:solidFill>
          <a:ln w="12700">
            <a:solidFill>
              <a:srgbClr val="FDF0DF"/>
            </a:solidFill>
            <a:prstDash val="solid"/>
          </a:ln>
        </p:spPr>
      </p:sp>
      <p:sp>
        <p:nvSpPr>
          <p:cNvPr id="23" name="dot 1"/>
          <p:cNvSpPr/>
          <p:nvPr/>
        </p:nvSpPr>
        <p:spPr>
          <a:xfrm>
            <a:off x="777240" y="4251960"/>
            <a:ext cx="411480" cy="411480"/>
          </a:xfrm>
          <a:prstGeom prst="ellipse">
            <a:avLst/>
          </a:prstGeom>
          <a:solidFill>
            <a:schemeClr val="accent3"/>
          </a:solidFill>
          <a:ln w="12700">
            <a:solidFill>
              <a:schemeClr val="accent3"/>
            </a:solidFill>
            <a:prstDash val="solid"/>
          </a:ln>
        </p:spPr>
      </p:sp>
      <p:sp>
        <p:nvSpPr>
          <p:cNvPr id="24" name="Text 22"/>
          <p:cNvSpPr txBox="1"/>
          <p:nvPr/>
        </p:nvSpPr>
        <p:spPr>
          <a:xfrm>
            <a:off x="777240" y="42519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5" name="Text 23"/>
          <p:cNvSpPr txBox="1"/>
          <p:nvPr/>
        </p:nvSpPr>
        <p:spPr>
          <a:xfrm>
            <a:off x="1325880" y="4224528"/>
            <a:ext cx="2606040" cy="457200"/>
          </a:xfrm>
          <a:prstGeom prst="rect">
            <a:avLst/>
          </a:prstGeom>
          <a:noFill/>
          <a:ln/>
        </p:spPr>
        <p:txBody>
          <a:bodyPr wrap="square" lIns="0" tIns="0" rIns="0" bIns="0" rtlCol="0" anchor="ctr"/>
          <a:lstStyle/>
          <a:p>
            <a:pPr indent="0" marL="0">
              <a:buNone/>
            </a:pPr>
            <a:r>
              <a:rPr lang="en-US" sz="1500" b="1" dirty="0">
                <a:solidFill>
                  <a:schemeClr val="tx2"/>
                </a:solidFill>
              </a:rPr>
              <a:t>Manual step inside the path</a:t>
            </a:r>
            <a:endParaRPr lang="en-US" sz="1500" dirty="0"/>
          </a:p>
        </p:txBody>
      </p:sp>
      <p:sp>
        <p:nvSpPr>
          <p:cNvPr id="26" name="Text 24"/>
          <p:cNvSpPr txBox="1"/>
          <p:nvPr/>
        </p:nvSpPr>
        <p:spPr>
          <a:xfrm>
            <a:off x="777240" y="4800600"/>
            <a:ext cx="3108960" cy="1234440"/>
          </a:xfrm>
          <a:prstGeom prst="rect">
            <a:avLst/>
          </a:prstGeom>
          <a:noFill/>
          <a:ln/>
        </p:spPr>
        <p:txBody>
          <a:bodyPr wrap="square" lIns="0" tIns="0" rIns="0" bIns="0" rtlCol="0" anchor="t"/>
          <a:lstStyle/>
          <a:p>
            <a:pPr indent="0" marL="0">
              <a:buNone/>
            </a:pPr>
            <a:r>
              <a:rPr lang="en-US" sz="1300" dirty="0">
                <a:solidFill>
                  <a:schemeClr val="tx1"/>
                </a:solidFill>
              </a:rPr>
              <a:t>Applications move from Enquirer into UnitE by hand, and so do Student Portal and FVC Portal updates. Re-keying can change counts.</a:t>
            </a:r>
            <a:endParaRPr lang="en-US" sz="1300" dirty="0"/>
          </a:p>
        </p:txBody>
      </p:sp>
      <p:sp>
        <p:nvSpPr>
          <p:cNvPr id="27" name="watch 2"/>
          <p:cNvSpPr/>
          <p:nvPr/>
        </p:nvSpPr>
        <p:spPr>
          <a:xfrm>
            <a:off x="4297680" y="4069080"/>
            <a:ext cx="3520440" cy="2057400"/>
          </a:xfrm>
          <a:prstGeom prst="roundRect">
            <a:avLst>
              <a:gd name="adj" fmla="val 3556"/>
            </a:avLst>
          </a:prstGeom>
          <a:solidFill>
            <a:srgbClr val="FDF0DF"/>
          </a:solidFill>
          <a:ln w="12700">
            <a:solidFill>
              <a:srgbClr val="FDF0DF"/>
            </a:solidFill>
            <a:prstDash val="solid"/>
          </a:ln>
        </p:spPr>
      </p:sp>
      <p:sp>
        <p:nvSpPr>
          <p:cNvPr id="28" name="dot 2"/>
          <p:cNvSpPr/>
          <p:nvPr/>
        </p:nvSpPr>
        <p:spPr>
          <a:xfrm>
            <a:off x="4526280" y="4251960"/>
            <a:ext cx="411480" cy="411480"/>
          </a:xfrm>
          <a:prstGeom prst="ellipse">
            <a:avLst/>
          </a:prstGeom>
          <a:solidFill>
            <a:schemeClr val="accent3"/>
          </a:solidFill>
          <a:ln w="12700">
            <a:solidFill>
              <a:schemeClr val="accent3"/>
            </a:solidFill>
            <a:prstDash val="solid"/>
          </a:ln>
        </p:spPr>
      </p:sp>
      <p:sp>
        <p:nvSpPr>
          <p:cNvPr id="29" name="Text 27"/>
          <p:cNvSpPr txBox="1"/>
          <p:nvPr/>
        </p:nvSpPr>
        <p:spPr>
          <a:xfrm>
            <a:off x="4526280" y="42519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0" name="Text 28"/>
          <p:cNvSpPr txBox="1"/>
          <p:nvPr/>
        </p:nvSpPr>
        <p:spPr>
          <a:xfrm>
            <a:off x="5074920" y="4224528"/>
            <a:ext cx="2606040" cy="457200"/>
          </a:xfrm>
          <a:prstGeom prst="rect">
            <a:avLst/>
          </a:prstGeom>
          <a:noFill/>
          <a:ln/>
        </p:spPr>
        <p:txBody>
          <a:bodyPr wrap="square" lIns="0" tIns="0" rIns="0" bIns="0" rtlCol="0" anchor="ctr"/>
          <a:lstStyle/>
          <a:p>
            <a:pPr indent="0" marL="0">
              <a:buNone/>
            </a:pPr>
            <a:r>
              <a:rPr lang="en-US" sz="1500" b="1" dirty="0">
                <a:solidFill>
                  <a:schemeClr val="tx2"/>
                </a:solidFill>
              </a:rPr>
              <a:t>Hidden middle layer</a:t>
            </a:r>
            <a:endParaRPr lang="en-US" sz="1500" dirty="0"/>
          </a:p>
        </p:txBody>
      </p:sp>
      <p:sp>
        <p:nvSpPr>
          <p:cNvPr id="31" name="Text 29"/>
          <p:cNvSpPr txBox="1"/>
          <p:nvPr/>
        </p:nvSpPr>
        <p:spPr>
          <a:xfrm>
            <a:off x="4526280" y="4800600"/>
            <a:ext cx="3108960" cy="1234440"/>
          </a:xfrm>
          <a:prstGeom prst="rect">
            <a:avLst/>
          </a:prstGeom>
          <a:noFill/>
          <a:ln/>
        </p:spPr>
        <p:txBody>
          <a:bodyPr wrap="square" lIns="0" tIns="0" rIns="0" bIns="0" rtlCol="0" anchor="t"/>
          <a:lstStyle/>
          <a:p>
            <a:pPr indent="0" marL="0">
              <a:buNone/>
            </a:pPr>
            <a:r>
              <a:rPr lang="en-US" sz="1300" dirty="0">
                <a:solidFill>
                  <a:schemeClr val="tx1"/>
                </a:solidFill>
              </a:rPr>
              <a:t>RA5 reads from a Power BI semantic model. We can see the model but not yet which tables feed it.</a:t>
            </a:r>
            <a:endParaRPr lang="en-US" sz="1300" dirty="0"/>
          </a:p>
        </p:txBody>
      </p:sp>
      <p:sp>
        <p:nvSpPr>
          <p:cNvPr id="32" name="watch 3"/>
          <p:cNvSpPr/>
          <p:nvPr/>
        </p:nvSpPr>
        <p:spPr>
          <a:xfrm>
            <a:off x="8046720" y="4069080"/>
            <a:ext cx="3520440" cy="2057400"/>
          </a:xfrm>
          <a:prstGeom prst="roundRect">
            <a:avLst>
              <a:gd name="adj" fmla="val 3556"/>
            </a:avLst>
          </a:prstGeom>
          <a:solidFill>
            <a:srgbClr val="FDF0DF"/>
          </a:solidFill>
          <a:ln w="12700">
            <a:solidFill>
              <a:srgbClr val="FDF0DF"/>
            </a:solidFill>
            <a:prstDash val="solid"/>
          </a:ln>
        </p:spPr>
      </p:sp>
      <p:sp>
        <p:nvSpPr>
          <p:cNvPr id="33" name="dot 3"/>
          <p:cNvSpPr/>
          <p:nvPr/>
        </p:nvSpPr>
        <p:spPr>
          <a:xfrm>
            <a:off x="8275320" y="4251960"/>
            <a:ext cx="411480" cy="411480"/>
          </a:xfrm>
          <a:prstGeom prst="ellipse">
            <a:avLst/>
          </a:prstGeom>
          <a:solidFill>
            <a:schemeClr val="accent3"/>
          </a:solidFill>
          <a:ln w="12700">
            <a:solidFill>
              <a:schemeClr val="accent3"/>
            </a:solidFill>
            <a:prstDash val="solid"/>
          </a:ln>
        </p:spPr>
      </p:sp>
      <p:sp>
        <p:nvSpPr>
          <p:cNvPr id="34" name="Text 32"/>
          <p:cNvSpPr txBox="1"/>
          <p:nvPr/>
        </p:nvSpPr>
        <p:spPr>
          <a:xfrm>
            <a:off x="8275320" y="42519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35" name="Text 33"/>
          <p:cNvSpPr txBox="1"/>
          <p:nvPr/>
        </p:nvSpPr>
        <p:spPr>
          <a:xfrm>
            <a:off x="8823960" y="4224528"/>
            <a:ext cx="2606040" cy="457200"/>
          </a:xfrm>
          <a:prstGeom prst="rect">
            <a:avLst/>
          </a:prstGeom>
          <a:noFill/>
          <a:ln/>
        </p:spPr>
        <p:txBody>
          <a:bodyPr wrap="square" lIns="0" tIns="0" rIns="0" bIns="0" rtlCol="0" anchor="ctr"/>
          <a:lstStyle/>
          <a:p>
            <a:pPr indent="0" marL="0">
              <a:buNone/>
            </a:pPr>
            <a:r>
              <a:rPr lang="en-US" sz="1500" b="1" dirty="0">
                <a:solidFill>
                  <a:schemeClr val="tx2"/>
                </a:solidFill>
              </a:rPr>
              <a:t>Status history is not kept</a:t>
            </a:r>
            <a:endParaRPr lang="en-US" sz="1500" dirty="0"/>
          </a:p>
        </p:txBody>
      </p:sp>
      <p:sp>
        <p:nvSpPr>
          <p:cNvPr id="36" name="Text 34"/>
          <p:cNvSpPr txBox="1"/>
          <p:nvPr/>
        </p:nvSpPr>
        <p:spPr>
          <a:xfrm>
            <a:off x="8275320" y="4800600"/>
            <a:ext cx="3108960" cy="1234440"/>
          </a:xfrm>
          <a:prstGeom prst="rect">
            <a:avLst/>
          </a:prstGeom>
          <a:noFill/>
          <a:ln/>
        </p:spPr>
        <p:txBody>
          <a:bodyPr wrap="square" lIns="0" tIns="0" rIns="0" bIns="0" rtlCol="0" anchor="t"/>
          <a:lstStyle/>
          <a:p>
            <a:pPr indent="0" marL="0">
              <a:buNone/>
            </a:pPr>
            <a:r>
              <a:rPr lang="en-US" sz="1300" dirty="0">
                <a:solidFill>
                  <a:schemeClr val="tx1"/>
                </a:solidFill>
              </a:rPr>
              <a:t>Enquirer keeps only each application's current status, so past offer counts cannot be rebuilt.</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Where students drop out</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Once the rates are clean, we can see the stage where each course loses people</a:t>
            </a:r>
            <a:endParaRPr lang="en-US" sz="1500" dirty="0"/>
          </a:p>
        </p:txBody>
      </p:sp>
      <p:sp>
        <p:nvSpPr>
          <p:cNvPr id="4" name="funnel 1"/>
          <p:cNvSpPr/>
          <p:nvPr/>
        </p:nvSpPr>
        <p:spPr>
          <a:xfrm>
            <a:off x="548640" y="1645920"/>
            <a:ext cx="5120640" cy="749808"/>
          </a:xfrm>
          <a:prstGeom prst="roundRect">
            <a:avLst>
              <a:gd name="adj" fmla="val 9756"/>
            </a:avLst>
          </a:prstGeom>
          <a:solidFill>
            <a:schemeClr val="accent1"/>
          </a:solidFill>
          <a:ln w="12700">
            <a:solidFill>
              <a:schemeClr val="accent1"/>
            </a:solidFill>
            <a:prstDash val="solid"/>
          </a:ln>
        </p:spPr>
      </p:sp>
      <p:sp>
        <p:nvSpPr>
          <p:cNvPr id="5" name="Text 3"/>
          <p:cNvSpPr txBox="1"/>
          <p:nvPr/>
        </p:nvSpPr>
        <p:spPr>
          <a:xfrm>
            <a:off x="548640" y="1645920"/>
            <a:ext cx="5120640" cy="749808"/>
          </a:xfrm>
          <a:prstGeom prst="rect">
            <a:avLst/>
          </a:prstGeom>
          <a:noFill/>
          <a:ln/>
        </p:spPr>
        <p:txBody>
          <a:bodyPr wrap="square" lIns="0" tIns="0" rIns="0" bIns="0" rtlCol="0" anchor="ctr"/>
          <a:lstStyle/>
          <a:p>
            <a:pPr algn="ctr" indent="0" marL="0">
              <a:buNone/>
            </a:pPr>
            <a:r>
              <a:rPr lang="en-US" sz="1400" b="1" dirty="0">
                <a:solidFill>
                  <a:schemeClr val="bg1"/>
                </a:solidFill>
              </a:rPr>
              <a:t>Application</a:t>
            </a:r>
            <a:endParaRPr lang="en-US" sz="1400" dirty="0"/>
          </a:p>
          <a:p>
            <a:pPr algn="ctr" indent="0" marL="0">
              <a:buNone/>
            </a:pPr>
            <a:r>
              <a:rPr lang="en-US" sz="1100" dirty="0">
                <a:solidFill>
                  <a:schemeClr val="bg1"/>
                </a:solidFill>
              </a:rPr>
              <a:t>Applied for the course</a:t>
            </a:r>
            <a:endParaRPr lang="en-US" sz="1400" dirty="0"/>
          </a:p>
        </p:txBody>
      </p:sp>
      <p:sp>
        <p:nvSpPr>
          <p:cNvPr id="6" name="cause 1"/>
          <p:cNvSpPr/>
          <p:nvPr/>
        </p:nvSpPr>
        <p:spPr>
          <a:xfrm>
            <a:off x="6035040" y="1645920"/>
            <a:ext cx="5577840" cy="749808"/>
          </a:xfrm>
          <a:prstGeom prst="roundRect">
            <a:avLst>
              <a:gd name="adj" fmla="val 9756"/>
            </a:avLst>
          </a:prstGeom>
          <a:solidFill>
            <a:schemeClr val="bg2"/>
          </a:solidFill>
          <a:ln w="12700">
            <a:solidFill>
              <a:schemeClr val="bg2"/>
            </a:solidFill>
            <a:prstDash val="solid"/>
          </a:ln>
        </p:spPr>
      </p:sp>
      <p:sp>
        <p:nvSpPr>
          <p:cNvPr id="7" name="Text 5"/>
          <p:cNvSpPr txBox="1"/>
          <p:nvPr/>
        </p:nvSpPr>
        <p:spPr>
          <a:xfrm>
            <a:off x="6263640" y="1645920"/>
            <a:ext cx="5212080" cy="749808"/>
          </a:xfrm>
          <a:prstGeom prst="rect">
            <a:avLst/>
          </a:prstGeom>
          <a:noFill/>
          <a:ln/>
        </p:spPr>
        <p:txBody>
          <a:bodyPr wrap="square" lIns="0" tIns="0" rIns="0" bIns="0" rtlCol="0" anchor="ctr"/>
          <a:lstStyle/>
          <a:p>
            <a:pPr indent="0" marL="0">
              <a:buNone/>
            </a:pPr>
            <a:r>
              <a:rPr lang="en-US" sz="1300" dirty="0">
                <a:solidFill>
                  <a:schemeClr val="tx1"/>
                </a:solidFill>
              </a:rPr>
              <a:t>People don't turn up to the skills test (construction)</a:t>
            </a:r>
            <a:endParaRPr lang="en-US" sz="1300" dirty="0"/>
          </a:p>
        </p:txBody>
      </p:sp>
      <p:sp>
        <p:nvSpPr>
          <p:cNvPr id="8" name="funnel 2"/>
          <p:cNvSpPr/>
          <p:nvPr/>
        </p:nvSpPr>
        <p:spPr>
          <a:xfrm>
            <a:off x="868680" y="2560320"/>
            <a:ext cx="4480560" cy="749808"/>
          </a:xfrm>
          <a:prstGeom prst="roundRect">
            <a:avLst>
              <a:gd name="adj" fmla="val 9756"/>
            </a:avLst>
          </a:prstGeom>
          <a:solidFill>
            <a:schemeClr val="accent1">
              <a:alpha val="92000"/>
            </a:schemeClr>
          </a:solidFill>
          <a:ln w="12700">
            <a:solidFill>
              <a:schemeClr val="accent1">
                <a:alpha val="92000"/>
              </a:schemeClr>
            </a:solidFill>
            <a:prstDash val="solid"/>
          </a:ln>
        </p:spPr>
      </p:sp>
      <p:sp>
        <p:nvSpPr>
          <p:cNvPr id="9" name="Text 7"/>
          <p:cNvSpPr txBox="1"/>
          <p:nvPr/>
        </p:nvSpPr>
        <p:spPr>
          <a:xfrm>
            <a:off x="868680" y="2560320"/>
            <a:ext cx="4480560" cy="749808"/>
          </a:xfrm>
          <a:prstGeom prst="rect">
            <a:avLst/>
          </a:prstGeom>
          <a:noFill/>
          <a:ln/>
        </p:spPr>
        <p:txBody>
          <a:bodyPr wrap="square" lIns="0" tIns="0" rIns="0" bIns="0" rtlCol="0" anchor="ctr"/>
          <a:lstStyle/>
          <a:p>
            <a:pPr algn="ctr" indent="0" marL="0">
              <a:buNone/>
            </a:pPr>
            <a:r>
              <a:rPr lang="en-US" sz="1400" b="1" dirty="0">
                <a:solidFill>
                  <a:schemeClr val="bg1"/>
                </a:solidFill>
              </a:rPr>
              <a:t>Interview / skills test</a:t>
            </a:r>
            <a:endParaRPr lang="en-US" sz="1400" dirty="0"/>
          </a:p>
          <a:p>
            <a:pPr algn="ctr" indent="0" marL="0">
              <a:buNone/>
            </a:pPr>
            <a:r>
              <a:rPr lang="en-US" sz="1100" dirty="0">
                <a:solidFill>
                  <a:schemeClr val="bg1"/>
                </a:solidFill>
              </a:rPr>
              <a:t>Seen by the department</a:t>
            </a:r>
            <a:endParaRPr lang="en-US" sz="1400" dirty="0"/>
          </a:p>
        </p:txBody>
      </p:sp>
      <p:sp>
        <p:nvSpPr>
          <p:cNvPr id="10" name="cause 2"/>
          <p:cNvSpPr/>
          <p:nvPr/>
        </p:nvSpPr>
        <p:spPr>
          <a:xfrm>
            <a:off x="6035040" y="2560320"/>
            <a:ext cx="5577840" cy="749808"/>
          </a:xfrm>
          <a:prstGeom prst="roundRect">
            <a:avLst>
              <a:gd name="adj" fmla="val 9756"/>
            </a:avLst>
          </a:prstGeom>
          <a:solidFill>
            <a:schemeClr val="bg2"/>
          </a:solidFill>
          <a:ln w="12700">
            <a:solidFill>
              <a:schemeClr val="bg2"/>
            </a:solidFill>
            <a:prstDash val="solid"/>
          </a:ln>
        </p:spPr>
      </p:sp>
      <p:sp>
        <p:nvSpPr>
          <p:cNvPr id="11" name="Text 9"/>
          <p:cNvSpPr txBox="1"/>
          <p:nvPr/>
        </p:nvSpPr>
        <p:spPr>
          <a:xfrm>
            <a:off x="6263640" y="2560320"/>
            <a:ext cx="5212080" cy="749808"/>
          </a:xfrm>
          <a:prstGeom prst="rect">
            <a:avLst/>
          </a:prstGeom>
          <a:noFill/>
          <a:ln/>
        </p:spPr>
        <p:txBody>
          <a:bodyPr wrap="square" lIns="0" tIns="0" rIns="0" bIns="0" rtlCol="0" anchor="ctr"/>
          <a:lstStyle/>
          <a:p>
            <a:pPr indent="0" marL="0">
              <a:buNone/>
            </a:pPr>
            <a:r>
              <a:rPr lang="en-US" sz="1300" dirty="0">
                <a:solidFill>
                  <a:schemeClr val="tx1"/>
                </a:solidFill>
              </a:rPr>
              <a:t>Lecturers hold back, or make waiting-list offers</a:t>
            </a:r>
            <a:endParaRPr lang="en-US" sz="1300" dirty="0"/>
          </a:p>
        </p:txBody>
      </p:sp>
      <p:sp>
        <p:nvSpPr>
          <p:cNvPr id="12" name="funnel 3"/>
          <p:cNvSpPr/>
          <p:nvPr/>
        </p:nvSpPr>
        <p:spPr>
          <a:xfrm>
            <a:off x="1188720" y="3474720"/>
            <a:ext cx="3840480" cy="749808"/>
          </a:xfrm>
          <a:prstGeom prst="roundRect">
            <a:avLst>
              <a:gd name="adj" fmla="val 9756"/>
            </a:avLst>
          </a:prstGeom>
          <a:solidFill>
            <a:schemeClr val="accent1">
              <a:alpha val="84000"/>
            </a:schemeClr>
          </a:solidFill>
          <a:ln w="12700">
            <a:solidFill>
              <a:schemeClr val="accent1">
                <a:alpha val="84000"/>
              </a:schemeClr>
            </a:solidFill>
            <a:prstDash val="solid"/>
          </a:ln>
        </p:spPr>
      </p:sp>
      <p:sp>
        <p:nvSpPr>
          <p:cNvPr id="13" name="Text 11"/>
          <p:cNvSpPr txBox="1"/>
          <p:nvPr/>
        </p:nvSpPr>
        <p:spPr>
          <a:xfrm>
            <a:off x="1188720" y="3474720"/>
            <a:ext cx="3840480" cy="749808"/>
          </a:xfrm>
          <a:prstGeom prst="rect">
            <a:avLst/>
          </a:prstGeom>
          <a:noFill/>
          <a:ln/>
        </p:spPr>
        <p:txBody>
          <a:bodyPr wrap="square" lIns="0" tIns="0" rIns="0" bIns="0" rtlCol="0" anchor="ctr"/>
          <a:lstStyle/>
          <a:p>
            <a:pPr algn="ctr" indent="0" marL="0">
              <a:buNone/>
            </a:pPr>
            <a:r>
              <a:rPr lang="en-US" sz="1400" b="1" dirty="0">
                <a:solidFill>
                  <a:schemeClr val="bg1"/>
                </a:solidFill>
              </a:rPr>
              <a:t>Offer</a:t>
            </a:r>
            <a:endParaRPr lang="en-US" sz="1400" dirty="0"/>
          </a:p>
          <a:p>
            <a:pPr algn="ctr" indent="0" marL="0">
              <a:buNone/>
            </a:pPr>
            <a:r>
              <a:rPr lang="en-US" sz="1100" dirty="0">
                <a:solidFill>
                  <a:schemeClr val="bg1"/>
                </a:solidFill>
              </a:rPr>
              <a:t>Offer made</a:t>
            </a:r>
            <a:endParaRPr lang="en-US" sz="1400" dirty="0"/>
          </a:p>
        </p:txBody>
      </p:sp>
      <p:sp>
        <p:nvSpPr>
          <p:cNvPr id="14" name="cause 3"/>
          <p:cNvSpPr/>
          <p:nvPr/>
        </p:nvSpPr>
        <p:spPr>
          <a:xfrm>
            <a:off x="6035040" y="3474720"/>
            <a:ext cx="5577840" cy="749808"/>
          </a:xfrm>
          <a:prstGeom prst="roundRect">
            <a:avLst>
              <a:gd name="adj" fmla="val 9756"/>
            </a:avLst>
          </a:prstGeom>
          <a:solidFill>
            <a:schemeClr val="bg2"/>
          </a:solidFill>
          <a:ln w="12700">
            <a:solidFill>
              <a:schemeClr val="bg2"/>
            </a:solidFill>
            <a:prstDash val="solid"/>
          </a:ln>
        </p:spPr>
      </p:sp>
      <p:sp>
        <p:nvSpPr>
          <p:cNvPr id="15" name="Text 13"/>
          <p:cNvSpPr txBox="1"/>
          <p:nvPr/>
        </p:nvSpPr>
        <p:spPr>
          <a:xfrm>
            <a:off x="6263640" y="3474720"/>
            <a:ext cx="5212080" cy="749808"/>
          </a:xfrm>
          <a:prstGeom prst="rect">
            <a:avLst/>
          </a:prstGeom>
          <a:noFill/>
          <a:ln/>
        </p:spPr>
        <p:txBody>
          <a:bodyPr wrap="square" lIns="0" tIns="0" rIns="0" bIns="0" rtlCol="0" anchor="ctr"/>
          <a:lstStyle/>
          <a:p>
            <a:pPr indent="0" marL="0">
              <a:buNone/>
            </a:pPr>
            <a:r>
              <a:rPr lang="en-US" sz="1300" dirty="0">
                <a:solidFill>
                  <a:schemeClr val="tx1"/>
                </a:solidFill>
              </a:rPr>
              <a:t>Offers turned down; waiting-list offers go to people unlikely to come</a:t>
            </a:r>
            <a:endParaRPr lang="en-US" sz="1300" dirty="0"/>
          </a:p>
        </p:txBody>
      </p:sp>
      <p:sp>
        <p:nvSpPr>
          <p:cNvPr id="16" name="funnel 4"/>
          <p:cNvSpPr/>
          <p:nvPr/>
        </p:nvSpPr>
        <p:spPr>
          <a:xfrm>
            <a:off x="1508760" y="4389120"/>
            <a:ext cx="3200400" cy="749808"/>
          </a:xfrm>
          <a:prstGeom prst="roundRect">
            <a:avLst>
              <a:gd name="adj" fmla="val 9756"/>
            </a:avLst>
          </a:prstGeom>
          <a:solidFill>
            <a:schemeClr val="accent1">
              <a:alpha val="76000"/>
            </a:schemeClr>
          </a:solidFill>
          <a:ln w="12700">
            <a:solidFill>
              <a:schemeClr val="accent1">
                <a:alpha val="76000"/>
              </a:schemeClr>
            </a:solidFill>
            <a:prstDash val="solid"/>
          </a:ln>
        </p:spPr>
      </p:sp>
      <p:sp>
        <p:nvSpPr>
          <p:cNvPr id="17" name="Text 15"/>
          <p:cNvSpPr txBox="1"/>
          <p:nvPr/>
        </p:nvSpPr>
        <p:spPr>
          <a:xfrm>
            <a:off x="1508760" y="4389120"/>
            <a:ext cx="3200400" cy="749808"/>
          </a:xfrm>
          <a:prstGeom prst="rect">
            <a:avLst/>
          </a:prstGeom>
          <a:noFill/>
          <a:ln/>
        </p:spPr>
        <p:txBody>
          <a:bodyPr wrap="square" lIns="0" tIns="0" rIns="0" bIns="0" rtlCol="0" anchor="ctr"/>
          <a:lstStyle/>
          <a:p>
            <a:pPr algn="ctr" indent="0" marL="0">
              <a:buNone/>
            </a:pPr>
            <a:r>
              <a:rPr lang="en-US" sz="1400" b="1" dirty="0">
                <a:solidFill>
                  <a:schemeClr val="bg1"/>
                </a:solidFill>
              </a:rPr>
              <a:t>Enrolment (day one)</a:t>
            </a:r>
            <a:endParaRPr lang="en-US" sz="1400" dirty="0"/>
          </a:p>
          <a:p>
            <a:pPr algn="ctr" indent="0" marL="0">
              <a:buNone/>
            </a:pPr>
            <a:r>
              <a:rPr lang="en-US" sz="1100" dirty="0">
                <a:solidFill>
                  <a:schemeClr val="bg1"/>
                </a:solidFill>
              </a:rPr>
              <a:t>Starts the course</a:t>
            </a:r>
            <a:endParaRPr lang="en-US" sz="1400" dirty="0"/>
          </a:p>
        </p:txBody>
      </p:sp>
      <p:sp>
        <p:nvSpPr>
          <p:cNvPr id="18" name="cause 4"/>
          <p:cNvSpPr/>
          <p:nvPr/>
        </p:nvSpPr>
        <p:spPr>
          <a:xfrm>
            <a:off x="6035040" y="4389120"/>
            <a:ext cx="5577840" cy="749808"/>
          </a:xfrm>
          <a:prstGeom prst="roundRect">
            <a:avLst>
              <a:gd name="adj" fmla="val 9756"/>
            </a:avLst>
          </a:prstGeom>
          <a:solidFill>
            <a:schemeClr val="bg2"/>
          </a:solidFill>
          <a:ln w="12700">
            <a:solidFill>
              <a:schemeClr val="bg2"/>
            </a:solidFill>
            <a:prstDash val="solid"/>
          </a:ln>
        </p:spPr>
      </p:sp>
      <p:sp>
        <p:nvSpPr>
          <p:cNvPr id="19" name="Text 17"/>
          <p:cNvSpPr txBox="1"/>
          <p:nvPr/>
        </p:nvSpPr>
        <p:spPr>
          <a:xfrm>
            <a:off x="6263640" y="4389120"/>
            <a:ext cx="5212080" cy="749808"/>
          </a:xfrm>
          <a:prstGeom prst="rect">
            <a:avLst/>
          </a:prstGeom>
          <a:noFill/>
          <a:ln/>
        </p:spPr>
        <p:txBody>
          <a:bodyPr wrap="square" lIns="0" tIns="0" rIns="0" bIns="0" rtlCol="0" anchor="ctr"/>
          <a:lstStyle/>
          <a:p>
            <a:pPr indent="0" marL="0">
              <a:buNone/>
            </a:pPr>
            <a:r>
              <a:rPr lang="en-US" sz="1300" dirty="0">
                <a:solidFill>
                  <a:schemeClr val="tx1"/>
                </a:solidFill>
              </a:rPr>
              <a:t>Early dropout before credits are claimed</a:t>
            </a:r>
            <a:endParaRPr lang="en-US" sz="1300" dirty="0"/>
          </a:p>
        </p:txBody>
      </p:sp>
      <p:sp>
        <p:nvSpPr>
          <p:cNvPr id="20" name="funnel 5"/>
          <p:cNvSpPr/>
          <p:nvPr/>
        </p:nvSpPr>
        <p:spPr>
          <a:xfrm>
            <a:off x="1828800" y="5303520"/>
            <a:ext cx="2560320" cy="749808"/>
          </a:xfrm>
          <a:prstGeom prst="roundRect">
            <a:avLst>
              <a:gd name="adj" fmla="val 9756"/>
            </a:avLst>
          </a:prstGeom>
          <a:solidFill>
            <a:schemeClr val="accent2">
              <a:alpha val="68000"/>
            </a:schemeClr>
          </a:solidFill>
          <a:ln w="12700">
            <a:solidFill>
              <a:schemeClr val="accent2">
                <a:alpha val="68000"/>
              </a:schemeClr>
            </a:solidFill>
            <a:prstDash val="solid"/>
          </a:ln>
        </p:spPr>
      </p:sp>
      <p:sp>
        <p:nvSpPr>
          <p:cNvPr id="21" name="Text 19"/>
          <p:cNvSpPr txBox="1"/>
          <p:nvPr/>
        </p:nvSpPr>
        <p:spPr>
          <a:xfrm>
            <a:off x="1828800" y="5303520"/>
            <a:ext cx="2560320" cy="749808"/>
          </a:xfrm>
          <a:prstGeom prst="rect">
            <a:avLst/>
          </a:prstGeom>
          <a:noFill/>
          <a:ln/>
        </p:spPr>
        <p:txBody>
          <a:bodyPr wrap="square" lIns="0" tIns="0" rIns="0" bIns="0" rtlCol="0" anchor="ctr"/>
          <a:lstStyle/>
          <a:p>
            <a:pPr algn="ctr" indent="0" marL="0">
              <a:buNone/>
            </a:pPr>
            <a:r>
              <a:rPr lang="en-US" sz="1400" b="1" dirty="0">
                <a:solidFill>
                  <a:schemeClr val="bg1"/>
                </a:solidFill>
              </a:rPr>
              <a:t>Enrolled at ~6 weeks</a:t>
            </a:r>
            <a:endParaRPr lang="en-US" sz="1400" dirty="0"/>
          </a:p>
          <a:p>
            <a:pPr algn="ctr" indent="0" marL="0">
              <a:buNone/>
            </a:pPr>
            <a:r>
              <a:rPr lang="en-US" sz="1100" dirty="0">
                <a:solidFill>
                  <a:schemeClr val="bg1"/>
                </a:solidFill>
              </a:rPr>
              <a:t>Credits claimed</a:t>
            </a:r>
            <a:endParaRPr lang="en-US" sz="1400" dirty="0"/>
          </a:p>
        </p:txBody>
      </p:sp>
      <p:sp>
        <p:nvSpPr>
          <p:cNvPr id="22" name="cause 5"/>
          <p:cNvSpPr/>
          <p:nvPr/>
        </p:nvSpPr>
        <p:spPr>
          <a:xfrm>
            <a:off x="6035040" y="5303520"/>
            <a:ext cx="5577840" cy="749808"/>
          </a:xfrm>
          <a:prstGeom prst="roundRect">
            <a:avLst>
              <a:gd name="adj" fmla="val 9756"/>
            </a:avLst>
          </a:prstGeom>
          <a:solidFill>
            <a:schemeClr val="accent6"/>
          </a:solidFill>
          <a:ln w="12700">
            <a:solidFill>
              <a:schemeClr val="accent6"/>
            </a:solidFill>
            <a:prstDash val="solid"/>
          </a:ln>
        </p:spPr>
      </p:sp>
      <p:sp>
        <p:nvSpPr>
          <p:cNvPr id="23" name="Text 21"/>
          <p:cNvSpPr txBox="1"/>
          <p:nvPr/>
        </p:nvSpPr>
        <p:spPr>
          <a:xfrm>
            <a:off x="6263640" y="5303520"/>
            <a:ext cx="5212080" cy="749808"/>
          </a:xfrm>
          <a:prstGeom prst="rect">
            <a:avLst/>
          </a:prstGeom>
          <a:noFill/>
          <a:ln/>
        </p:spPr>
        <p:txBody>
          <a:bodyPr wrap="square" lIns="0" tIns="0" rIns="0" bIns="0" rtlCol="0" anchor="ctr"/>
          <a:lstStyle/>
          <a:p>
            <a:pPr indent="0" marL="0">
              <a:buNone/>
            </a:pPr>
            <a:r>
              <a:rPr lang="en-US" sz="1300" dirty="0">
                <a:solidFill>
                  <a:schemeClr val="tx1"/>
                </a:solidFill>
              </a:rPr>
              <a:t>The point that counts for funding</a:t>
            </a:r>
            <a:endParaRPr lang="en-US" sz="1300" dirty="0"/>
          </a:p>
        </p:txBody>
      </p:sp>
      <p:sp>
        <p:nvSpPr>
          <p:cNvPr id="24" name="Text 22"/>
          <p:cNvSpPr txBox="1"/>
          <p:nvPr/>
        </p:nvSpPr>
        <p:spPr>
          <a:xfrm>
            <a:off x="6035040" y="1325880"/>
            <a:ext cx="5577840" cy="274320"/>
          </a:xfrm>
          <a:prstGeom prst="rect">
            <a:avLst/>
          </a:prstGeom>
          <a:noFill/>
          <a:ln/>
        </p:spPr>
        <p:txBody>
          <a:bodyPr wrap="square" lIns="0" tIns="0" rIns="0" bIns="0" rtlCol="0" anchor="ctr"/>
          <a:lstStyle/>
          <a:p>
            <a:pPr indent="0" marL="0">
              <a:buNone/>
            </a:pPr>
            <a:r>
              <a:rPr lang="en-US" sz="1100" b="1" dirty="0">
                <a:solidFill>
                  <a:srgbClr val="6B6F80"/>
                </a:solidFill>
              </a:rPr>
              <a:t>Possible cause of drop-off (from the meeting)</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Why the numbers look too high, and the fix</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Sarah felt the figures were overestimated. These are the likely causes</a:t>
            </a:r>
            <a:endParaRPr lang="en-US" sz="1500" dirty="0"/>
          </a:p>
        </p:txBody>
      </p:sp>
      <p:graphicFrame>
        <p:nvGraphicFramePr>
          <p:cNvPr id="7" name="too high table"/>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4023360"/>
                <a:gridCol w="3200400"/>
                <a:gridCol w="3840480"/>
              </a:tblGrid>
              <a:tr h="603504">
                <a:tc>
                  <a:txBody>
                    <a:bodyPr/>
                    <a:lstStyle/>
                    <a:p>
                      <a:pPr indent="0" marL="0">
                        <a:buNone/>
                      </a:pPr>
                      <a:r>
                        <a:rPr lang="en-US" sz="1250" b="1" dirty="0">
                          <a:solidFill>
                            <a:schemeClr val="bg1"/>
                          </a:solidFill>
                        </a:rPr>
                        <a:t>Problem</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Evidence</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Fix</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tx2"/>
                    </a:solidFill>
                  </a:tcPr>
                </a:tc>
              </a:tr>
              <a:tr h="603504">
                <a:tc>
                  <a:txBody>
                    <a:bodyPr/>
                    <a:lstStyle/>
                    <a:p>
                      <a:pPr indent="0" marL="0">
                        <a:buNone/>
                      </a:pPr>
                      <a:r>
                        <a:rPr lang="en-US" sz="1250" dirty="0">
                          <a:solidFill>
                            <a:schemeClr val="tx1"/>
                          </a:solidFill>
                        </a:rPr>
                        <a:t>Total applications include duplicates, withdrawals and ineligible applicants</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YCCJ/AL: 116 total vs 66 live</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Use live applications; show total and live side by side</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r>
              <a:tr h="603504">
                <a:tc>
                  <a:txBody>
                    <a:bodyPr/>
                    <a:lstStyle/>
                    <a:p>
                      <a:pPr indent="0" marL="0">
                        <a:buNone/>
                      </a:pPr>
                      <a:r>
                        <a:rPr lang="en-US" sz="1250" dirty="0">
                          <a:solidFill>
                            <a:schemeClr val="tx1"/>
                          </a:solidFill>
                        </a:rPr>
                        <a:t>The conversion page shows this year, still in progress</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Lesley: "I think that is 26/27"</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Base the baseline on final, completed years</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r>
              <a:tr h="603504">
                <a:tc>
                  <a:txBody>
                    <a:bodyPr/>
                    <a:lstStyle/>
                    <a:p>
                      <a:pPr indent="0" marL="0">
                        <a:buNone/>
                      </a:pPr>
                      <a:r>
                        <a:rPr lang="en-US" sz="1250" dirty="0">
                          <a:solidFill>
                            <a:schemeClr val="tx1"/>
                          </a:solidFill>
                        </a:rPr>
                        <a:t>Waiting-list and extra offers inflate offers</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YCCJ/AL: 36 offers for 14 places</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Calculate offer → enrolment per course</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r>
              <a:tr h="603504">
                <a:tc>
                  <a:txBody>
                    <a:bodyPr/>
                    <a:lstStyle/>
                    <a:p>
                      <a:pPr indent="0" marL="0">
                        <a:buNone/>
                      </a:pPr>
                      <a:r>
                        <a:rPr lang="en-US" sz="1250" dirty="0">
                          <a:solidFill>
                            <a:schemeClr val="tx1"/>
                          </a:solidFill>
                        </a:rPr>
                        <a:t>Day-one enrolment overstates credits</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10% of credits lost</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Measure enrolment at the ~6-week claim point</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r>
              <a:tr h="603504">
                <a:tc>
                  <a:txBody>
                    <a:bodyPr/>
                    <a:lstStyle/>
                    <a:p>
                      <a:pPr indent="0" marL="0">
                        <a:buNone/>
                      </a:pPr>
                      <a:r>
                        <a:rPr lang="en-US" sz="1250" dirty="0">
                          <a:solidFill>
                            <a:schemeClr val="tx1"/>
                          </a:solidFill>
                        </a:rPr>
                        <a:t>A/B sections split the same course</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One section with 0 applications but 17 enrolled</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Group sections under one parent course</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r>
              <a:tr h="603504">
                <a:tc>
                  <a:txBody>
                    <a:bodyPr/>
                    <a:lstStyle/>
                    <a:p>
                      <a:pPr indent="0" marL="0">
                        <a:buNone/>
                      </a:pPr>
                      <a:r>
                        <a:rPr lang="en-US" sz="1250" dirty="0">
                          <a:solidFill>
                            <a:schemeClr val="tx1"/>
                          </a:solidFill>
                        </a:rPr>
                        <a:t>No history of application statuses</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Only current status is stored</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Use final status for past years; start weekly snapshots now</a:t>
                      </a:r>
                      <a:endParaRPr lang="en-US" sz="1250" dirty="0"/>
                    </a:p>
                  </a:txBody>
                  <a:tcPr marL="91440" marR="91440" marT="0" marB="0" anchor="ctr">
                    <a:lnL w="9525" cap="flat" cmpd="sng" algn="ctr">
                      <a:solidFill>
                        <a:srgbClr val="D5D6E3"/>
                      </a:solidFill>
                      <a:prstDash val="solid"/>
                      <a:round/>
                      <a:headEnd type="none" w="med" len="med"/>
                      <a:tailEnd type="none" w="med" len="med"/>
                    </a:lnL>
                    <a:lnR w="9525" cap="flat" cmpd="sng" algn="ctr">
                      <a:solidFill>
                        <a:srgbClr val="D5D6E3"/>
                      </a:solidFill>
                      <a:prstDash val="solid"/>
                      <a:round/>
                      <a:headEnd type="none" w="med" len="med"/>
                      <a:tailEnd type="none" w="med" len="med"/>
                    </a:lnR>
                    <a:lnT w="9525" cap="flat" cmpd="sng" algn="ctr">
                      <a:solidFill>
                        <a:srgbClr val="D5D6E3"/>
                      </a:solidFill>
                      <a:prstDash val="solid"/>
                      <a:round/>
                      <a:headEnd type="none" w="med" len="med"/>
                      <a:tailEnd type="none" w="med" len="med"/>
                    </a:lnT>
                    <a:lnB w="9525" cap="flat" cmpd="sng" algn="ctr">
                      <a:solidFill>
                        <a:srgbClr val="D5D6E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First check of the RA5 report: the numbers don't match</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Application-to-offer rate for two construction courses, worked out three ways (2026 session, 30 Sep)</a:t>
            </a:r>
            <a:endParaRPr lang="en-US" sz="1500" dirty="0"/>
          </a:p>
        </p:txBody>
      </p:sp>
      <p:graphicFrame>
        <p:nvGraphicFramePr>
          <p:cNvPr id="4" name="RA5 check chart" descr=""/>
          <p:cNvGraphicFramePr/>
          <p:nvPr/>
        </p:nvGraphicFramePr>
        <p:xfrm>
          <a:off x="548640" y="160020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5" name="evidence 1"/>
          <p:cNvSpPr/>
          <p:nvPr/>
        </p:nvSpPr>
        <p:spPr>
          <a:xfrm>
            <a:off x="7589520" y="1645920"/>
            <a:ext cx="4023360" cy="1371600"/>
          </a:xfrm>
          <a:prstGeom prst="roundRect">
            <a:avLst>
              <a:gd name="adj" fmla="val 5333"/>
            </a:avLst>
          </a:prstGeom>
          <a:solidFill>
            <a:srgbClr val="FDF0DF"/>
          </a:solidFill>
          <a:ln w="12700">
            <a:solidFill>
              <a:srgbClr val="FDF0DF"/>
            </a:solidFill>
            <a:prstDash val="solid"/>
          </a:ln>
        </p:spPr>
      </p:sp>
      <p:sp>
        <p:nvSpPr>
          <p:cNvPr id="6" name="Text 3"/>
          <p:cNvSpPr txBox="1"/>
          <p:nvPr/>
        </p:nvSpPr>
        <p:spPr>
          <a:xfrm>
            <a:off x="7772400" y="1691640"/>
            <a:ext cx="3703320" cy="1280160"/>
          </a:xfrm>
          <a:prstGeom prst="rect">
            <a:avLst/>
          </a:prstGeom>
          <a:noFill/>
          <a:ln/>
        </p:spPr>
        <p:txBody>
          <a:bodyPr wrap="square" lIns="0" tIns="0" rIns="0" bIns="0" rtlCol="0" anchor="ctr"/>
          <a:lstStyle/>
          <a:p>
            <a:pPr indent="0" marL="0">
              <a:buNone/>
            </a:pPr>
            <a:r>
              <a:rPr lang="en-US" sz="1400" b="1" dirty="0">
                <a:solidFill>
                  <a:schemeClr val="tx2"/>
                </a:solidFill>
              </a:rPr>
              <a:t>The RA5 rate sits between the two</a:t>
            </a:r>
            <a:endParaRPr lang="en-US" sz="1400" dirty="0"/>
          </a:p>
          <a:p>
            <a:pPr indent="0" marL="0">
              <a:buNone/>
            </a:pPr>
            <a:r>
              <a:rPr lang="en-US" sz="1200" dirty="0">
                <a:solidFill>
                  <a:schemeClr val="tx1"/>
                </a:solidFill>
              </a:rPr>
              <a:t>It matches neither total nor live applications, so the conversion measure uses a different application count. This is the main question for Lesley.</a:t>
            </a:r>
            <a:endParaRPr lang="en-US" sz="1400" dirty="0"/>
          </a:p>
        </p:txBody>
      </p:sp>
      <p:sp>
        <p:nvSpPr>
          <p:cNvPr id="7" name="evidence 2"/>
          <p:cNvSpPr/>
          <p:nvPr/>
        </p:nvSpPr>
        <p:spPr>
          <a:xfrm>
            <a:off x="7589520" y="3182112"/>
            <a:ext cx="4023360" cy="1371600"/>
          </a:xfrm>
          <a:prstGeom prst="roundRect">
            <a:avLst>
              <a:gd name="adj" fmla="val 5333"/>
            </a:avLst>
          </a:prstGeom>
          <a:solidFill>
            <a:schemeClr val="bg2"/>
          </a:solidFill>
          <a:ln w="12700">
            <a:solidFill>
              <a:schemeClr val="bg2"/>
            </a:solidFill>
            <a:prstDash val="solid"/>
          </a:ln>
        </p:spPr>
      </p:sp>
      <p:sp>
        <p:nvSpPr>
          <p:cNvPr id="8" name="Text 5"/>
          <p:cNvSpPr txBox="1"/>
          <p:nvPr/>
        </p:nvSpPr>
        <p:spPr>
          <a:xfrm>
            <a:off x="7772400" y="3227832"/>
            <a:ext cx="3703320" cy="1280160"/>
          </a:xfrm>
          <a:prstGeom prst="rect">
            <a:avLst/>
          </a:prstGeom>
          <a:noFill/>
          <a:ln/>
        </p:spPr>
        <p:txBody>
          <a:bodyPr wrap="square" lIns="0" tIns="0" rIns="0" bIns="0" rtlCol="0" anchor="ctr"/>
          <a:lstStyle/>
          <a:p>
            <a:pPr indent="0" marL="0">
              <a:buNone/>
            </a:pPr>
            <a:r>
              <a:rPr lang="en-US" sz="1400" b="1" dirty="0">
                <a:solidFill>
                  <a:schemeClr val="tx2"/>
                </a:solidFill>
              </a:rPr>
              <a:t>Only 2026 is visible</a:t>
            </a:r>
            <a:endParaRPr lang="en-US" sz="1400" dirty="0"/>
          </a:p>
          <a:p>
            <a:pPr indent="0" marL="0">
              <a:buNone/>
            </a:pPr>
            <a:r>
              <a:rPr lang="en-US" sz="1200" dirty="0">
                <a:solidFill>
                  <a:schemeClr val="tx1"/>
                </a:solidFill>
              </a:rPr>
              <a:t>The Session filter shows 2026 only, and the Summary page has no session filter. We need past years for a 3-year baseline.</a:t>
            </a:r>
            <a:endParaRPr lang="en-US" sz="1400" dirty="0"/>
          </a:p>
        </p:txBody>
      </p:sp>
      <p:sp>
        <p:nvSpPr>
          <p:cNvPr id="9" name="evidence 3"/>
          <p:cNvSpPr/>
          <p:nvPr/>
        </p:nvSpPr>
        <p:spPr>
          <a:xfrm>
            <a:off x="7589520" y="4718304"/>
            <a:ext cx="4023360" cy="1371600"/>
          </a:xfrm>
          <a:prstGeom prst="roundRect">
            <a:avLst>
              <a:gd name="adj" fmla="val 5333"/>
            </a:avLst>
          </a:prstGeom>
          <a:solidFill>
            <a:schemeClr val="bg2"/>
          </a:solidFill>
          <a:ln w="12700">
            <a:solidFill>
              <a:schemeClr val="bg2"/>
            </a:solidFill>
            <a:prstDash val="solid"/>
          </a:ln>
        </p:spPr>
      </p:sp>
      <p:sp>
        <p:nvSpPr>
          <p:cNvPr id="10" name="Text 7"/>
          <p:cNvSpPr txBox="1"/>
          <p:nvPr/>
        </p:nvSpPr>
        <p:spPr>
          <a:xfrm>
            <a:off x="7772400" y="4764024"/>
            <a:ext cx="3703320" cy="1280160"/>
          </a:xfrm>
          <a:prstGeom prst="rect">
            <a:avLst/>
          </a:prstGeom>
          <a:noFill/>
          <a:ln/>
        </p:spPr>
        <p:txBody>
          <a:bodyPr wrap="square" lIns="0" tIns="0" rIns="0" bIns="0" rtlCol="0" anchor="ctr"/>
          <a:lstStyle/>
          <a:p>
            <a:pPr indent="0" marL="0">
              <a:buNone/>
            </a:pPr>
            <a:r>
              <a:rPr lang="en-US" sz="1400" b="1" dirty="0">
                <a:solidFill>
                  <a:schemeClr val="tx2"/>
                </a:solidFill>
              </a:rPr>
              <a:t>Source tables not visible</a:t>
            </a:r>
            <a:endParaRPr lang="en-US" sz="1400" dirty="0"/>
          </a:p>
          <a:p>
            <a:pPr indent="0" marL="0">
              <a:buNone/>
            </a:pPr>
            <a:r>
              <a:rPr lang="en-US" sz="1200" dirty="0">
                <a:solidFill>
                  <a:schemeClr val="tx1"/>
                </a:solidFill>
              </a:rPr>
              <a:t>Lineage shows semantic model → RA5 report, but not the database behind it. Kevin can confirm which tables feed it.</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Data limits to agree before we build</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Lesley's concerns from the meeting, alongside the gaps the data map shows</a:t>
            </a:r>
            <a:endParaRPr lang="en-US" sz="1500" dirty="0"/>
          </a:p>
        </p:txBody>
      </p:sp>
      <p:sp>
        <p:nvSpPr>
          <p:cNvPr id="4" name="lesley col"/>
          <p:cNvSpPr/>
          <p:nvPr/>
        </p:nvSpPr>
        <p:spPr>
          <a:xfrm>
            <a:off x="548640" y="1645920"/>
            <a:ext cx="5394960" cy="4480560"/>
          </a:xfrm>
          <a:prstGeom prst="roundRect">
            <a:avLst>
              <a:gd name="adj" fmla="val 1633"/>
            </a:avLst>
          </a:prstGeom>
          <a:solidFill>
            <a:schemeClr val="bg2"/>
          </a:solidFill>
          <a:ln w="12700">
            <a:solidFill>
              <a:schemeClr val="bg2"/>
            </a:solidFill>
            <a:prstDash val="solid"/>
          </a:ln>
        </p:spPr>
      </p:sp>
      <p:sp>
        <p:nvSpPr>
          <p:cNvPr id="5" name="Text 3"/>
          <p:cNvSpPr txBox="1"/>
          <p:nvPr/>
        </p:nvSpPr>
        <p:spPr>
          <a:xfrm>
            <a:off x="822960" y="1783080"/>
            <a:ext cx="4846320" cy="411480"/>
          </a:xfrm>
          <a:prstGeom prst="rect">
            <a:avLst/>
          </a:prstGeom>
          <a:noFill/>
          <a:ln/>
        </p:spPr>
        <p:txBody>
          <a:bodyPr wrap="square" lIns="0" tIns="0" rIns="0" bIns="0" rtlCol="0" anchor="ctr"/>
          <a:lstStyle/>
          <a:p>
            <a:pPr indent="0" marL="0">
              <a:buNone/>
            </a:pPr>
            <a:r>
              <a:rPr lang="en-US" sz="1800" b="1" dirty="0">
                <a:solidFill>
                  <a:schemeClr val="tx2"/>
                </a:solidFill>
              </a:rPr>
              <a:t>Lesley's concerns</a:t>
            </a:r>
            <a:endParaRPr lang="en-US" sz="1800" dirty="0"/>
          </a:p>
        </p:txBody>
      </p:sp>
      <p:sp>
        <p:nvSpPr>
          <p:cNvPr id="6" name="Text 4"/>
          <p:cNvSpPr txBox="1"/>
          <p:nvPr/>
        </p:nvSpPr>
        <p:spPr>
          <a:xfrm>
            <a:off x="822960" y="2286000"/>
            <a:ext cx="4892040" cy="3657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No audit trail of application statuses, only the current one</a:t>
            </a:r>
            <a:endParaRPr lang="en-US" sz="1500" dirty="0"/>
          </a:p>
          <a:p>
            <a:pPr marL="342900" indent="-342900">
              <a:spcAft>
                <a:spcPts val="1000"/>
              </a:spcAft>
              <a:buSzPct val="100000"/>
              <a:buChar char="•"/>
            </a:pPr>
            <a:r>
              <a:rPr lang="en-US" sz="1500" dirty="0">
                <a:solidFill>
                  <a:schemeClr val="tx1"/>
                </a:solidFill>
              </a:rPr>
              <a:t>Only live applications are reliable</a:t>
            </a:r>
            <a:endParaRPr lang="en-US" sz="1500" dirty="0"/>
          </a:p>
          <a:p>
            <a:pPr marL="342900" indent="-342900">
              <a:spcAft>
                <a:spcPts val="1000"/>
              </a:spcAft>
              <a:buSzPct val="100000"/>
              <a:buChar char="•"/>
            </a:pPr>
            <a:r>
              <a:rPr lang="en-US" sz="1500" dirty="0">
                <a:solidFill>
                  <a:schemeClr val="tx1"/>
                </a:solidFill>
              </a:rPr>
              <a:t>The conversion page is 2026/27, still in progress</a:t>
            </a:r>
            <a:endParaRPr lang="en-US" sz="1500" dirty="0"/>
          </a:p>
          <a:p>
            <a:pPr marL="342900" indent="-342900">
              <a:spcAft>
                <a:spcPts val="1000"/>
              </a:spcAft>
              <a:buSzPct val="100000"/>
              <a:buChar char="•"/>
            </a:pPr>
            <a:r>
              <a:rPr lang="en-US" sz="1500" dirty="0">
                <a:solidFill>
                  <a:schemeClr val="tx1"/>
                </a:solidFill>
              </a:rPr>
              <a:t>Not sure the 6-week enrolment point can be pulled</a:t>
            </a:r>
            <a:endParaRPr lang="en-US" sz="1500" dirty="0"/>
          </a:p>
          <a:p>
            <a:pPr marL="342900" indent="-342900">
              <a:spcAft>
                <a:spcPts val="1000"/>
              </a:spcAft>
              <a:buSzPct val="100000"/>
              <a:buChar char="•"/>
            </a:pPr>
            <a:r>
              <a:rPr lang="en-US" sz="1500" dirty="0">
                <a:solidFill>
                  <a:schemeClr val="tx1"/>
                </a:solidFill>
              </a:rPr>
              <a:t>Over-recruiting could mean students "haven't got a seat"</a:t>
            </a:r>
            <a:endParaRPr lang="en-US" sz="1500" dirty="0"/>
          </a:p>
        </p:txBody>
      </p:sp>
      <p:sp>
        <p:nvSpPr>
          <p:cNvPr id="7" name="map col"/>
          <p:cNvSpPr/>
          <p:nvPr/>
        </p:nvSpPr>
        <p:spPr>
          <a:xfrm>
            <a:off x="6217920" y="1645920"/>
            <a:ext cx="5394960" cy="4480560"/>
          </a:xfrm>
          <a:prstGeom prst="roundRect">
            <a:avLst>
              <a:gd name="adj" fmla="val 1633"/>
            </a:avLst>
          </a:prstGeom>
          <a:solidFill>
            <a:srgbClr val="FDF0DF"/>
          </a:solidFill>
          <a:ln w="12700">
            <a:solidFill>
              <a:srgbClr val="FDF0DF"/>
            </a:solidFill>
            <a:prstDash val="solid"/>
          </a:ln>
        </p:spPr>
      </p:sp>
      <p:sp>
        <p:nvSpPr>
          <p:cNvPr id="8" name="Text 6"/>
          <p:cNvSpPr txBox="1"/>
          <p:nvPr/>
        </p:nvSpPr>
        <p:spPr>
          <a:xfrm>
            <a:off x="6492240" y="1783080"/>
            <a:ext cx="4846320" cy="411480"/>
          </a:xfrm>
          <a:prstGeom prst="rect">
            <a:avLst/>
          </a:prstGeom>
          <a:noFill/>
          <a:ln/>
        </p:spPr>
        <p:txBody>
          <a:bodyPr wrap="square" lIns="0" tIns="0" rIns="0" bIns="0" rtlCol="0" anchor="ctr"/>
          <a:lstStyle/>
          <a:p>
            <a:pPr indent="0" marL="0">
              <a:buNone/>
            </a:pPr>
            <a:r>
              <a:rPr lang="en-US" sz="1800" b="1" dirty="0">
                <a:solidFill>
                  <a:schemeClr val="tx2"/>
                </a:solidFill>
              </a:rPr>
              <a:t>What the data map adds</a:t>
            </a:r>
            <a:endParaRPr lang="en-US" sz="1800" dirty="0"/>
          </a:p>
        </p:txBody>
      </p:sp>
      <p:sp>
        <p:nvSpPr>
          <p:cNvPr id="9" name="Text 7"/>
          <p:cNvSpPr txBox="1"/>
          <p:nvPr/>
        </p:nvSpPr>
        <p:spPr>
          <a:xfrm>
            <a:off x="6492240" y="2286000"/>
            <a:ext cx="4892040" cy="3657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23 of 98 system connections are manual</a:t>
            </a:r>
            <a:endParaRPr lang="en-US" sz="1500" dirty="0"/>
          </a:p>
          <a:p>
            <a:pPr marL="342900" indent="-342900">
              <a:spcAft>
                <a:spcPts val="1000"/>
              </a:spcAft>
              <a:buSzPct val="100000"/>
              <a:buChar char="•"/>
            </a:pPr>
            <a:r>
              <a:rPr lang="en-US" sz="1500" dirty="0">
                <a:solidFill>
                  <a:schemeClr val="tx1"/>
                </a:solidFill>
              </a:rPr>
              <a:t>Enquirer → UnitE is a manual step on the recruitment path</a:t>
            </a:r>
            <a:endParaRPr lang="en-US" sz="1500" dirty="0"/>
          </a:p>
          <a:p>
            <a:pPr marL="342900" indent="-342900">
              <a:spcAft>
                <a:spcPts val="1000"/>
              </a:spcAft>
              <a:buSzPct val="100000"/>
              <a:buChar char="•"/>
            </a:pPr>
            <a:r>
              <a:rPr lang="en-US" sz="1500" dirty="0">
                <a:solidFill>
                  <a:schemeClr val="tx1"/>
                </a:solidFill>
              </a:rPr>
              <a:t>Student destinations are assembled by hand from UCAS, NAD and universities</a:t>
            </a:r>
            <a:endParaRPr lang="en-US" sz="1500" dirty="0"/>
          </a:p>
          <a:p>
            <a:pPr marL="342900" indent="-342900">
              <a:spcAft>
                <a:spcPts val="1000"/>
              </a:spcAft>
              <a:buSzPct val="100000"/>
              <a:buChar char="•"/>
            </a:pPr>
            <a:r>
              <a:rPr lang="en-US" sz="1500" dirty="0">
                <a:solidFill>
                  <a:schemeClr val="tx1"/>
                </a:solidFill>
              </a:rPr>
              <a:t>Five systems feed Power BI through one SQL Server connector</a:t>
            </a:r>
            <a:endParaRPr lang="en-US" sz="1500" dirty="0"/>
          </a:p>
          <a:p>
            <a:pPr marL="342900" indent="-342900">
              <a:spcAft>
                <a:spcPts val="1000"/>
              </a:spcAft>
              <a:buSzPct val="100000"/>
              <a:buChar char="•"/>
            </a:pPr>
            <a:r>
              <a:rPr lang="en-US" sz="1500" dirty="0">
                <a:solidFill>
                  <a:schemeClr val="tx1"/>
                </a:solidFill>
              </a:rPr>
              <a:t>RA5's semantic model source is not yet confirmed</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How we will build the baseline</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Seven steps, starting with construction as the pilot area</a:t>
            </a:r>
            <a:endParaRPr lang="en-US" sz="1500" dirty="0"/>
          </a:p>
        </p:txBody>
      </p:sp>
      <p:sp>
        <p:nvSpPr>
          <p:cNvPr id="4" name="dot 1"/>
          <p:cNvSpPr/>
          <p:nvPr/>
        </p:nvSpPr>
        <p:spPr>
          <a:xfrm>
            <a:off x="1005840" y="178308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1005840" y="17830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step 1"/>
          <p:cNvSpPr/>
          <p:nvPr/>
        </p:nvSpPr>
        <p:spPr>
          <a:xfrm>
            <a:off x="548640" y="2560320"/>
            <a:ext cx="1463040" cy="2377440"/>
          </a:xfrm>
          <a:prstGeom prst="roundRect">
            <a:avLst>
              <a:gd name="adj" fmla="val 5000"/>
            </a:avLst>
          </a:prstGeom>
          <a:solidFill>
            <a:schemeClr val="bg2"/>
          </a:solidFill>
          <a:ln w="12700">
            <a:solidFill>
              <a:schemeClr val="bg2"/>
            </a:solidFill>
            <a:prstDash val="solid"/>
          </a:ln>
        </p:spPr>
      </p:sp>
      <p:sp>
        <p:nvSpPr>
          <p:cNvPr id="7" name="Text 5"/>
          <p:cNvSpPr txBox="1"/>
          <p:nvPr/>
        </p:nvSpPr>
        <p:spPr>
          <a:xfrm>
            <a:off x="640080" y="2697480"/>
            <a:ext cx="1280160" cy="411480"/>
          </a:xfrm>
          <a:prstGeom prst="rect">
            <a:avLst/>
          </a:prstGeom>
          <a:noFill/>
          <a:ln/>
        </p:spPr>
        <p:txBody>
          <a:bodyPr wrap="square" lIns="0" tIns="0" rIns="0" bIns="0" rtlCol="0" anchor="ctr"/>
          <a:lstStyle/>
          <a:p>
            <a:pPr algn="ctr" indent="0" marL="0">
              <a:buNone/>
            </a:pPr>
            <a:r>
              <a:rPr lang="en-US" sz="1500" b="1" dirty="0">
                <a:solidFill>
                  <a:schemeClr val="tx2"/>
                </a:solidFill>
              </a:rPr>
              <a:t>Collect</a:t>
            </a:r>
            <a:endParaRPr lang="en-US" sz="1500" dirty="0"/>
          </a:p>
        </p:txBody>
      </p:sp>
      <p:sp>
        <p:nvSpPr>
          <p:cNvPr id="8" name="Text 6"/>
          <p:cNvSpPr txBox="1"/>
          <p:nvPr/>
        </p:nvSpPr>
        <p:spPr>
          <a:xfrm>
            <a:off x="640080" y="3200400"/>
            <a:ext cx="1280160" cy="1645920"/>
          </a:xfrm>
          <a:prstGeom prst="rect">
            <a:avLst/>
          </a:prstGeom>
          <a:noFill/>
          <a:ln/>
        </p:spPr>
        <p:txBody>
          <a:bodyPr wrap="square" lIns="0" tIns="0" rIns="0" bIns="0" rtlCol="0" anchor="t"/>
          <a:lstStyle/>
          <a:p>
            <a:pPr algn="ctr" indent="0" marL="0">
              <a:buNone/>
            </a:pPr>
            <a:r>
              <a:rPr lang="en-US" sz="1250" dirty="0">
                <a:solidFill>
                  <a:schemeClr val="tx1"/>
                </a:solidFill>
              </a:rPr>
              <a:t>3 final years (2023/24 to 2025/26), course level</a:t>
            </a:r>
            <a:endParaRPr lang="en-US" sz="1250" dirty="0"/>
          </a:p>
        </p:txBody>
      </p:sp>
      <p:sp>
        <p:nvSpPr>
          <p:cNvPr id="9" name="dot 2"/>
          <p:cNvSpPr/>
          <p:nvPr/>
        </p:nvSpPr>
        <p:spPr>
          <a:xfrm>
            <a:off x="2612441" y="1783080"/>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2612441" y="17830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step 2"/>
          <p:cNvSpPr/>
          <p:nvPr/>
        </p:nvSpPr>
        <p:spPr>
          <a:xfrm>
            <a:off x="2155241" y="2560320"/>
            <a:ext cx="1463040" cy="2377440"/>
          </a:xfrm>
          <a:prstGeom prst="roundRect">
            <a:avLst>
              <a:gd name="adj" fmla="val 5000"/>
            </a:avLst>
          </a:prstGeom>
          <a:solidFill>
            <a:schemeClr val="bg2"/>
          </a:solidFill>
          <a:ln w="12700">
            <a:solidFill>
              <a:schemeClr val="bg2"/>
            </a:solidFill>
            <a:prstDash val="solid"/>
          </a:ln>
        </p:spPr>
      </p:sp>
      <p:sp>
        <p:nvSpPr>
          <p:cNvPr id="12" name="Text 10"/>
          <p:cNvSpPr txBox="1"/>
          <p:nvPr/>
        </p:nvSpPr>
        <p:spPr>
          <a:xfrm>
            <a:off x="2246681" y="2697480"/>
            <a:ext cx="1280160" cy="411480"/>
          </a:xfrm>
          <a:prstGeom prst="rect">
            <a:avLst/>
          </a:prstGeom>
          <a:noFill/>
          <a:ln/>
        </p:spPr>
        <p:txBody>
          <a:bodyPr wrap="square" lIns="0" tIns="0" rIns="0" bIns="0" rtlCol="0" anchor="ctr"/>
          <a:lstStyle/>
          <a:p>
            <a:pPr algn="ctr" indent="0" marL="0">
              <a:buNone/>
            </a:pPr>
            <a:r>
              <a:rPr lang="en-US" sz="1500" b="1" dirty="0">
                <a:solidFill>
                  <a:schemeClr val="tx2"/>
                </a:solidFill>
              </a:rPr>
              <a:t>Clean</a:t>
            </a:r>
            <a:endParaRPr lang="en-US" sz="1500" dirty="0"/>
          </a:p>
        </p:txBody>
      </p:sp>
      <p:sp>
        <p:nvSpPr>
          <p:cNvPr id="13" name="Text 11"/>
          <p:cNvSpPr txBox="1"/>
          <p:nvPr/>
        </p:nvSpPr>
        <p:spPr>
          <a:xfrm>
            <a:off x="2246681" y="3200400"/>
            <a:ext cx="1280160" cy="1645920"/>
          </a:xfrm>
          <a:prstGeom prst="rect">
            <a:avLst/>
          </a:prstGeom>
          <a:noFill/>
          <a:ln/>
        </p:spPr>
        <p:txBody>
          <a:bodyPr wrap="square" lIns="0" tIns="0" rIns="0" bIns="0" rtlCol="0" anchor="t"/>
          <a:lstStyle/>
          <a:p>
            <a:pPr algn="ctr" indent="0" marL="0">
              <a:buNone/>
            </a:pPr>
            <a:r>
              <a:rPr lang="en-US" sz="1250" dirty="0">
                <a:solidFill>
                  <a:schemeClr val="tx1"/>
                </a:solidFill>
              </a:rPr>
              <a:t>Live applications; group A/B sections; match code changes</a:t>
            </a:r>
            <a:endParaRPr lang="en-US" sz="1250" dirty="0"/>
          </a:p>
        </p:txBody>
      </p:sp>
      <p:sp>
        <p:nvSpPr>
          <p:cNvPr id="14" name="dot 3"/>
          <p:cNvSpPr/>
          <p:nvPr/>
        </p:nvSpPr>
        <p:spPr>
          <a:xfrm>
            <a:off x="4219042" y="178308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4219042" y="17830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step 3"/>
          <p:cNvSpPr/>
          <p:nvPr/>
        </p:nvSpPr>
        <p:spPr>
          <a:xfrm>
            <a:off x="3761842" y="2560320"/>
            <a:ext cx="1463040" cy="2377440"/>
          </a:xfrm>
          <a:prstGeom prst="roundRect">
            <a:avLst>
              <a:gd name="adj" fmla="val 5000"/>
            </a:avLst>
          </a:prstGeom>
          <a:solidFill>
            <a:schemeClr val="bg2"/>
          </a:solidFill>
          <a:ln w="12700">
            <a:solidFill>
              <a:schemeClr val="bg2"/>
            </a:solidFill>
            <a:prstDash val="solid"/>
          </a:ln>
        </p:spPr>
      </p:sp>
      <p:sp>
        <p:nvSpPr>
          <p:cNvPr id="17" name="Text 15"/>
          <p:cNvSpPr txBox="1"/>
          <p:nvPr/>
        </p:nvSpPr>
        <p:spPr>
          <a:xfrm>
            <a:off x="3853282" y="2697480"/>
            <a:ext cx="1280160" cy="411480"/>
          </a:xfrm>
          <a:prstGeom prst="rect">
            <a:avLst/>
          </a:prstGeom>
          <a:noFill/>
          <a:ln/>
        </p:spPr>
        <p:txBody>
          <a:bodyPr wrap="square" lIns="0" tIns="0" rIns="0" bIns="0" rtlCol="0" anchor="ctr"/>
          <a:lstStyle/>
          <a:p>
            <a:pPr algn="ctr" indent="0" marL="0">
              <a:buNone/>
            </a:pPr>
            <a:r>
              <a:rPr lang="en-US" sz="1500" b="1" dirty="0">
                <a:solidFill>
                  <a:schemeClr val="tx2"/>
                </a:solidFill>
              </a:rPr>
              <a:t>Calculate</a:t>
            </a:r>
            <a:endParaRPr lang="en-US" sz="1500" dirty="0"/>
          </a:p>
        </p:txBody>
      </p:sp>
      <p:sp>
        <p:nvSpPr>
          <p:cNvPr id="18" name="Text 16"/>
          <p:cNvSpPr txBox="1"/>
          <p:nvPr/>
        </p:nvSpPr>
        <p:spPr>
          <a:xfrm>
            <a:off x="3853282" y="3200400"/>
            <a:ext cx="1280160" cy="1645920"/>
          </a:xfrm>
          <a:prstGeom prst="rect">
            <a:avLst/>
          </a:prstGeom>
          <a:noFill/>
          <a:ln/>
        </p:spPr>
        <p:txBody>
          <a:bodyPr wrap="square" lIns="0" tIns="0" rIns="0" bIns="0" rtlCol="0" anchor="t"/>
          <a:lstStyle/>
          <a:p>
            <a:pPr algn="ctr" indent="0" marL="0">
              <a:buNone/>
            </a:pPr>
            <a:r>
              <a:rPr lang="en-US" sz="1250" dirty="0">
                <a:solidFill>
                  <a:schemeClr val="tx1"/>
                </a:solidFill>
              </a:rPr>
              <a:t>App → offer, offer → enrolment, enrolment → 6 weeks</a:t>
            </a:r>
            <a:endParaRPr lang="en-US" sz="1250" dirty="0"/>
          </a:p>
        </p:txBody>
      </p:sp>
      <p:sp>
        <p:nvSpPr>
          <p:cNvPr id="19" name="dot 4"/>
          <p:cNvSpPr/>
          <p:nvPr/>
        </p:nvSpPr>
        <p:spPr>
          <a:xfrm>
            <a:off x="5825642" y="1783080"/>
            <a:ext cx="548640" cy="548640"/>
          </a:xfrm>
          <a:prstGeom prst="ellipse">
            <a:avLst/>
          </a:prstGeom>
          <a:solidFill>
            <a:schemeClr val="accent2"/>
          </a:solidFill>
          <a:ln w="12700">
            <a:solidFill>
              <a:schemeClr val="accent2"/>
            </a:solidFill>
            <a:prstDash val="solid"/>
          </a:ln>
        </p:spPr>
      </p:sp>
      <p:sp>
        <p:nvSpPr>
          <p:cNvPr id="20" name="Text 18"/>
          <p:cNvSpPr txBox="1"/>
          <p:nvPr/>
        </p:nvSpPr>
        <p:spPr>
          <a:xfrm>
            <a:off x="5825642" y="17830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step 4"/>
          <p:cNvSpPr/>
          <p:nvPr/>
        </p:nvSpPr>
        <p:spPr>
          <a:xfrm>
            <a:off x="5368442" y="2560320"/>
            <a:ext cx="1463040" cy="2377440"/>
          </a:xfrm>
          <a:prstGeom prst="roundRect">
            <a:avLst>
              <a:gd name="adj" fmla="val 5000"/>
            </a:avLst>
          </a:prstGeom>
          <a:solidFill>
            <a:schemeClr val="accent6"/>
          </a:solidFill>
          <a:ln w="12700">
            <a:solidFill>
              <a:schemeClr val="accent6"/>
            </a:solidFill>
            <a:prstDash val="solid"/>
          </a:ln>
        </p:spPr>
      </p:sp>
      <p:sp>
        <p:nvSpPr>
          <p:cNvPr id="22" name="Text 20"/>
          <p:cNvSpPr txBox="1"/>
          <p:nvPr/>
        </p:nvSpPr>
        <p:spPr>
          <a:xfrm>
            <a:off x="5459882" y="2697480"/>
            <a:ext cx="1280160" cy="411480"/>
          </a:xfrm>
          <a:prstGeom prst="rect">
            <a:avLst/>
          </a:prstGeom>
          <a:noFill/>
          <a:ln/>
        </p:spPr>
        <p:txBody>
          <a:bodyPr wrap="square" lIns="0" tIns="0" rIns="0" bIns="0" rtlCol="0" anchor="ctr"/>
          <a:lstStyle/>
          <a:p>
            <a:pPr algn="ctr" indent="0" marL="0">
              <a:buNone/>
            </a:pPr>
            <a:r>
              <a:rPr lang="en-US" sz="1500" b="1" dirty="0">
                <a:solidFill>
                  <a:schemeClr val="tx2"/>
                </a:solidFill>
              </a:rPr>
              <a:t>Work back</a:t>
            </a:r>
            <a:endParaRPr lang="en-US" sz="1500" dirty="0"/>
          </a:p>
        </p:txBody>
      </p:sp>
      <p:sp>
        <p:nvSpPr>
          <p:cNvPr id="23" name="Text 21"/>
          <p:cNvSpPr txBox="1"/>
          <p:nvPr/>
        </p:nvSpPr>
        <p:spPr>
          <a:xfrm>
            <a:off x="5459882" y="3200400"/>
            <a:ext cx="1280160" cy="1645920"/>
          </a:xfrm>
          <a:prstGeom prst="rect">
            <a:avLst/>
          </a:prstGeom>
          <a:noFill/>
          <a:ln/>
        </p:spPr>
        <p:txBody>
          <a:bodyPr wrap="square" lIns="0" tIns="0" rIns="0" bIns="0" rtlCol="0" anchor="t"/>
          <a:lstStyle/>
          <a:p>
            <a:pPr algn="ctr" indent="0" marL="0">
              <a:buNone/>
            </a:pPr>
            <a:r>
              <a:rPr lang="en-US" sz="1250" dirty="0">
                <a:solidFill>
                  <a:schemeClr val="tx1"/>
                </a:solidFill>
              </a:rPr>
              <a:t>Target enrolments ÷ rates = target offers and applications</a:t>
            </a:r>
            <a:endParaRPr lang="en-US" sz="1250" dirty="0"/>
          </a:p>
        </p:txBody>
      </p:sp>
      <p:sp>
        <p:nvSpPr>
          <p:cNvPr id="24" name="dot 5"/>
          <p:cNvSpPr/>
          <p:nvPr/>
        </p:nvSpPr>
        <p:spPr>
          <a:xfrm>
            <a:off x="7432243" y="1783080"/>
            <a:ext cx="548640" cy="548640"/>
          </a:xfrm>
          <a:prstGeom prst="ellipse">
            <a:avLst/>
          </a:prstGeom>
          <a:solidFill>
            <a:schemeClr val="accent1"/>
          </a:solidFill>
          <a:ln w="12700">
            <a:solidFill>
              <a:schemeClr val="accent1"/>
            </a:solidFill>
            <a:prstDash val="solid"/>
          </a:ln>
        </p:spPr>
      </p:sp>
      <p:sp>
        <p:nvSpPr>
          <p:cNvPr id="25" name="Text 23"/>
          <p:cNvSpPr txBox="1"/>
          <p:nvPr/>
        </p:nvSpPr>
        <p:spPr>
          <a:xfrm>
            <a:off x="7432243" y="17830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step 5"/>
          <p:cNvSpPr/>
          <p:nvPr/>
        </p:nvSpPr>
        <p:spPr>
          <a:xfrm>
            <a:off x="6975043" y="2560320"/>
            <a:ext cx="1463040" cy="2377440"/>
          </a:xfrm>
          <a:prstGeom prst="roundRect">
            <a:avLst>
              <a:gd name="adj" fmla="val 5000"/>
            </a:avLst>
          </a:prstGeom>
          <a:solidFill>
            <a:schemeClr val="bg2"/>
          </a:solidFill>
          <a:ln w="12700">
            <a:solidFill>
              <a:schemeClr val="bg2"/>
            </a:solidFill>
            <a:prstDash val="solid"/>
          </a:ln>
        </p:spPr>
      </p:sp>
      <p:sp>
        <p:nvSpPr>
          <p:cNvPr id="27" name="Text 25"/>
          <p:cNvSpPr txBox="1"/>
          <p:nvPr/>
        </p:nvSpPr>
        <p:spPr>
          <a:xfrm>
            <a:off x="7066483" y="2697480"/>
            <a:ext cx="1280160" cy="411480"/>
          </a:xfrm>
          <a:prstGeom prst="rect">
            <a:avLst/>
          </a:prstGeom>
          <a:noFill/>
          <a:ln/>
        </p:spPr>
        <p:txBody>
          <a:bodyPr wrap="square" lIns="0" tIns="0" rIns="0" bIns="0" rtlCol="0" anchor="ctr"/>
          <a:lstStyle/>
          <a:p>
            <a:pPr algn="ctr" indent="0" marL="0">
              <a:buNone/>
            </a:pPr>
            <a:r>
              <a:rPr lang="en-US" sz="1500" b="1" dirty="0">
                <a:solidFill>
                  <a:schemeClr val="tx2"/>
                </a:solidFill>
              </a:rPr>
              <a:t>Compare</a:t>
            </a:r>
            <a:endParaRPr lang="en-US" sz="1500" dirty="0"/>
          </a:p>
        </p:txBody>
      </p:sp>
      <p:sp>
        <p:nvSpPr>
          <p:cNvPr id="28" name="Text 26"/>
          <p:cNvSpPr txBox="1"/>
          <p:nvPr/>
        </p:nvSpPr>
        <p:spPr>
          <a:xfrm>
            <a:off x="7066483" y="3200400"/>
            <a:ext cx="1280160" cy="1645920"/>
          </a:xfrm>
          <a:prstGeom prst="rect">
            <a:avLst/>
          </a:prstGeom>
          <a:noFill/>
          <a:ln/>
        </p:spPr>
        <p:txBody>
          <a:bodyPr wrap="square" lIns="0" tIns="0" rIns="0" bIns="0" rtlCol="0" anchor="t"/>
          <a:lstStyle/>
          <a:p>
            <a:pPr algn="ctr" indent="0" marL="0">
              <a:buNone/>
            </a:pPr>
            <a:r>
              <a:rPr lang="en-US" sz="1250" dirty="0">
                <a:solidFill>
                  <a:schemeClr val="tx1"/>
                </a:solidFill>
              </a:rPr>
              <a:t>Course-specific targets vs the 200% / 120% rule</a:t>
            </a:r>
            <a:endParaRPr lang="en-US" sz="1250" dirty="0"/>
          </a:p>
        </p:txBody>
      </p:sp>
      <p:sp>
        <p:nvSpPr>
          <p:cNvPr id="29" name="dot 6"/>
          <p:cNvSpPr/>
          <p:nvPr/>
        </p:nvSpPr>
        <p:spPr>
          <a:xfrm>
            <a:off x="9038844" y="1783080"/>
            <a:ext cx="548640" cy="548640"/>
          </a:xfrm>
          <a:prstGeom prst="ellipse">
            <a:avLst/>
          </a:prstGeom>
          <a:solidFill>
            <a:schemeClr val="accent1"/>
          </a:solidFill>
          <a:ln w="12700">
            <a:solidFill>
              <a:schemeClr val="accent1"/>
            </a:solidFill>
            <a:prstDash val="solid"/>
          </a:ln>
        </p:spPr>
      </p:sp>
      <p:sp>
        <p:nvSpPr>
          <p:cNvPr id="30" name="Text 28"/>
          <p:cNvSpPr txBox="1"/>
          <p:nvPr/>
        </p:nvSpPr>
        <p:spPr>
          <a:xfrm>
            <a:off x="9038844" y="17830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1" name="step 6"/>
          <p:cNvSpPr/>
          <p:nvPr/>
        </p:nvSpPr>
        <p:spPr>
          <a:xfrm>
            <a:off x="8581644" y="2560320"/>
            <a:ext cx="1463040" cy="2377440"/>
          </a:xfrm>
          <a:prstGeom prst="roundRect">
            <a:avLst>
              <a:gd name="adj" fmla="val 5000"/>
            </a:avLst>
          </a:prstGeom>
          <a:solidFill>
            <a:schemeClr val="bg2"/>
          </a:solidFill>
          <a:ln w="12700">
            <a:solidFill>
              <a:schemeClr val="bg2"/>
            </a:solidFill>
            <a:prstDash val="solid"/>
          </a:ln>
        </p:spPr>
      </p:sp>
      <p:sp>
        <p:nvSpPr>
          <p:cNvPr id="32" name="Text 30"/>
          <p:cNvSpPr txBox="1"/>
          <p:nvPr/>
        </p:nvSpPr>
        <p:spPr>
          <a:xfrm>
            <a:off x="8673084" y="2697480"/>
            <a:ext cx="1280160" cy="411480"/>
          </a:xfrm>
          <a:prstGeom prst="rect">
            <a:avLst/>
          </a:prstGeom>
          <a:noFill/>
          <a:ln/>
        </p:spPr>
        <p:txBody>
          <a:bodyPr wrap="square" lIns="0" tIns="0" rIns="0" bIns="0" rtlCol="0" anchor="ctr"/>
          <a:lstStyle/>
          <a:p>
            <a:pPr algn="ctr" indent="0" marL="0">
              <a:buNone/>
            </a:pPr>
            <a:r>
              <a:rPr lang="en-US" sz="1500" b="1" dirty="0">
                <a:solidFill>
                  <a:schemeClr val="tx2"/>
                </a:solidFill>
              </a:rPr>
              <a:t>Flag</a:t>
            </a:r>
            <a:endParaRPr lang="en-US" sz="1500" dirty="0"/>
          </a:p>
        </p:txBody>
      </p:sp>
      <p:sp>
        <p:nvSpPr>
          <p:cNvPr id="33" name="Text 31"/>
          <p:cNvSpPr txBox="1"/>
          <p:nvPr/>
        </p:nvSpPr>
        <p:spPr>
          <a:xfrm>
            <a:off x="8673084" y="3200400"/>
            <a:ext cx="1280160" cy="1645920"/>
          </a:xfrm>
          <a:prstGeom prst="rect">
            <a:avLst/>
          </a:prstGeom>
          <a:noFill/>
          <a:ln/>
        </p:spPr>
        <p:txBody>
          <a:bodyPr wrap="square" lIns="0" tIns="0" rIns="0" bIns="0" rtlCol="0" anchor="t"/>
          <a:lstStyle/>
          <a:p>
            <a:pPr algn="ctr" indent="0" marL="0">
              <a:buNone/>
            </a:pPr>
            <a:r>
              <a:rPr lang="en-US" sz="1250" dirty="0">
                <a:solidFill>
                  <a:schemeClr val="tx1"/>
                </a:solidFill>
              </a:rPr>
              <a:t>Low converters, drop-off stage, small or new courses</a:t>
            </a:r>
            <a:endParaRPr lang="en-US" sz="1250" dirty="0"/>
          </a:p>
        </p:txBody>
      </p:sp>
      <p:sp>
        <p:nvSpPr>
          <p:cNvPr id="34" name="dot 7"/>
          <p:cNvSpPr/>
          <p:nvPr/>
        </p:nvSpPr>
        <p:spPr>
          <a:xfrm>
            <a:off x="10645445" y="1783080"/>
            <a:ext cx="548640" cy="548640"/>
          </a:xfrm>
          <a:prstGeom prst="ellipse">
            <a:avLst/>
          </a:prstGeom>
          <a:solidFill>
            <a:schemeClr val="accent1"/>
          </a:solidFill>
          <a:ln w="12700">
            <a:solidFill>
              <a:schemeClr val="accent1"/>
            </a:solidFill>
            <a:prstDash val="solid"/>
          </a:ln>
        </p:spPr>
      </p:sp>
      <p:sp>
        <p:nvSpPr>
          <p:cNvPr id="35" name="Text 33"/>
          <p:cNvSpPr txBox="1"/>
          <p:nvPr/>
        </p:nvSpPr>
        <p:spPr>
          <a:xfrm>
            <a:off x="10645445" y="178308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6" name="step 7"/>
          <p:cNvSpPr/>
          <p:nvPr/>
        </p:nvSpPr>
        <p:spPr>
          <a:xfrm>
            <a:off x="10188245" y="2560320"/>
            <a:ext cx="1463040" cy="2377440"/>
          </a:xfrm>
          <a:prstGeom prst="roundRect">
            <a:avLst>
              <a:gd name="adj" fmla="val 5000"/>
            </a:avLst>
          </a:prstGeom>
          <a:solidFill>
            <a:schemeClr val="bg2"/>
          </a:solidFill>
          <a:ln w="12700">
            <a:solidFill>
              <a:schemeClr val="bg2"/>
            </a:solidFill>
            <a:prstDash val="solid"/>
          </a:ln>
        </p:spPr>
      </p:sp>
      <p:sp>
        <p:nvSpPr>
          <p:cNvPr id="37" name="Text 35"/>
          <p:cNvSpPr txBox="1"/>
          <p:nvPr/>
        </p:nvSpPr>
        <p:spPr>
          <a:xfrm>
            <a:off x="10279685" y="2697480"/>
            <a:ext cx="1280160" cy="411480"/>
          </a:xfrm>
          <a:prstGeom prst="rect">
            <a:avLst/>
          </a:prstGeom>
          <a:noFill/>
          <a:ln/>
        </p:spPr>
        <p:txBody>
          <a:bodyPr wrap="square" lIns="0" tIns="0" rIns="0" bIns="0" rtlCol="0" anchor="ctr"/>
          <a:lstStyle/>
          <a:p>
            <a:pPr algn="ctr" indent="0" marL="0">
              <a:buNone/>
            </a:pPr>
            <a:r>
              <a:rPr lang="en-US" sz="1500" b="1" dirty="0">
                <a:solidFill>
                  <a:schemeClr val="tx2"/>
                </a:solidFill>
              </a:rPr>
              <a:t>Review</a:t>
            </a:r>
            <a:endParaRPr lang="en-US" sz="1500" dirty="0"/>
          </a:p>
        </p:txBody>
      </p:sp>
      <p:sp>
        <p:nvSpPr>
          <p:cNvPr id="38" name="Text 36"/>
          <p:cNvSpPr txBox="1"/>
          <p:nvPr/>
        </p:nvSpPr>
        <p:spPr>
          <a:xfrm>
            <a:off x="10279685" y="3200400"/>
            <a:ext cx="1280160" cy="1645920"/>
          </a:xfrm>
          <a:prstGeom prst="rect">
            <a:avLst/>
          </a:prstGeom>
          <a:noFill/>
          <a:ln/>
        </p:spPr>
        <p:txBody>
          <a:bodyPr wrap="square" lIns="0" tIns="0" rIns="0" bIns="0" rtlCol="0" anchor="t"/>
          <a:lstStyle/>
          <a:p>
            <a:pPr algn="ctr" indent="0" marL="0">
              <a:buNone/>
            </a:pPr>
            <a:r>
              <a:rPr lang="en-US" sz="1250" dirty="0">
                <a:solidFill>
                  <a:schemeClr val="tx1"/>
                </a:solidFill>
              </a:rPr>
              <a:t>Lesley and Lyndsay, then Directors and Sarah</a:t>
            </a:r>
            <a:endParaRPr lang="en-US" sz="1250" dirty="0"/>
          </a:p>
        </p:txBody>
      </p:sp>
      <p:sp>
        <p:nvSpPr>
          <p:cNvPr id="39" name="example"/>
          <p:cNvSpPr/>
          <p:nvPr/>
        </p:nvSpPr>
        <p:spPr>
          <a:xfrm>
            <a:off x="548640" y="5257800"/>
            <a:ext cx="11064240" cy="868680"/>
          </a:xfrm>
          <a:prstGeom prst="roundRect">
            <a:avLst>
              <a:gd name="adj" fmla="val 8421"/>
            </a:avLst>
          </a:prstGeom>
          <a:solidFill>
            <a:schemeClr val="accent5"/>
          </a:solidFill>
          <a:ln w="12700">
            <a:solidFill>
              <a:schemeClr val="accent5"/>
            </a:solidFill>
            <a:prstDash val="solid"/>
          </a:ln>
        </p:spPr>
      </p:sp>
      <p:sp>
        <p:nvSpPr>
          <p:cNvPr id="40" name="Text 38"/>
          <p:cNvSpPr txBox="1"/>
          <p:nvPr/>
        </p:nvSpPr>
        <p:spPr>
          <a:xfrm>
            <a:off x="822960" y="5257800"/>
            <a:ext cx="10607040" cy="868680"/>
          </a:xfrm>
          <a:prstGeom prst="rect">
            <a:avLst/>
          </a:prstGeom>
          <a:noFill/>
          <a:ln/>
        </p:spPr>
        <p:txBody>
          <a:bodyPr wrap="square" lIns="0" tIns="0" rIns="0" bIns="0" rtlCol="0" anchor="ctr"/>
          <a:lstStyle/>
          <a:p>
            <a:pPr indent="0" marL="0">
              <a:buNone/>
            </a:pPr>
            <a:r>
              <a:rPr lang="en-US" sz="1400" b="1" dirty="0">
                <a:solidFill>
                  <a:schemeClr val="tx2"/>
                </a:solidFill>
              </a:rPr>
              <a:t>Example of step 4:  </a:t>
            </a:r>
            <a:pPr indent="0" marL="0">
              <a:buNone/>
            </a:pPr>
            <a:r>
              <a:rPr lang="en-US" sz="1400" dirty="0">
                <a:solidFill>
                  <a:schemeClr val="tx1"/>
                </a:solidFill>
              </a:rPr>
              <a:t>if 75% of a course's offers become enrolments, 20 places need about 27 offers, not the 24 the blanket rule gives.</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Progress so far</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Where each piece of work stands at the start of October</a:t>
            </a:r>
            <a:endParaRPr lang="en-US" sz="1500" dirty="0"/>
          </a:p>
        </p:txBody>
      </p:sp>
      <p:sp>
        <p:nvSpPr>
          <p:cNvPr id="4" name="progress Done"/>
          <p:cNvSpPr/>
          <p:nvPr/>
        </p:nvSpPr>
        <p:spPr>
          <a:xfrm>
            <a:off x="548640" y="1645920"/>
            <a:ext cx="3520440" cy="4480560"/>
          </a:xfrm>
          <a:prstGeom prst="roundRect">
            <a:avLst>
              <a:gd name="adj" fmla="val 2078"/>
            </a:avLst>
          </a:prstGeom>
          <a:solidFill>
            <a:schemeClr val="accent6"/>
          </a:solidFill>
          <a:ln w="12700">
            <a:solidFill>
              <a:schemeClr val="accent6"/>
            </a:solidFill>
            <a:prstDash val="solid"/>
          </a:ln>
        </p:spPr>
      </p:sp>
      <p:sp>
        <p:nvSpPr>
          <p:cNvPr id="5" name="progress tag Done"/>
          <p:cNvSpPr/>
          <p:nvPr/>
        </p:nvSpPr>
        <p:spPr>
          <a:xfrm>
            <a:off x="822960" y="1874520"/>
            <a:ext cx="1828800" cy="411480"/>
          </a:xfrm>
          <a:prstGeom prst="roundRect">
            <a:avLst>
              <a:gd name="adj" fmla="val 48889"/>
            </a:avLst>
          </a:prstGeom>
          <a:solidFill>
            <a:schemeClr val="accent2"/>
          </a:solidFill>
          <a:ln w="12700">
            <a:solidFill>
              <a:schemeClr val="accent2"/>
            </a:solidFill>
            <a:prstDash val="solid"/>
          </a:ln>
        </p:spPr>
      </p:sp>
      <p:sp>
        <p:nvSpPr>
          <p:cNvPr id="6" name="Text 4"/>
          <p:cNvSpPr txBox="1"/>
          <p:nvPr/>
        </p:nvSpPr>
        <p:spPr>
          <a:xfrm>
            <a:off x="822960" y="1874520"/>
            <a:ext cx="1828800" cy="411480"/>
          </a:xfrm>
          <a:prstGeom prst="rect">
            <a:avLst/>
          </a:prstGeom>
          <a:noFill/>
          <a:ln/>
        </p:spPr>
        <p:txBody>
          <a:bodyPr wrap="square" lIns="0" tIns="0" rIns="0" bIns="0" rtlCol="0" anchor="ctr"/>
          <a:lstStyle/>
          <a:p>
            <a:pPr algn="ctr" indent="0" marL="0">
              <a:buNone/>
            </a:pPr>
            <a:r>
              <a:rPr lang="en-US" sz="1400" b="1" dirty="0">
                <a:solidFill>
                  <a:schemeClr val="bg1"/>
                </a:solidFill>
              </a:rPr>
              <a:t>Done</a:t>
            </a:r>
            <a:endParaRPr lang="en-US" sz="1400" dirty="0"/>
          </a:p>
        </p:txBody>
      </p:sp>
      <p:sp>
        <p:nvSpPr>
          <p:cNvPr id="7" name="Text 5"/>
          <p:cNvSpPr txBox="1"/>
          <p:nvPr/>
        </p:nvSpPr>
        <p:spPr>
          <a:xfrm>
            <a:off x="822960" y="2514600"/>
            <a:ext cx="3017520" cy="34747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Meeting summary, report and plan</a:t>
            </a:r>
            <a:endParaRPr lang="en-US" sz="1400" dirty="0"/>
          </a:p>
          <a:p>
            <a:pPr marL="342900" indent="-342900">
              <a:spcAft>
                <a:spcPts val="1000"/>
              </a:spcAft>
              <a:buSzPct val="100000"/>
              <a:buChar char="•"/>
            </a:pPr>
            <a:r>
              <a:rPr lang="en-US" sz="1400" dirty="0">
                <a:solidFill>
                  <a:schemeClr val="tx1"/>
                </a:solidFill>
              </a:rPr>
              <a:t>Student system data map (209 systems, 98 connections), aligned with Kevin</a:t>
            </a:r>
            <a:endParaRPr lang="en-US" sz="1400" dirty="0"/>
          </a:p>
          <a:p>
            <a:pPr marL="342900" indent="-342900">
              <a:spcAft>
                <a:spcPts val="1000"/>
              </a:spcAft>
              <a:buSzPct val="100000"/>
              <a:buChar char="•"/>
            </a:pPr>
            <a:r>
              <a:rPr lang="en-US" sz="1400" dirty="0">
                <a:solidFill>
                  <a:schemeClr val="tx1"/>
                </a:solidFill>
              </a:rPr>
              <a:t>Plan and data request sent to Lyndsay, cc Darren</a:t>
            </a:r>
            <a:endParaRPr lang="en-US" sz="1400" dirty="0"/>
          </a:p>
          <a:p>
            <a:pPr marL="342900" indent="-342900">
              <a:spcAft>
                <a:spcPts val="1000"/>
              </a:spcAft>
              <a:buSzPct val="100000"/>
              <a:buChar char="•"/>
            </a:pPr>
            <a:r>
              <a:rPr lang="en-US" sz="1400" dirty="0">
                <a:solidFill>
                  <a:schemeClr val="tx1"/>
                </a:solidFill>
              </a:rPr>
              <a:t>RA5 exploration log set up</a:t>
            </a:r>
            <a:endParaRPr lang="en-US" sz="1400" dirty="0"/>
          </a:p>
        </p:txBody>
      </p:sp>
      <p:sp>
        <p:nvSpPr>
          <p:cNvPr id="8" name="progress In progress"/>
          <p:cNvSpPr/>
          <p:nvPr/>
        </p:nvSpPr>
        <p:spPr>
          <a:xfrm>
            <a:off x="4297680" y="1645920"/>
            <a:ext cx="3520440" cy="4480560"/>
          </a:xfrm>
          <a:prstGeom prst="roundRect">
            <a:avLst>
              <a:gd name="adj" fmla="val 2078"/>
            </a:avLst>
          </a:prstGeom>
          <a:solidFill>
            <a:schemeClr val="accent5"/>
          </a:solidFill>
          <a:ln w="12700">
            <a:solidFill>
              <a:schemeClr val="accent5"/>
            </a:solidFill>
            <a:prstDash val="solid"/>
          </a:ln>
        </p:spPr>
      </p:sp>
      <p:sp>
        <p:nvSpPr>
          <p:cNvPr id="9" name="progress tag In progress"/>
          <p:cNvSpPr/>
          <p:nvPr/>
        </p:nvSpPr>
        <p:spPr>
          <a:xfrm>
            <a:off x="4572000" y="1874520"/>
            <a:ext cx="1828800" cy="411480"/>
          </a:xfrm>
          <a:prstGeom prst="roundRect">
            <a:avLst>
              <a:gd name="adj" fmla="val 48889"/>
            </a:avLst>
          </a:prstGeom>
          <a:solidFill>
            <a:schemeClr val="accent1"/>
          </a:solidFill>
          <a:ln w="12700">
            <a:solidFill>
              <a:schemeClr val="accent1"/>
            </a:solidFill>
            <a:prstDash val="solid"/>
          </a:ln>
        </p:spPr>
      </p:sp>
      <p:sp>
        <p:nvSpPr>
          <p:cNvPr id="10" name="Text 8"/>
          <p:cNvSpPr txBox="1"/>
          <p:nvPr/>
        </p:nvSpPr>
        <p:spPr>
          <a:xfrm>
            <a:off x="4572000" y="1874520"/>
            <a:ext cx="1828800" cy="411480"/>
          </a:xfrm>
          <a:prstGeom prst="rect">
            <a:avLst/>
          </a:prstGeom>
          <a:noFill/>
          <a:ln/>
        </p:spPr>
        <p:txBody>
          <a:bodyPr wrap="square" lIns="0" tIns="0" rIns="0" bIns="0" rtlCol="0" anchor="ctr"/>
          <a:lstStyle/>
          <a:p>
            <a:pPr algn="ctr" indent="0" marL="0">
              <a:buNone/>
            </a:pPr>
            <a:r>
              <a:rPr lang="en-US" sz="1400" b="1" dirty="0">
                <a:solidFill>
                  <a:schemeClr val="bg1"/>
                </a:solidFill>
              </a:rPr>
              <a:t>In progress</a:t>
            </a:r>
            <a:endParaRPr lang="en-US" sz="1400" dirty="0"/>
          </a:p>
        </p:txBody>
      </p:sp>
      <p:sp>
        <p:nvSpPr>
          <p:cNvPr id="11" name="Text 9"/>
          <p:cNvSpPr txBox="1"/>
          <p:nvPr/>
        </p:nvSpPr>
        <p:spPr>
          <a:xfrm>
            <a:off x="4572000" y="2514600"/>
            <a:ext cx="3017520" cy="34747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Exploring RA5: pages, filters, definitions</a:t>
            </a:r>
            <a:endParaRPr lang="en-US" sz="1400" dirty="0"/>
          </a:p>
          <a:p>
            <a:pPr marL="342900" indent="-342900">
              <a:spcAft>
                <a:spcPts val="1000"/>
              </a:spcAft>
              <a:buSzPct val="100000"/>
              <a:buChar char="•"/>
            </a:pPr>
            <a:r>
              <a:rPr lang="en-US" sz="1400" dirty="0">
                <a:solidFill>
                  <a:schemeClr val="tx1"/>
                </a:solidFill>
              </a:rPr>
              <a:t>Hand checks of conversion rates, course by course</a:t>
            </a:r>
            <a:endParaRPr lang="en-US" sz="1400" dirty="0"/>
          </a:p>
          <a:p>
            <a:pPr marL="342900" indent="-342900">
              <a:spcAft>
                <a:spcPts val="1000"/>
              </a:spcAft>
              <a:buSzPct val="100000"/>
              <a:buChar char="•"/>
            </a:pPr>
            <a:r>
              <a:rPr lang="en-US" sz="1400" dirty="0">
                <a:solidFill>
                  <a:schemeClr val="tx1"/>
                </a:solidFill>
              </a:rPr>
              <a:t>Recording filters with every number</a:t>
            </a:r>
            <a:endParaRPr lang="en-US" sz="1400" dirty="0"/>
          </a:p>
        </p:txBody>
      </p:sp>
      <p:sp>
        <p:nvSpPr>
          <p:cNvPr id="12" name="progress Waiting on others"/>
          <p:cNvSpPr/>
          <p:nvPr/>
        </p:nvSpPr>
        <p:spPr>
          <a:xfrm>
            <a:off x="8046720" y="1645920"/>
            <a:ext cx="3520440" cy="4480560"/>
          </a:xfrm>
          <a:prstGeom prst="roundRect">
            <a:avLst>
              <a:gd name="adj" fmla="val 2078"/>
            </a:avLst>
          </a:prstGeom>
          <a:solidFill>
            <a:srgbClr val="FDF0DF"/>
          </a:solidFill>
          <a:ln w="12700">
            <a:solidFill>
              <a:srgbClr val="FDF0DF"/>
            </a:solidFill>
            <a:prstDash val="solid"/>
          </a:ln>
        </p:spPr>
      </p:sp>
      <p:sp>
        <p:nvSpPr>
          <p:cNvPr id="13" name="progress tag Waiting on others"/>
          <p:cNvSpPr/>
          <p:nvPr/>
        </p:nvSpPr>
        <p:spPr>
          <a:xfrm>
            <a:off x="8321040" y="1874520"/>
            <a:ext cx="1828800" cy="411480"/>
          </a:xfrm>
          <a:prstGeom prst="roundRect">
            <a:avLst>
              <a:gd name="adj" fmla="val 48889"/>
            </a:avLst>
          </a:prstGeom>
          <a:solidFill>
            <a:schemeClr val="accent3"/>
          </a:solidFill>
          <a:ln w="12700">
            <a:solidFill>
              <a:schemeClr val="accent3"/>
            </a:solidFill>
            <a:prstDash val="solid"/>
          </a:ln>
        </p:spPr>
      </p:sp>
      <p:sp>
        <p:nvSpPr>
          <p:cNvPr id="14" name="Text 12"/>
          <p:cNvSpPr txBox="1"/>
          <p:nvPr/>
        </p:nvSpPr>
        <p:spPr>
          <a:xfrm>
            <a:off x="8321040" y="1874520"/>
            <a:ext cx="1828800" cy="411480"/>
          </a:xfrm>
          <a:prstGeom prst="rect">
            <a:avLst/>
          </a:prstGeom>
          <a:noFill/>
          <a:ln/>
        </p:spPr>
        <p:txBody>
          <a:bodyPr wrap="square" lIns="0" tIns="0" rIns="0" bIns="0" rtlCol="0" anchor="ctr"/>
          <a:lstStyle/>
          <a:p>
            <a:pPr algn="ctr" indent="0" marL="0">
              <a:buNone/>
            </a:pPr>
            <a:r>
              <a:rPr lang="en-US" sz="1400" b="1" dirty="0">
                <a:solidFill>
                  <a:schemeClr val="bg1"/>
                </a:solidFill>
              </a:rPr>
              <a:t>Waiting on others</a:t>
            </a:r>
            <a:endParaRPr lang="en-US" sz="1400" dirty="0"/>
          </a:p>
        </p:txBody>
      </p:sp>
      <p:sp>
        <p:nvSpPr>
          <p:cNvPr id="15" name="Text 13"/>
          <p:cNvSpPr txBox="1"/>
          <p:nvPr/>
        </p:nvSpPr>
        <p:spPr>
          <a:xfrm>
            <a:off x="8321040" y="2514600"/>
            <a:ext cx="3017520" cy="34747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Lesley: conversion measure, past years, credit statuses</a:t>
            </a:r>
            <a:endParaRPr lang="en-US" sz="1400" dirty="0"/>
          </a:p>
          <a:p>
            <a:pPr marL="342900" indent="-342900">
              <a:spcAft>
                <a:spcPts val="1000"/>
              </a:spcAft>
              <a:buSzPct val="100000"/>
              <a:buChar char="•"/>
            </a:pPr>
            <a:r>
              <a:rPr lang="en-US" sz="1400" dirty="0">
                <a:solidFill>
                  <a:schemeClr val="tx1"/>
                </a:solidFill>
              </a:rPr>
              <a:t>Lyndsay: targets, capacities, credits report, waiting list</a:t>
            </a:r>
            <a:endParaRPr lang="en-US" sz="1400" dirty="0"/>
          </a:p>
          <a:p>
            <a:pPr marL="342900" indent="-342900">
              <a:spcAft>
                <a:spcPts val="1000"/>
              </a:spcAft>
              <a:buSzPct val="100000"/>
              <a:buChar char="•"/>
            </a:pPr>
            <a:r>
              <a:rPr lang="en-US" sz="1400" dirty="0">
                <a:solidFill>
                  <a:schemeClr val="tx1"/>
                </a:solidFill>
              </a:rPr>
              <a:t>Kevin: tables behind the RA5 semantic model</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chemeClr val="tx2"/>
                </a:solidFill>
              </a:rPr>
              <a:t>Next steps and what I need</a:t>
            </a:r>
            <a:endParaRPr lang="en-US" sz="32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indent="0" marL="0">
              <a:buNone/>
            </a:pPr>
            <a:r>
              <a:rPr lang="en-US" sz="1500" dirty="0">
                <a:solidFill>
                  <a:schemeClr val="tx1"/>
                </a:solidFill>
              </a:rPr>
              <a:t>Aim: a construction prototype ready for the check-in after the October break; the full baseline before Christmas</a:t>
            </a:r>
            <a:endParaRPr lang="en-US" sz="1500" dirty="0"/>
          </a:p>
        </p:txBody>
      </p:sp>
      <p:sp>
        <p:nvSpPr>
          <p:cNvPr id="4" name="dot 1"/>
          <p:cNvSpPr/>
          <p:nvPr/>
        </p:nvSpPr>
        <p:spPr>
          <a:xfrm>
            <a:off x="1527048" y="1737360"/>
            <a:ext cx="640080" cy="640080"/>
          </a:xfrm>
          <a:prstGeom prst="ellipse">
            <a:avLst/>
          </a:prstGeom>
          <a:solidFill>
            <a:schemeClr val="accent1"/>
          </a:solidFill>
          <a:ln w="12700">
            <a:solidFill>
              <a:schemeClr val="accent1"/>
            </a:solidFill>
            <a:prstDash val="solid"/>
          </a:ln>
        </p:spPr>
      </p:sp>
      <p:sp>
        <p:nvSpPr>
          <p:cNvPr id="5" name="Text 3"/>
          <p:cNvSpPr txBox="1"/>
          <p:nvPr/>
        </p:nvSpPr>
        <p:spPr>
          <a:xfrm>
            <a:off x="1527048" y="17373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Shape 4"/>
          <p:cNvSpPr/>
          <p:nvPr/>
        </p:nvSpPr>
        <p:spPr>
          <a:xfrm>
            <a:off x="2240280" y="2057400"/>
            <a:ext cx="2176272" cy="0"/>
          </a:xfrm>
          <a:prstGeom prst="line">
            <a:avLst/>
          </a:prstGeom>
          <a:noFill/>
          <a:ln w="25400">
            <a:solidFill>
              <a:schemeClr val="accent5"/>
            </a:solidFill>
            <a:prstDash val="solid"/>
          </a:ln>
        </p:spPr>
      </p:sp>
      <p:sp>
        <p:nvSpPr>
          <p:cNvPr id="7" name="timeline 1"/>
          <p:cNvSpPr/>
          <p:nvPr/>
        </p:nvSpPr>
        <p:spPr>
          <a:xfrm>
            <a:off x="548640" y="2606040"/>
            <a:ext cx="2606040" cy="1828800"/>
          </a:xfrm>
          <a:prstGeom prst="roundRect">
            <a:avLst>
              <a:gd name="adj" fmla="val 4000"/>
            </a:avLst>
          </a:prstGeom>
          <a:solidFill>
            <a:schemeClr val="bg2"/>
          </a:solidFill>
          <a:ln w="12700">
            <a:solidFill>
              <a:schemeClr val="bg2"/>
            </a:solidFill>
            <a:prstDash val="solid"/>
          </a:ln>
        </p:spPr>
      </p:sp>
      <p:sp>
        <p:nvSpPr>
          <p:cNvPr id="8" name="Text 6"/>
          <p:cNvSpPr txBox="1"/>
          <p:nvPr/>
        </p:nvSpPr>
        <p:spPr>
          <a:xfrm>
            <a:off x="640080" y="2697480"/>
            <a:ext cx="2423160" cy="411480"/>
          </a:xfrm>
          <a:prstGeom prst="rect">
            <a:avLst/>
          </a:prstGeom>
          <a:noFill/>
          <a:ln/>
        </p:spPr>
        <p:txBody>
          <a:bodyPr wrap="square" lIns="0" tIns="0" rIns="0" bIns="0" rtlCol="0" anchor="ctr"/>
          <a:lstStyle/>
          <a:p>
            <a:pPr algn="ctr" indent="0" marL="0">
              <a:buNone/>
            </a:pPr>
            <a:r>
              <a:rPr lang="en-US" sz="1500" b="1" dirty="0">
                <a:solidFill>
                  <a:schemeClr val="tx2"/>
                </a:solidFill>
              </a:rPr>
              <a:t>Now</a:t>
            </a:r>
            <a:endParaRPr lang="en-US" sz="1500" dirty="0"/>
          </a:p>
        </p:txBody>
      </p:sp>
      <p:sp>
        <p:nvSpPr>
          <p:cNvPr id="9" name="Text 7"/>
          <p:cNvSpPr txBox="1"/>
          <p:nvPr/>
        </p:nvSpPr>
        <p:spPr>
          <a:xfrm>
            <a:off x="731520" y="3154680"/>
            <a:ext cx="2240280" cy="1234440"/>
          </a:xfrm>
          <a:prstGeom prst="rect">
            <a:avLst/>
          </a:prstGeom>
          <a:noFill/>
          <a:ln/>
        </p:spPr>
        <p:txBody>
          <a:bodyPr wrap="square" lIns="0" tIns="0" rIns="0" bIns="0" rtlCol="0" anchor="t"/>
          <a:lstStyle/>
          <a:p>
            <a:pPr algn="ctr" indent="0" marL="0">
              <a:buNone/>
            </a:pPr>
            <a:r>
              <a:rPr lang="en-US" sz="1250" dirty="0">
                <a:solidFill>
                  <a:schemeClr val="tx1"/>
                </a:solidFill>
              </a:rPr>
              <a:t>Collect answers from Lesley, Lyndsay and Kevin; finish the definitions sheet and issues log</a:t>
            </a:r>
            <a:endParaRPr lang="en-US" sz="1250" dirty="0"/>
          </a:p>
        </p:txBody>
      </p:sp>
      <p:sp>
        <p:nvSpPr>
          <p:cNvPr id="10" name="dot 2"/>
          <p:cNvSpPr/>
          <p:nvPr/>
        </p:nvSpPr>
        <p:spPr>
          <a:xfrm>
            <a:off x="4343400" y="1737360"/>
            <a:ext cx="640080" cy="640080"/>
          </a:xfrm>
          <a:prstGeom prst="ellipse">
            <a:avLst/>
          </a:prstGeom>
          <a:solidFill>
            <a:schemeClr val="accent1"/>
          </a:solidFill>
          <a:ln w="12700">
            <a:solidFill>
              <a:schemeClr val="accent1"/>
            </a:solidFill>
            <a:prstDash val="solid"/>
          </a:ln>
        </p:spPr>
      </p:sp>
      <p:sp>
        <p:nvSpPr>
          <p:cNvPr id="11" name="Text 9"/>
          <p:cNvSpPr txBox="1"/>
          <p:nvPr/>
        </p:nvSpPr>
        <p:spPr>
          <a:xfrm>
            <a:off x="4343400" y="17373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Shape 10"/>
          <p:cNvSpPr/>
          <p:nvPr/>
        </p:nvSpPr>
        <p:spPr>
          <a:xfrm>
            <a:off x="5056632" y="2057400"/>
            <a:ext cx="2176272" cy="0"/>
          </a:xfrm>
          <a:prstGeom prst="line">
            <a:avLst/>
          </a:prstGeom>
          <a:noFill/>
          <a:ln w="25400">
            <a:solidFill>
              <a:schemeClr val="accent5"/>
            </a:solidFill>
            <a:prstDash val="solid"/>
          </a:ln>
        </p:spPr>
      </p:sp>
      <p:sp>
        <p:nvSpPr>
          <p:cNvPr id="13" name="timeline 2"/>
          <p:cNvSpPr/>
          <p:nvPr/>
        </p:nvSpPr>
        <p:spPr>
          <a:xfrm>
            <a:off x="3364992" y="2606040"/>
            <a:ext cx="2606040" cy="1828800"/>
          </a:xfrm>
          <a:prstGeom prst="roundRect">
            <a:avLst>
              <a:gd name="adj" fmla="val 4000"/>
            </a:avLst>
          </a:prstGeom>
          <a:solidFill>
            <a:schemeClr val="bg2"/>
          </a:solidFill>
          <a:ln w="12700">
            <a:solidFill>
              <a:schemeClr val="bg2"/>
            </a:solidFill>
            <a:prstDash val="solid"/>
          </a:ln>
        </p:spPr>
      </p:sp>
      <p:sp>
        <p:nvSpPr>
          <p:cNvPr id="14" name="Text 12"/>
          <p:cNvSpPr txBox="1"/>
          <p:nvPr/>
        </p:nvSpPr>
        <p:spPr>
          <a:xfrm>
            <a:off x="3456432" y="2697480"/>
            <a:ext cx="2423160" cy="411480"/>
          </a:xfrm>
          <a:prstGeom prst="rect">
            <a:avLst/>
          </a:prstGeom>
          <a:noFill/>
          <a:ln/>
        </p:spPr>
        <p:txBody>
          <a:bodyPr wrap="square" lIns="0" tIns="0" rIns="0" bIns="0" rtlCol="0" anchor="ctr"/>
          <a:lstStyle/>
          <a:p>
            <a:pPr algn="ctr" indent="0" marL="0">
              <a:buNone/>
            </a:pPr>
            <a:r>
              <a:rPr lang="en-US" sz="1500" b="1" dirty="0">
                <a:solidFill>
                  <a:schemeClr val="tx2"/>
                </a:solidFill>
              </a:rPr>
              <a:t>Pilot</a:t>
            </a:r>
            <a:endParaRPr lang="en-US" sz="1500" dirty="0"/>
          </a:p>
        </p:txBody>
      </p:sp>
      <p:sp>
        <p:nvSpPr>
          <p:cNvPr id="15" name="Text 13"/>
          <p:cNvSpPr txBox="1"/>
          <p:nvPr/>
        </p:nvSpPr>
        <p:spPr>
          <a:xfrm>
            <a:off x="3547872" y="3154680"/>
            <a:ext cx="2240280" cy="1234440"/>
          </a:xfrm>
          <a:prstGeom prst="rect">
            <a:avLst/>
          </a:prstGeom>
          <a:noFill/>
          <a:ln/>
        </p:spPr>
        <p:txBody>
          <a:bodyPr wrap="square" lIns="0" tIns="0" rIns="0" bIns="0" rtlCol="0" anchor="t"/>
          <a:lstStyle/>
          <a:p>
            <a:pPr algn="ctr" indent="0" marL="0">
              <a:buNone/>
            </a:pPr>
            <a:r>
              <a:rPr lang="en-US" sz="1250" dirty="0">
                <a:solidFill>
                  <a:schemeClr val="tx1"/>
                </a:solidFill>
              </a:rPr>
              <a:t>Construction prototype: 3 years, live applications, course targets vs the 200% / 120% rule</a:t>
            </a:r>
            <a:endParaRPr lang="en-US" sz="1250" dirty="0"/>
          </a:p>
        </p:txBody>
      </p:sp>
      <p:sp>
        <p:nvSpPr>
          <p:cNvPr id="16" name="dot 3"/>
          <p:cNvSpPr/>
          <p:nvPr/>
        </p:nvSpPr>
        <p:spPr>
          <a:xfrm>
            <a:off x="7159752" y="1737360"/>
            <a:ext cx="640080" cy="640080"/>
          </a:xfrm>
          <a:prstGeom prst="ellipse">
            <a:avLst/>
          </a:prstGeom>
          <a:solidFill>
            <a:schemeClr val="accent1"/>
          </a:solidFill>
          <a:ln w="12700">
            <a:solidFill>
              <a:schemeClr val="accent1"/>
            </a:solidFill>
            <a:prstDash val="solid"/>
          </a:ln>
        </p:spPr>
      </p:sp>
      <p:sp>
        <p:nvSpPr>
          <p:cNvPr id="17" name="Text 15"/>
          <p:cNvSpPr txBox="1"/>
          <p:nvPr/>
        </p:nvSpPr>
        <p:spPr>
          <a:xfrm>
            <a:off x="7159752" y="17373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Shape 16"/>
          <p:cNvSpPr/>
          <p:nvPr/>
        </p:nvSpPr>
        <p:spPr>
          <a:xfrm>
            <a:off x="7872984" y="2057400"/>
            <a:ext cx="2176272" cy="0"/>
          </a:xfrm>
          <a:prstGeom prst="line">
            <a:avLst/>
          </a:prstGeom>
          <a:noFill/>
          <a:ln w="25400">
            <a:solidFill>
              <a:schemeClr val="accent5"/>
            </a:solidFill>
            <a:prstDash val="solid"/>
          </a:ln>
        </p:spPr>
      </p:sp>
      <p:sp>
        <p:nvSpPr>
          <p:cNvPr id="19" name="timeline 3"/>
          <p:cNvSpPr/>
          <p:nvPr/>
        </p:nvSpPr>
        <p:spPr>
          <a:xfrm>
            <a:off x="6181344" y="2606040"/>
            <a:ext cx="2606040" cy="1828800"/>
          </a:xfrm>
          <a:prstGeom prst="roundRect">
            <a:avLst>
              <a:gd name="adj" fmla="val 4000"/>
            </a:avLst>
          </a:prstGeom>
          <a:solidFill>
            <a:schemeClr val="bg2"/>
          </a:solidFill>
          <a:ln w="12700">
            <a:solidFill>
              <a:schemeClr val="bg2"/>
            </a:solidFill>
            <a:prstDash val="solid"/>
          </a:ln>
        </p:spPr>
      </p:sp>
      <p:sp>
        <p:nvSpPr>
          <p:cNvPr id="20" name="Text 18"/>
          <p:cNvSpPr txBox="1"/>
          <p:nvPr/>
        </p:nvSpPr>
        <p:spPr>
          <a:xfrm>
            <a:off x="6272784" y="2697480"/>
            <a:ext cx="2423160" cy="411480"/>
          </a:xfrm>
          <a:prstGeom prst="rect">
            <a:avLst/>
          </a:prstGeom>
          <a:noFill/>
          <a:ln/>
        </p:spPr>
        <p:txBody>
          <a:bodyPr wrap="square" lIns="0" tIns="0" rIns="0" bIns="0" rtlCol="0" anchor="ctr"/>
          <a:lstStyle/>
          <a:p>
            <a:pPr algn="ctr" indent="0" marL="0">
              <a:buNone/>
            </a:pPr>
            <a:r>
              <a:rPr lang="en-US" sz="1500" b="1" dirty="0">
                <a:solidFill>
                  <a:schemeClr val="tx2"/>
                </a:solidFill>
              </a:rPr>
              <a:t>After the October break</a:t>
            </a:r>
            <a:endParaRPr lang="en-US" sz="1500" dirty="0"/>
          </a:p>
        </p:txBody>
      </p:sp>
      <p:sp>
        <p:nvSpPr>
          <p:cNvPr id="21" name="Text 19"/>
          <p:cNvSpPr txBox="1"/>
          <p:nvPr/>
        </p:nvSpPr>
        <p:spPr>
          <a:xfrm>
            <a:off x="6364224" y="3154680"/>
            <a:ext cx="2240280" cy="1234440"/>
          </a:xfrm>
          <a:prstGeom prst="rect">
            <a:avLst/>
          </a:prstGeom>
          <a:noFill/>
          <a:ln/>
        </p:spPr>
        <p:txBody>
          <a:bodyPr wrap="square" lIns="0" tIns="0" rIns="0" bIns="0" rtlCol="0" anchor="t"/>
          <a:lstStyle/>
          <a:p>
            <a:pPr algn="ctr" indent="0" marL="0">
              <a:buNone/>
            </a:pPr>
            <a:r>
              <a:rPr lang="en-US" sz="1250" dirty="0">
                <a:solidFill>
                  <a:schemeClr val="tx1"/>
                </a:solidFill>
              </a:rPr>
              <a:t>Meet Lyndsay and Darren on first findings, before the next meeting with Sarah</a:t>
            </a:r>
            <a:endParaRPr lang="en-US" sz="1250" dirty="0"/>
          </a:p>
        </p:txBody>
      </p:sp>
      <p:sp>
        <p:nvSpPr>
          <p:cNvPr id="22" name="dot 4"/>
          <p:cNvSpPr/>
          <p:nvPr/>
        </p:nvSpPr>
        <p:spPr>
          <a:xfrm>
            <a:off x="9976104" y="1737360"/>
            <a:ext cx="640080" cy="640080"/>
          </a:xfrm>
          <a:prstGeom prst="ellipse">
            <a:avLst/>
          </a:prstGeom>
          <a:solidFill>
            <a:schemeClr val="accent1"/>
          </a:solidFill>
          <a:ln w="12700">
            <a:solidFill>
              <a:schemeClr val="accent1"/>
            </a:solidFill>
            <a:prstDash val="solid"/>
          </a:ln>
        </p:spPr>
      </p:sp>
      <p:sp>
        <p:nvSpPr>
          <p:cNvPr id="23" name="Text 21"/>
          <p:cNvSpPr txBox="1"/>
          <p:nvPr/>
        </p:nvSpPr>
        <p:spPr>
          <a:xfrm>
            <a:off x="9976104" y="17373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timeline 4"/>
          <p:cNvSpPr/>
          <p:nvPr/>
        </p:nvSpPr>
        <p:spPr>
          <a:xfrm>
            <a:off x="8997696" y="2606040"/>
            <a:ext cx="2606040" cy="1828800"/>
          </a:xfrm>
          <a:prstGeom prst="roundRect">
            <a:avLst>
              <a:gd name="adj" fmla="val 4000"/>
            </a:avLst>
          </a:prstGeom>
          <a:solidFill>
            <a:schemeClr val="bg2"/>
          </a:solidFill>
          <a:ln w="12700">
            <a:solidFill>
              <a:schemeClr val="bg2"/>
            </a:solidFill>
            <a:prstDash val="solid"/>
          </a:ln>
        </p:spPr>
      </p:sp>
      <p:sp>
        <p:nvSpPr>
          <p:cNvPr id="25" name="Text 23"/>
          <p:cNvSpPr txBox="1"/>
          <p:nvPr/>
        </p:nvSpPr>
        <p:spPr>
          <a:xfrm>
            <a:off x="9089136" y="2697480"/>
            <a:ext cx="2423160" cy="411480"/>
          </a:xfrm>
          <a:prstGeom prst="rect">
            <a:avLst/>
          </a:prstGeom>
          <a:noFill/>
          <a:ln/>
        </p:spPr>
        <p:txBody>
          <a:bodyPr wrap="square" lIns="0" tIns="0" rIns="0" bIns="0" rtlCol="0" anchor="ctr"/>
          <a:lstStyle/>
          <a:p>
            <a:pPr algn="ctr" indent="0" marL="0">
              <a:buNone/>
            </a:pPr>
            <a:r>
              <a:rPr lang="en-US" sz="1500" b="1" dirty="0">
                <a:solidFill>
                  <a:schemeClr val="tx2"/>
                </a:solidFill>
              </a:rPr>
              <a:t>Before Christmas</a:t>
            </a:r>
            <a:endParaRPr lang="en-US" sz="1500" dirty="0"/>
          </a:p>
        </p:txBody>
      </p:sp>
      <p:sp>
        <p:nvSpPr>
          <p:cNvPr id="26" name="Text 24"/>
          <p:cNvSpPr txBox="1"/>
          <p:nvPr/>
        </p:nvSpPr>
        <p:spPr>
          <a:xfrm>
            <a:off x="9180576" y="3154680"/>
            <a:ext cx="2240280" cy="1234440"/>
          </a:xfrm>
          <a:prstGeom prst="rect">
            <a:avLst/>
          </a:prstGeom>
          <a:noFill/>
          <a:ln/>
        </p:spPr>
        <p:txBody>
          <a:bodyPr wrap="square" lIns="0" tIns="0" rIns="0" bIns="0" rtlCol="0" anchor="t"/>
          <a:lstStyle/>
          <a:p>
            <a:pPr algn="ctr" indent="0" marL="0">
              <a:buNone/>
            </a:pPr>
            <a:r>
              <a:rPr lang="en-US" sz="1250" dirty="0">
                <a:solidFill>
                  <a:schemeClr val="tx1"/>
                </a:solidFill>
              </a:rPr>
              <a:t>Full course baseline reviewed by Lesley and Lyndsay, then Directors and Sarah</a:t>
            </a:r>
            <a:endParaRPr lang="en-US" sz="1250" dirty="0"/>
          </a:p>
        </p:txBody>
      </p:sp>
      <p:sp>
        <p:nvSpPr>
          <p:cNvPr id="27" name="ask Lesley"/>
          <p:cNvSpPr/>
          <p:nvPr/>
        </p:nvSpPr>
        <p:spPr>
          <a:xfrm>
            <a:off x="548640" y="4663440"/>
            <a:ext cx="3520440" cy="1463040"/>
          </a:xfrm>
          <a:prstGeom prst="roundRect">
            <a:avLst>
              <a:gd name="adj" fmla="val 5000"/>
            </a:avLst>
          </a:prstGeom>
          <a:solidFill>
            <a:schemeClr val="tx2"/>
          </a:solidFill>
          <a:ln w="12700">
            <a:solidFill>
              <a:schemeClr val="tx2"/>
            </a:solidFill>
            <a:prstDash val="solid"/>
          </a:ln>
        </p:spPr>
      </p:sp>
      <p:sp>
        <p:nvSpPr>
          <p:cNvPr id="28" name="Text 26"/>
          <p:cNvSpPr txBox="1"/>
          <p:nvPr/>
        </p:nvSpPr>
        <p:spPr>
          <a:xfrm>
            <a:off x="777240" y="4709160"/>
            <a:ext cx="3108960" cy="1371600"/>
          </a:xfrm>
          <a:prstGeom prst="rect">
            <a:avLst/>
          </a:prstGeom>
          <a:noFill/>
          <a:ln/>
        </p:spPr>
        <p:txBody>
          <a:bodyPr wrap="square" lIns="0" tIns="0" rIns="0" bIns="0" rtlCol="0" anchor="ctr"/>
          <a:lstStyle/>
          <a:p>
            <a:pPr indent="0" marL="0">
              <a:buNone/>
            </a:pPr>
            <a:r>
              <a:rPr lang="en-US" sz="1500" b="1" dirty="0">
                <a:solidFill>
                  <a:schemeClr val="bg1"/>
                </a:solidFill>
              </a:rPr>
              <a:t>Lesley</a:t>
            </a:r>
            <a:endParaRPr lang="en-US" sz="1500" dirty="0"/>
          </a:p>
          <a:p>
            <a:pPr indent="0" marL="0">
              <a:buNone/>
            </a:pPr>
            <a:r>
              <a:rPr lang="en-US" sz="1200" dirty="0">
                <a:solidFill>
                  <a:schemeClr val="bg1"/>
                </a:solidFill>
              </a:rPr>
              <a:t>Which application count the conversion measure uses; past-year data; which statuses count for credits</a:t>
            </a:r>
            <a:endParaRPr lang="en-US" sz="1500" dirty="0"/>
          </a:p>
        </p:txBody>
      </p:sp>
      <p:sp>
        <p:nvSpPr>
          <p:cNvPr id="29" name="ask Lyndsay"/>
          <p:cNvSpPr/>
          <p:nvPr/>
        </p:nvSpPr>
        <p:spPr>
          <a:xfrm>
            <a:off x="4297680" y="4663440"/>
            <a:ext cx="3520440" cy="1463040"/>
          </a:xfrm>
          <a:prstGeom prst="roundRect">
            <a:avLst>
              <a:gd name="adj" fmla="val 5000"/>
            </a:avLst>
          </a:prstGeom>
          <a:solidFill>
            <a:schemeClr val="tx2"/>
          </a:solidFill>
          <a:ln w="12700">
            <a:solidFill>
              <a:schemeClr val="tx2"/>
            </a:solidFill>
            <a:prstDash val="solid"/>
          </a:ln>
        </p:spPr>
      </p:sp>
      <p:sp>
        <p:nvSpPr>
          <p:cNvPr id="30" name="Text 28"/>
          <p:cNvSpPr txBox="1"/>
          <p:nvPr/>
        </p:nvSpPr>
        <p:spPr>
          <a:xfrm>
            <a:off x="4526280" y="4709160"/>
            <a:ext cx="3108960" cy="1371600"/>
          </a:xfrm>
          <a:prstGeom prst="rect">
            <a:avLst/>
          </a:prstGeom>
          <a:noFill/>
          <a:ln/>
        </p:spPr>
        <p:txBody>
          <a:bodyPr wrap="square" lIns="0" tIns="0" rIns="0" bIns="0" rtlCol="0" anchor="ctr"/>
          <a:lstStyle/>
          <a:p>
            <a:pPr indent="0" marL="0">
              <a:buNone/>
            </a:pPr>
            <a:r>
              <a:rPr lang="en-US" sz="1500" b="1" dirty="0">
                <a:solidFill>
                  <a:schemeClr val="bg1"/>
                </a:solidFill>
              </a:rPr>
              <a:t>Lyndsay</a:t>
            </a:r>
            <a:endParaRPr lang="en-US" sz="1500" dirty="0"/>
          </a:p>
          <a:p>
            <a:pPr indent="0" marL="0">
              <a:buNone/>
            </a:pPr>
            <a:r>
              <a:rPr lang="en-US" sz="1200" dirty="0">
                <a:solidFill>
                  <a:schemeClr val="bg1"/>
                </a:solidFill>
              </a:rPr>
              <a:t>Target enrolments and capacities per course; the credits report; how the waiting list and January starts work</a:t>
            </a:r>
            <a:endParaRPr lang="en-US" sz="1500" dirty="0"/>
          </a:p>
        </p:txBody>
      </p:sp>
      <p:sp>
        <p:nvSpPr>
          <p:cNvPr id="31" name="ask Kevin"/>
          <p:cNvSpPr/>
          <p:nvPr/>
        </p:nvSpPr>
        <p:spPr>
          <a:xfrm>
            <a:off x="8046720" y="4663440"/>
            <a:ext cx="3520440" cy="1463040"/>
          </a:xfrm>
          <a:prstGeom prst="roundRect">
            <a:avLst>
              <a:gd name="adj" fmla="val 5000"/>
            </a:avLst>
          </a:prstGeom>
          <a:solidFill>
            <a:schemeClr val="tx2"/>
          </a:solidFill>
          <a:ln w="12700">
            <a:solidFill>
              <a:schemeClr val="tx2"/>
            </a:solidFill>
            <a:prstDash val="solid"/>
          </a:ln>
        </p:spPr>
      </p:sp>
      <p:sp>
        <p:nvSpPr>
          <p:cNvPr id="32" name="Text 30"/>
          <p:cNvSpPr txBox="1"/>
          <p:nvPr/>
        </p:nvSpPr>
        <p:spPr>
          <a:xfrm>
            <a:off x="8275320" y="4709160"/>
            <a:ext cx="3108960" cy="1371600"/>
          </a:xfrm>
          <a:prstGeom prst="rect">
            <a:avLst/>
          </a:prstGeom>
          <a:noFill/>
          <a:ln/>
        </p:spPr>
        <p:txBody>
          <a:bodyPr wrap="square" lIns="0" tIns="0" rIns="0" bIns="0" rtlCol="0" anchor="ctr"/>
          <a:lstStyle/>
          <a:p>
            <a:pPr indent="0" marL="0">
              <a:buNone/>
            </a:pPr>
            <a:r>
              <a:rPr lang="en-US" sz="1500" b="1" dirty="0">
                <a:solidFill>
                  <a:schemeClr val="bg1"/>
                </a:solidFill>
              </a:rPr>
              <a:t>Kevin</a:t>
            </a:r>
            <a:endParaRPr lang="en-US" sz="1500" dirty="0"/>
          </a:p>
          <a:p>
            <a:pPr indent="0" marL="0">
              <a:buNone/>
            </a:pPr>
            <a:r>
              <a:rPr lang="en-US" sz="1200" dirty="0">
                <a:solidFill>
                  <a:schemeClr val="bg1"/>
                </a:solidFill>
              </a:rPr>
              <a:t>Which database tables feed the RA5 semantic model</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F80"/>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FVC Conversion Baseline">
  <a:themeElements>
    <a:clrScheme name="FVC Conversion Baseline">
      <a:dk1>
        <a:srgbClr val="1F2233"/>
      </a:dk1>
      <a:lt1>
        <a:srgbClr val="FFFFFF"/>
      </a:lt1>
      <a:dk2>
        <a:srgbClr val="2B2770"/>
      </a:dk2>
      <a:lt2>
        <a:srgbClr val="F3F3FB"/>
      </a:lt2>
      <a:accent1>
        <a:srgbClr val="5B57E8"/>
      </a:accent1>
      <a:accent2>
        <a:srgbClr val="1F9D6A"/>
      </a:accent2>
      <a:accent3>
        <a:srgbClr val="E8912D"/>
      </a:accent3>
      <a:accent4>
        <a:srgbClr val="3A414A"/>
      </a:accent4>
      <a:accent5>
        <a:srgbClr val="DEDEFF"/>
      </a:accent5>
      <a:accent6>
        <a:srgbClr val="C3F0D6"/>
      </a:accent6>
      <a:hlink>
        <a:srgbClr val="5B57E8"/>
      </a:hlink>
      <a:folHlink>
        <a:srgbClr val="2B2770"/>
      </a:folHlink>
    </a:clrScheme>
    <a:fontScheme name="FVC Conversion Baseli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Conversion Baseline and Data Architecture</dc:title>
  <dc:subject>PptxGenJS Presentation</dc:subject>
  <dc:creator>Thanaporn Wattanamanon</dc:creator>
  <cp:lastModifiedBy>Thanaporn Wattanamanon</cp:lastModifiedBy>
  <cp:revision>1</cp:revision>
  <dcterms:created xsi:type="dcterms:W3CDTF">2026-10-02T07:40:21Z</dcterms:created>
  <dcterms:modified xsi:type="dcterms:W3CDTF">2026-10-02T07:40:21Z</dcterms:modified>
</cp:coreProperties>
</file>